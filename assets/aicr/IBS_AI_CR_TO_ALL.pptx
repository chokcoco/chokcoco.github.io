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  <p:embeddedFontLst>
    <p:embeddedFont>
      <p:font typeface="Roboto" panose="02000000000000000000"/>
      <p:regular r:id="rId19"/>
    </p:embeddedFont>
    <p:embeddedFont>
      <p:font typeface="Open Sans"/>
      <p:regular r:id="rId20"/>
    </p:embeddedFont>
    <p:embeddedFont>
      <p:font typeface="Montserrat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0759321-DC8F-42B9-8EFD-07616C4615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523FD4E-FA10-4ED1-B9B5-A90FBFA386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58c2589e39_2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58c2589e39_2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ec4f7336b_0_1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ec4f7336b_0_1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dec4f7336b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dec4f7336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补充数据</a:t>
            </a:r>
            <a:br>
              <a:rPr lang="en-GB">
                <a:solidFill>
                  <a:schemeClr val="dk1"/>
                </a:solidFill>
              </a:rPr>
            </a:br>
            <a:r>
              <a:rPr lang="en-GB" b="1">
                <a:solidFill>
                  <a:schemeClr val="dk1"/>
                </a:solidFill>
              </a:rPr>
              <a:t>- CR 效果表现：</a:t>
            </a:r>
            <a:r>
              <a:rPr lang="en-GB">
                <a:solidFill>
                  <a:schemeClr val="dk1"/>
                </a:solidFill>
              </a:rPr>
              <a:t>IBS AICR 累计发现有效问题 1497 个(25Q3 265 个，25Q4 580个，26Q1 652个)，整体采纳率 63.82%，召回率 41%</a:t>
            </a:r>
            <a:br>
              <a:rPr lang="en-GB">
                <a:solidFill>
                  <a:schemeClr val="dk1"/>
                </a:solidFill>
              </a:rPr>
            </a:br>
            <a:r>
              <a:rPr lang="en-GB" b="1">
                <a:solidFill>
                  <a:schemeClr val="dk1"/>
                </a:solidFill>
              </a:rPr>
              <a:t>- 有效问题解释</a:t>
            </a:r>
            <a:r>
              <a:rPr lang="en-GB">
                <a:solidFill>
                  <a:schemeClr val="dk1"/>
                </a:solidFill>
              </a:rPr>
              <a:t>：会引起线上 BUG 的缺陷，以及一些可能导致边界场景出错的隐含问题。不包含代码规范、格式缩进、变量命名等系列中低危问题；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举例：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后端：https://docs.google.com/spreadsheets/d/1nQKxKyzTEhZYKQgIZOmj3rclZV-XHUGcoSsOAscokHE/edit?gid=1666721514#gid=1666721514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代码问题 - 将 PageSize 误赋给 PageNumber，应该改为 pagination.PageSize = proto.Int32(10)。这会导致分页逻辑错误。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代码问题 - buildGlobalAttributeV2 函数存在严重逻辑错误，result 追加操作位于外层 for 循环内部，导致每次迭代都会重复追加已有的全局属性到结果中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SQL 语句错误 - SQL 条件错误，skuID 是单个字符串，不应该使用 IN 操作符，应该使用 = 操作符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前端：https://docs.google.com/spreadsheets/d/1nQKxKyzTEhZYKQgIZOmj3rclZV-XHUGcoSsOAscokHE/edit?gid=713482617#gid=713482617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文案展示问题 - 文案 'Acceptance Performance = accepted HC/reqeusted HC' 中存在拼写错误，'reqeusted' 应为 'requested'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渲染问题 - 使用 index 作为 rowKey 可能导致列表重新渲染时出现状态错乱问题。当列表数据发生变化（如排序、筛选、分页）时</a:t>
            </a:r>
            <a:endParaRPr lang="en-GB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e6459e835_0_2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de6459e835_0_2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e6459e835_0_2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de6459e835_0_2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计算统计指标：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1. 问题采纳率（能不能把问题找对）：被研发“采纳”的 AI 发现问题数 ÷ AI 发现问题数，</a:t>
            </a:r>
            <a:r>
              <a:rPr lang="en-GB" sz="1000" i="1">
                <a:solidFill>
                  <a:srgbClr val="44546A"/>
                </a:solidFill>
              </a:rPr>
              <a:t>“采纳”定义为，由需求开发者使用统一的“采纳/拒绝”标准，决定是否采纳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2. Bug 召回率（能不能把问题找全）：被研发“采纳”的 AI 发现 Bug 数 ÷  (被研发“采纳”的 AI 发现 Bug 数 + 人类 CR 发现 Bug 数 + Test Bug 数量)</a:t>
            </a:r>
            <a:r>
              <a:rPr lang="en-GB" i="1">
                <a:solidFill>
                  <a:schemeClr val="dk1"/>
                </a:solidFill>
              </a:rPr>
              <a:t>，</a:t>
            </a:r>
            <a:r>
              <a:rPr lang="en-GB" sz="1000" i="1">
                <a:solidFill>
                  <a:srgbClr val="44546A"/>
                </a:solidFill>
              </a:rPr>
              <a:t>Bug 定义为，通过收集需求开发者判断 AI 发现的问题数据中，确认为会真实产生 Non-Live、Live Bug 的问题</a:t>
            </a:r>
            <a:endParaRPr sz="1000" i="1">
              <a:solidFill>
                <a:srgbClr val="44546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>
                <a:solidFill>
                  <a:schemeClr val="dk1"/>
                </a:solidFill>
              </a:rPr>
              <a:t>3. F1-Score：2 × (采纳率 × 召回率) / (采纳率 + 召回率)，</a:t>
            </a:r>
            <a:r>
              <a:rPr lang="en-GB" sz="1000" i="1">
                <a:solidFill>
                  <a:srgbClr val="666666"/>
                </a:solidFill>
              </a:rPr>
              <a:t>表示采纳率和召回率的调和平均值，用来衡量系统即准确又全面的指标</a:t>
            </a:r>
            <a:endParaRPr sz="1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e6459e835_0_3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e6459e835_0_3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6ec6823a4_0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d6ec6823a4_0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de6459e835_0_5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de6459e835_0_5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74e871da3_1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d74e871da3_1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de6459e835_0_6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de6459e835_0_6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de6459e835_0_6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de6459e835_0_6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4802aad0c9_2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8" name="Google Shape;778;g24802aad0c9_2_1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071938" y="614753"/>
            <a:ext cx="991938" cy="140451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type="ctrTitle"/>
          </p:nvPr>
        </p:nvSpPr>
        <p:spPr>
          <a:xfrm>
            <a:off x="1143000" y="2156378"/>
            <a:ext cx="6858000" cy="1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  <a:defRPr sz="36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1143000" y="3215551"/>
            <a:ext cx="6858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DBDBD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75707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dt" idx="10"/>
          </p:nvPr>
        </p:nvSpPr>
        <p:spPr>
          <a:xfrm>
            <a:off x="433209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type="sldNum" idx="12"/>
          </p:nvPr>
        </p:nvSpPr>
        <p:spPr>
          <a:xfrm>
            <a:off x="66865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" name="Google Shape;14;p2"/>
          <p:cNvSpPr txBox="1"/>
          <p:nvPr/>
        </p:nvSpPr>
        <p:spPr>
          <a:xfrm>
            <a:off x="0" y="4328516"/>
            <a:ext cx="9144000" cy="8436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">
  <p:cSld name="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" name="Google Shape;18;p3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andard header only">
  <p:cSld name="Content pag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/>
          <a:srcRect b="23989"/>
          <a:stretch>
            <a:fillRect/>
          </a:stretch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4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w="381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w="95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925" tIns="14450" rIns="28925" bIns="1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sldNum" idx="12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" name="Google Shape;29;p4"/>
          <p:cNvSpPr txBox="1"/>
          <p:nvPr>
            <p:ph type="body" idx="1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4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75" tIns="41025" rIns="67475" bIns="33725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 panose="020206030504050203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1">
  <p:cSld name="Content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Google Shape;34;p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Google Shape;36;p5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2">
  <p:cSld name="Content_2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Google Shape;38;p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0" name="Google Shape;40;p6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3">
  <p:cSld name="Content_3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7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6" name="Google Shape;46;p7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4">
  <p:cSld name="Content_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8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8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2" name="Google Shape;52;p8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8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5">
  <p:cSld name="Content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9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9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8" name="Google Shape;58;p9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9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6">
  <p:cSld name="Content_6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0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0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4" name="Google Shape;64;p10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0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10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7">
  <p:cSld name="Content_7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1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11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0" name="Google Shape;70;p11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11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">
  <p:cSld name="Content_8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2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2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6" name="Google Shape;76;p12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">
  <p:cSld name="Content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80;p13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13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Google Shape;82;p13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Google Shape;85;p13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8">
  <p:cSld name="Content_10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4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14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9" name="Google Shape;89;p14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">
  <p:cSld name="Content_1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1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1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5" name="Google Shape;95;p1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15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4">
  <p:cSld name="Content_1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1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2" name="Google Shape;102;p16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5">
  <p:cSld name="Content_13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17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7"/>
          <p:cNvSpPr txBox="1"/>
          <p:nvPr/>
        </p:nvSpPr>
        <p:spPr>
          <a:xfrm>
            <a:off x="3883419" y="4723811"/>
            <a:ext cx="13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8" name="Google Shape;108;p17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1" name="Google Shape;111;p17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6">
  <p:cSld name="Content_1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18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18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5" name="Google Shape;115;p18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8" name="Google Shape;118;p18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7">
  <p:cSld name="Content_15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19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19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2" name="Google Shape;122;p19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p19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8">
  <p:cSld name="Content_16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0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20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9" name="Google Shape;129;p20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2" name="Google Shape;132;p20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andard header only 1 1">
  <p:cSld name="Content page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 rotWithShape="1">
          <a:blip r:embed="rId2"/>
          <a:srcRect b="23989"/>
          <a:stretch>
            <a:fillRect/>
          </a:stretch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1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w="381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21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w="95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925" tIns="14450" rIns="28925" bIns="1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533180" y="89320"/>
            <a:ext cx="80778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type="sldNum" idx="12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9" name="Google Shape;139;p21"/>
          <p:cNvSpPr txBox="1"/>
          <p:nvPr>
            <p:ph type="body" idx="1"/>
          </p:nvPr>
        </p:nvSpPr>
        <p:spPr>
          <a:xfrm>
            <a:off x="533180" y="933253"/>
            <a:ext cx="80778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0" name="Google Shape;140;p21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75" tIns="41025" rIns="67475" bIns="33725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 panose="020206030504050203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9">
  <p:cSld name="Content_17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22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22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4" name="Google Shape;144;p22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7" name="Google Shape;147;p22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ody">
  <p:cSld name="TITLE_AND_TWO_COLUMNS 拷贝 4_2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569325" y="76200"/>
            <a:ext cx="8121000" cy="4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2400"/>
              <a:buFont typeface="Roboto" panose="02000000000000000000"/>
              <a:buNone/>
              <a:defRPr sz="2400" b="1" i="0" u="none" strike="noStrike" cap="none">
                <a:solidFill>
                  <a:srgbClr val="EE4D2D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079"/>
              </a:buClr>
              <a:buSzPts val="1800"/>
              <a:buFont typeface="Arial" panose="020B0604020202020204"/>
              <a:buNone/>
              <a:defRPr sz="1800" b="1" i="0" u="none" strike="noStrike" cap="none">
                <a:solidFill>
                  <a:srgbClr val="05007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pic>
        <p:nvPicPr>
          <p:cNvPr id="150" name="Google Shape;150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4703" y="157391"/>
            <a:ext cx="275466" cy="30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>
            <p:ph type="body" idx="1"/>
          </p:nvPr>
        </p:nvSpPr>
        <p:spPr>
          <a:xfrm>
            <a:off x="311700" y="911725"/>
            <a:ext cx="83787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●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○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 panose="02000000000000000000"/>
              <a:buChar char="■"/>
              <a:defRPr sz="12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pic>
        <p:nvPicPr>
          <p:cNvPr id="152" name="Google Shape;152;p23"/>
          <p:cNvPicPr preferRelativeResize="0"/>
          <p:nvPr/>
        </p:nvPicPr>
        <p:blipFill rotWithShape="1">
          <a:blip r:embed="rId3"/>
          <a:srcRect l="85518" t="544" r="11023" b="544"/>
          <a:stretch>
            <a:fillRect/>
          </a:stretch>
        </p:blipFill>
        <p:spPr>
          <a:xfrm>
            <a:off x="8824511" y="0"/>
            <a:ext cx="3194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 rot="10800000" flipH="1">
            <a:off x="0" y="547225"/>
            <a:ext cx="8691900" cy="375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05007E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8820535" y="4830891"/>
            <a:ext cx="3195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5" name="Google Shape;155;p23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>
              <a:buNone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0">
  <p:cSld name="Content_18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24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24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9" name="Google Shape;159;p24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1">
  <p:cSld name="Content_19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2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2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5" name="Google Shape;165;p2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2">
  <p:cSld name="Content_20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Google Shape;169;p2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p2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1" name="Google Shape;171;p26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1">
  <p:cSld name="Content_16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27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27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7" name="Google Shape;177;p27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181" name="Google Shape;181;p27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4 1">
  <p:cSld name="Content_17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28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28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5" name="Google Shape;185;p28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8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189" name="Google Shape;189;p28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 1">
  <p:cSld name="Content_14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29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29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3" name="Google Shape;193;p29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9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5" name="Google Shape;195;p29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7" name="Google Shape;197;p29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2">
  <p:cSld name="Content_15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30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30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1" name="Google Shape;201;p30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3">
  <p:cSld name="Content_2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p31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31"/>
          <p:cNvSpPr txBox="1"/>
          <p:nvPr/>
        </p:nvSpPr>
        <p:spPr>
          <a:xfrm>
            <a:off x="3883419" y="4723811"/>
            <a:ext cx="13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09" name="Google Shape;209;p31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1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31"/>
          <p:cNvSpPr txBox="1"/>
          <p:nvPr>
            <p:ph type="sldNum" idx="12"/>
          </p:nvPr>
        </p:nvSpPr>
        <p:spPr>
          <a:xfrm>
            <a:off x="8556784" y="4749851"/>
            <a:ext cx="548700" cy="2193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 algn="r">
              <a:buNone/>
              <a:defRPr sz="1000">
                <a:solidFill>
                  <a:srgbClr val="000000"/>
                </a:solidFill>
              </a:defRPr>
            </a:lvl1pPr>
            <a:lvl2pPr lvl="1" algn="r">
              <a:buNone/>
              <a:defRPr sz="1000">
                <a:solidFill>
                  <a:srgbClr val="000000"/>
                </a:solidFill>
              </a:defRPr>
            </a:lvl2pPr>
            <a:lvl3pPr lvl="2" algn="r">
              <a:buNone/>
              <a:defRPr sz="1000">
                <a:solidFill>
                  <a:srgbClr val="000000"/>
                </a:solidFill>
              </a:defRPr>
            </a:lvl3pPr>
            <a:lvl4pPr lvl="3" algn="r">
              <a:buNone/>
              <a:defRPr sz="1000">
                <a:solidFill>
                  <a:srgbClr val="000000"/>
                </a:solidFill>
              </a:defRPr>
            </a:lvl4pPr>
            <a:lvl5pPr lvl="4" algn="r">
              <a:buNone/>
              <a:defRPr sz="1000">
                <a:solidFill>
                  <a:srgbClr val="000000"/>
                </a:solidFill>
              </a:defRPr>
            </a:lvl5pPr>
            <a:lvl6pPr lvl="5" algn="r">
              <a:buNone/>
              <a:defRPr sz="1000">
                <a:solidFill>
                  <a:srgbClr val="000000"/>
                </a:solidFill>
              </a:defRPr>
            </a:lvl6pPr>
            <a:lvl7pPr lvl="6" algn="r">
              <a:buNone/>
              <a:defRPr sz="1000">
                <a:solidFill>
                  <a:srgbClr val="000000"/>
                </a:solidFill>
              </a:defRPr>
            </a:lvl7pPr>
            <a:lvl8pPr lvl="7" algn="r">
              <a:buNone/>
              <a:defRPr sz="1000">
                <a:solidFill>
                  <a:srgbClr val="000000"/>
                </a:solidFill>
              </a:defRPr>
            </a:lvl8pPr>
            <a:lvl9pPr lvl="8" algn="r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4">
  <p:cSld name="Content_2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2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32"/>
          <p:cNvSpPr txBox="1"/>
          <p:nvPr/>
        </p:nvSpPr>
        <p:spPr>
          <a:xfrm>
            <a:off x="3883419" y="4723811"/>
            <a:ext cx="13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16" name="Google Shape;216;p32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9" name="Google Shape;219;p32"/>
          <p:cNvSpPr txBox="1"/>
          <p:nvPr>
            <p:ph type="sldNum" idx="12"/>
          </p:nvPr>
        </p:nvSpPr>
        <p:spPr>
          <a:xfrm>
            <a:off x="8556784" y="4749851"/>
            <a:ext cx="548700" cy="2193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 algn="r">
              <a:buNone/>
              <a:defRPr sz="1000">
                <a:solidFill>
                  <a:srgbClr val="000000"/>
                </a:solidFill>
              </a:defRPr>
            </a:lvl1pPr>
            <a:lvl2pPr lvl="1" algn="r">
              <a:buNone/>
              <a:defRPr sz="1000">
                <a:solidFill>
                  <a:srgbClr val="000000"/>
                </a:solidFill>
              </a:defRPr>
            </a:lvl2pPr>
            <a:lvl3pPr lvl="2" algn="r">
              <a:buNone/>
              <a:defRPr sz="1000">
                <a:solidFill>
                  <a:srgbClr val="000000"/>
                </a:solidFill>
              </a:defRPr>
            </a:lvl3pPr>
            <a:lvl4pPr lvl="3" algn="r">
              <a:buNone/>
              <a:defRPr sz="1000">
                <a:solidFill>
                  <a:srgbClr val="000000"/>
                </a:solidFill>
              </a:defRPr>
            </a:lvl4pPr>
            <a:lvl5pPr lvl="4" algn="r">
              <a:buNone/>
              <a:defRPr sz="1000">
                <a:solidFill>
                  <a:srgbClr val="000000"/>
                </a:solidFill>
              </a:defRPr>
            </a:lvl5pPr>
            <a:lvl6pPr lvl="5" algn="r">
              <a:buNone/>
              <a:defRPr sz="1000">
                <a:solidFill>
                  <a:srgbClr val="000000"/>
                </a:solidFill>
              </a:defRPr>
            </a:lvl6pPr>
            <a:lvl7pPr lvl="6" algn="r">
              <a:buNone/>
              <a:defRPr sz="1000">
                <a:solidFill>
                  <a:srgbClr val="000000"/>
                </a:solidFill>
              </a:defRPr>
            </a:lvl7pPr>
            <a:lvl8pPr lvl="7" algn="r">
              <a:buNone/>
              <a:defRPr sz="1000">
                <a:solidFill>
                  <a:srgbClr val="000000"/>
                </a:solidFill>
              </a:defRPr>
            </a:lvl8pPr>
            <a:lvl9pPr lvl="8" algn="r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5">
  <p:cSld name="Content_2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33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33"/>
          <p:cNvSpPr txBox="1"/>
          <p:nvPr/>
        </p:nvSpPr>
        <p:spPr>
          <a:xfrm>
            <a:off x="3883419" y="4723811"/>
            <a:ext cx="13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23" name="Google Shape;223;p33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3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6" name="Google Shape;226;p33"/>
          <p:cNvSpPr txBox="1"/>
          <p:nvPr>
            <p:ph type="sldNum" idx="12"/>
          </p:nvPr>
        </p:nvSpPr>
        <p:spPr>
          <a:xfrm>
            <a:off x="8556784" y="4749851"/>
            <a:ext cx="548700" cy="2193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 algn="r">
              <a:buNone/>
              <a:defRPr sz="1000">
                <a:solidFill>
                  <a:srgbClr val="000000"/>
                </a:solidFill>
              </a:defRPr>
            </a:lvl1pPr>
            <a:lvl2pPr lvl="1" algn="r">
              <a:buNone/>
              <a:defRPr sz="1000">
                <a:solidFill>
                  <a:srgbClr val="000000"/>
                </a:solidFill>
              </a:defRPr>
            </a:lvl2pPr>
            <a:lvl3pPr lvl="2" algn="r">
              <a:buNone/>
              <a:defRPr sz="1000">
                <a:solidFill>
                  <a:srgbClr val="000000"/>
                </a:solidFill>
              </a:defRPr>
            </a:lvl3pPr>
            <a:lvl4pPr lvl="3" algn="r">
              <a:buNone/>
              <a:defRPr sz="1000">
                <a:solidFill>
                  <a:srgbClr val="000000"/>
                </a:solidFill>
              </a:defRPr>
            </a:lvl4pPr>
            <a:lvl5pPr lvl="4" algn="r">
              <a:buNone/>
              <a:defRPr sz="1000">
                <a:solidFill>
                  <a:srgbClr val="000000"/>
                </a:solidFill>
              </a:defRPr>
            </a:lvl5pPr>
            <a:lvl6pPr lvl="5" algn="r">
              <a:buNone/>
              <a:defRPr sz="1000">
                <a:solidFill>
                  <a:srgbClr val="000000"/>
                </a:solidFill>
              </a:defRPr>
            </a:lvl6pPr>
            <a:lvl7pPr lvl="6" algn="r">
              <a:buNone/>
              <a:defRPr sz="1000">
                <a:solidFill>
                  <a:srgbClr val="000000"/>
                </a:solidFill>
              </a:defRPr>
            </a:lvl7pPr>
            <a:lvl8pPr lvl="7" algn="r">
              <a:buNone/>
              <a:defRPr sz="1000">
                <a:solidFill>
                  <a:srgbClr val="000000"/>
                </a:solidFill>
              </a:defRPr>
            </a:lvl8pPr>
            <a:lvl9pPr lvl="8" algn="r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6">
  <p:cSld name="Content_24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34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34"/>
          <p:cNvSpPr txBox="1"/>
          <p:nvPr/>
        </p:nvSpPr>
        <p:spPr>
          <a:xfrm>
            <a:off x="3883419" y="4723811"/>
            <a:ext cx="138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0" name="Google Shape;230;p34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3" name="Google Shape;233;p34"/>
          <p:cNvSpPr txBox="1"/>
          <p:nvPr>
            <p:ph type="sldNum" idx="12"/>
          </p:nvPr>
        </p:nvSpPr>
        <p:spPr>
          <a:xfrm>
            <a:off x="8556784" y="4749851"/>
            <a:ext cx="548700" cy="2232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 algn="r">
              <a:buNone/>
              <a:defRPr sz="1000">
                <a:solidFill>
                  <a:srgbClr val="000000"/>
                </a:solidFill>
              </a:defRPr>
            </a:lvl1pPr>
            <a:lvl2pPr lvl="1" algn="r">
              <a:buNone/>
              <a:defRPr sz="1000">
                <a:solidFill>
                  <a:srgbClr val="000000"/>
                </a:solidFill>
              </a:defRPr>
            </a:lvl2pPr>
            <a:lvl3pPr lvl="2" algn="r">
              <a:buNone/>
              <a:defRPr sz="1000">
                <a:solidFill>
                  <a:srgbClr val="000000"/>
                </a:solidFill>
              </a:defRPr>
            </a:lvl3pPr>
            <a:lvl4pPr lvl="3" algn="r">
              <a:buNone/>
              <a:defRPr sz="1000">
                <a:solidFill>
                  <a:srgbClr val="000000"/>
                </a:solidFill>
              </a:defRPr>
            </a:lvl4pPr>
            <a:lvl5pPr lvl="4" algn="r">
              <a:buNone/>
              <a:defRPr sz="1000">
                <a:solidFill>
                  <a:srgbClr val="000000"/>
                </a:solidFill>
              </a:defRPr>
            </a:lvl5pPr>
            <a:lvl6pPr lvl="5" algn="r">
              <a:buNone/>
              <a:defRPr sz="1000">
                <a:solidFill>
                  <a:srgbClr val="000000"/>
                </a:solidFill>
              </a:defRPr>
            </a:lvl6pPr>
            <a:lvl7pPr lvl="6" algn="r">
              <a:buNone/>
              <a:defRPr sz="1000">
                <a:solidFill>
                  <a:srgbClr val="000000"/>
                </a:solidFill>
              </a:defRPr>
            </a:lvl7pPr>
            <a:lvl8pPr lvl="7" algn="r">
              <a:buNone/>
              <a:defRPr sz="1000">
                <a:solidFill>
                  <a:srgbClr val="000000"/>
                </a:solidFill>
              </a:defRPr>
            </a:lvl8pPr>
            <a:lvl9pPr lvl="8" algn="r">
              <a:buNone/>
              <a:defRPr sz="1000"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3">
  <p:cSld name="Content_15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3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" name="Google Shape;236;p3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37" name="Google Shape;237;p3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35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241" name="Google Shape;241;p35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4">
  <p:cSld name="Content_16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p3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4" name="Google Shape;244;p3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45" name="Google Shape;245;p36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249" name="Google Shape;249;p36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4 2">
  <p:cSld name="Content_17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37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37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53" name="Google Shape;253;p37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7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257" name="Google Shape;257;p37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 2">
  <p:cSld name="Content_14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38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38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1" name="Google Shape;261;p38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5" name="Google Shape;265;p38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5">
  <p:cSld name="Content_15_3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p39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39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69" name="Google Shape;269;p39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9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1" name="Google Shape;271;p39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2" name="Google Shape;272;p39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3" name="Google Shape;273;p39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6">
  <p:cSld name="Content_15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40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40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77" name="Google Shape;277;p40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0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281" name="Google Shape;281;p40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7">
  <p:cSld name="Content_2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41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41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5" name="Google Shape;285;p41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8" name="Google Shape;288;p41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 2">
  <p:cSld name="Content_8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42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1" name="Google Shape;291;p42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2" name="Google Shape;292;p42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4" name="Google Shape;294;p42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7">
  <p:cSld name="Content_15_5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43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" name="Google Shape;297;p43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98" name="Google Shape;298;p43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3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302" name="Google Shape;302;p43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8">
  <p:cSld name="Content_26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44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44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06" name="Google Shape;306;p44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4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9">
  <p:cSld name="Content_27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4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1" name="Google Shape;311;p4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12" name="Google Shape;312;p4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0">
  <p:cSld name="Content_28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4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p4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18" name="Google Shape;318;p46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0" name="Google Shape;320;p46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1">
  <p:cSld name="Content_29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47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3" name="Google Shape;323;p47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24" name="Google Shape;324;p47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7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6" name="Google Shape;326;p47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8">
  <p:cSld name="Content_3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8" name="Google Shape;328;p48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1905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p48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0" name="Google Shape;330;p48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8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2" name="Google Shape;332;p48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3" name="Google Shape;333;p48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334" name="Google Shape;334;p48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 3">
  <p:cSld name="Content_14_3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49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49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38" name="Google Shape;338;p49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9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0" name="Google Shape;340;p49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1" name="Google Shape;341;p49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2" name="Google Shape;342;p49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9">
  <p:cSld name="Content_15_6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50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50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6" name="Google Shape;346;p50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8" name="Google Shape;348;p50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9" name="Google Shape;349;p50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0" name="Google Shape;350;p50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1 1">
  <p:cSld name="Content_22_1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51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3" name="Google Shape;353;p51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54" name="Google Shape;354;p51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51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6" name="Google Shape;356;p51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7" name="Google Shape;357;p51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358" name="Google Shape;358;p51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 10">
  <p:cSld name="Content_15_7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52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1" name="Google Shape;361;p52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62" name="Google Shape;362;p52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2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4" name="Google Shape;364;p52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5" name="Google Shape;365;p52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1" i="0" u="none" strike="noStrike" cap="none">
              <a:solidFill>
                <a:srgbClr val="E93F33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2">
  <p:cSld name="Content_30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8" name="Google Shape;368;p53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9" name="Google Shape;369;p53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70" name="Google Shape;370;p53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2" name="Google Shape;372;p53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3" name="Google Shape;373;p53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38575" tIns="19275" rIns="38575" bIns="19275" anchor="t" anchorCtr="0">
            <a:noAutofit/>
          </a:bodyPr>
          <a:lstStyle>
            <a:lvl1pPr lvl="0">
              <a:buNone/>
              <a:defRPr sz="1000">
                <a:solidFill>
                  <a:schemeClr val="tx1"/>
                </a:solidFill>
              </a:defRPr>
            </a:lvl1pPr>
            <a:lvl2pPr lvl="1">
              <a:buNone/>
              <a:defRPr sz="1000">
                <a:solidFill>
                  <a:schemeClr val="tx1"/>
                </a:solidFill>
              </a:defRPr>
            </a:lvl2pPr>
            <a:lvl3pPr lvl="2">
              <a:buNone/>
              <a:defRPr sz="1000">
                <a:solidFill>
                  <a:schemeClr val="tx1"/>
                </a:solidFill>
              </a:defRPr>
            </a:lvl3pPr>
            <a:lvl4pPr lvl="3">
              <a:buNone/>
              <a:defRPr sz="1000">
                <a:solidFill>
                  <a:schemeClr val="tx1"/>
                </a:solidFill>
              </a:defRPr>
            </a:lvl4pPr>
            <a:lvl5pPr lvl="4">
              <a:buNone/>
              <a:defRPr sz="1000">
                <a:solidFill>
                  <a:schemeClr val="tx1"/>
                </a:solidFill>
              </a:defRPr>
            </a:lvl5pPr>
            <a:lvl6pPr lvl="5">
              <a:buNone/>
              <a:defRPr sz="1000">
                <a:solidFill>
                  <a:schemeClr val="tx1"/>
                </a:solidFill>
              </a:defRPr>
            </a:lvl6pPr>
            <a:lvl7pPr lvl="6">
              <a:buNone/>
              <a:defRPr sz="1000">
                <a:solidFill>
                  <a:schemeClr val="tx1"/>
                </a:solidFill>
              </a:defRPr>
            </a:lvl7pPr>
            <a:lvl8pPr lvl="7">
              <a:buNone/>
              <a:defRPr sz="1000">
                <a:solidFill>
                  <a:schemeClr val="tx1"/>
                </a:solidFill>
              </a:defRPr>
            </a:lvl8pPr>
            <a:lvl9pPr lvl="8">
              <a:buNone/>
              <a:defRPr sz="10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41">
  <p:cSld name="Content_4_1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5" name="Google Shape;375;p54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1905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6" name="Google Shape;376;p54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77" name="Google Shape;377;p54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4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9" name="Google Shape;379;p54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0" name="Google Shape;380;p54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381" name="Google Shape;381;p54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31">
  <p:cSld name="Content_3_2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Google Shape;383;p55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1905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4" name="Google Shape;384;p55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85" name="Google Shape;385;p55" descr="shopee-logo-en.png"/>
          <p:cNvPicPr preferRelativeResize="0"/>
          <p:nvPr/>
        </p:nvPicPr>
        <p:blipFill rotWithShape="1">
          <a:blip r:embed="rId2"/>
          <a:srcRect r="71131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5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7" name="Google Shape;387;p55"/>
          <p:cNvSpPr txBox="1"/>
          <p:nvPr/>
        </p:nvSpPr>
        <p:spPr>
          <a:xfrm>
            <a:off x="8255139" y="4836000"/>
            <a:ext cx="8430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8" name="Google Shape;388;p55"/>
          <p:cNvSpPr txBox="1"/>
          <p:nvPr/>
        </p:nvSpPr>
        <p:spPr>
          <a:xfrm>
            <a:off x="716650" y="218400"/>
            <a:ext cx="81663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E93F33"/>
              </a:solidFill>
            </a:endParaRPr>
          </a:p>
        </p:txBody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685800" y="182880"/>
            <a:ext cx="816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900"/>
              <a:buNone/>
              <a:defRPr sz="1900" b="1">
                <a:solidFill>
                  <a:srgbClr val="EA433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3">
  <p:cSld name="Content_3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p56"/>
          <p:cNvCxnSpPr/>
          <p:nvPr/>
        </p:nvCxnSpPr>
        <p:spPr>
          <a:xfrm>
            <a:off x="716643" y="589177"/>
            <a:ext cx="8166300" cy="0"/>
          </a:xfrm>
          <a:prstGeom prst="straightConnector1">
            <a:avLst/>
          </a:prstGeom>
          <a:noFill/>
          <a:ln w="254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2" name="Google Shape;392;p56"/>
          <p:cNvSpPr txBox="1"/>
          <p:nvPr/>
        </p:nvSpPr>
        <p:spPr>
          <a:xfrm>
            <a:off x="3883419" y="4723811"/>
            <a:ext cx="13833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 panose="020B0604020202020204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93" name="Google Shape;393;p56" descr="shopee-logo-en.png"/>
          <p:cNvPicPr preferRelativeResize="0"/>
          <p:nvPr/>
        </p:nvPicPr>
        <p:blipFill rotWithShape="1">
          <a:blip r:embed="rId2"/>
          <a:srcRect r="71130"/>
          <a:stretch>
            <a:fillRect/>
          </a:stretch>
        </p:blipFill>
        <p:spPr>
          <a:xfrm>
            <a:off x="308305" y="247184"/>
            <a:ext cx="337878" cy="37062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6"/>
          <p:cNvSpPr txBox="1"/>
          <p:nvPr/>
        </p:nvSpPr>
        <p:spPr>
          <a:xfrm>
            <a:off x="2061600" y="4811846"/>
            <a:ext cx="50148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 panose="020B0604020202020204"/>
              <a:buNone/>
            </a:pPr>
            <a:r>
              <a:rPr lang="en-GB" sz="800" b="0" i="0" u="none" strike="noStrike" cap="none">
                <a:solidFill>
                  <a:srgbClr val="80808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5" name="Google Shape;395;p56"/>
          <p:cNvSpPr txBox="1"/>
          <p:nvPr/>
        </p:nvSpPr>
        <p:spPr>
          <a:xfrm>
            <a:off x="8578931" y="4833182"/>
            <a:ext cx="2907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975" tIns="76975" rIns="76975" bIns="769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</a:pPr>
            <a:fld id="{00000000-1234-1234-1234-123412341234}" type="slidenum">
              <a:rPr lang="en-GB" sz="800" b="0" i="0" u="none" strike="noStrike" cap="none">
                <a:solidFill>
                  <a:srgbClr val="7F7F7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900" b="0" i="0" u="none" strike="noStrike" cap="none">
              <a:solidFill>
                <a:srgbClr val="7F7F7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6" name="Google Shape;396;p56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1">
  <p:cSld name="Photo - Horizontal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/>
          <p:nvPr/>
        </p:nvSpPr>
        <p:spPr>
          <a:xfrm>
            <a:off x="3586275" y="4927472"/>
            <a:ext cx="1971300" cy="2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Play"/>
              <a:buNone/>
            </a:pPr>
            <a:r>
              <a:rPr lang="en-GB" sz="7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Private &amp; Confidential</a:t>
            </a:r>
            <a:endParaRPr sz="7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57"/>
          <p:cNvSpPr txBox="1"/>
          <p:nvPr>
            <p:ph type="title"/>
          </p:nvPr>
        </p:nvSpPr>
        <p:spPr>
          <a:xfrm>
            <a:off x="479725" y="379375"/>
            <a:ext cx="50778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13366"/>
              </a:buClr>
              <a:buSzPts val="4000"/>
              <a:buFont typeface="Open Sans"/>
              <a:buNone/>
              <a:defRPr sz="4000" b="1">
                <a:solidFill>
                  <a:srgbClr val="11336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4000"/>
              <a:buFont typeface="Open Sans"/>
              <a:buNone/>
              <a:defRPr sz="4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400" name="Google Shape;400;p5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22356" y="459216"/>
            <a:ext cx="653862" cy="619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313875" y="0"/>
            <a:ext cx="2858674" cy="514344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7"/>
          <p:cNvSpPr txBox="1"/>
          <p:nvPr>
            <p:ph type="body" idx="1"/>
          </p:nvPr>
        </p:nvSpPr>
        <p:spPr>
          <a:xfrm>
            <a:off x="472950" y="1254225"/>
            <a:ext cx="6751800" cy="3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○"/>
              <a:defRPr sz="14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■"/>
              <a:defRPr sz="14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7" Type="http://schemas.openxmlformats.org/officeDocument/2006/relationships/theme" Target="../theme/theme1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sldNum" idx="12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8"/>
          <p:cNvSpPr txBox="1"/>
          <p:nvPr>
            <p:ph type="ctrTitle"/>
          </p:nvPr>
        </p:nvSpPr>
        <p:spPr>
          <a:xfrm>
            <a:off x="1143000" y="2156378"/>
            <a:ext cx="6858000" cy="10593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Calibri"/>
                <a:ea typeface="Calibri"/>
                <a:cs typeface="Calibri"/>
                <a:sym typeface="Calibri"/>
              </a:rPr>
              <a:t>IBS AI CR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8"/>
          <p:cNvSpPr txBox="1"/>
          <p:nvPr>
            <p:ph type="subTitle" idx="1"/>
          </p:nvPr>
        </p:nvSpPr>
        <p:spPr>
          <a:xfrm>
            <a:off x="1143000" y="3215551"/>
            <a:ext cx="6858000" cy="4191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300" i="1"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lang="en-GB" sz="1300" i="1">
                <a:latin typeface="Calibri"/>
                <a:ea typeface="Calibri"/>
                <a:cs typeface="Calibri"/>
                <a:sym typeface="Calibri"/>
              </a:rPr>
              <a:t>th, Jan</a:t>
            </a:r>
            <a:r>
              <a:rPr lang="en-GB" sz="1300" i="1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为什么要做 IBS AICR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414" name="Google Shape;414;p59"/>
          <p:cNvSpPr/>
          <p:nvPr/>
        </p:nvSpPr>
        <p:spPr>
          <a:xfrm>
            <a:off x="307500" y="693500"/>
            <a:ext cx="8705400" cy="728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人工 CR 投入少、效率低、效果不佳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：在 25-Q2，当时大家普遍在 CR 上投入较少，且大量的 MR 人工 Review 发现的问题数较少，平均单个 MR 有效评论数在 </a:t>
            </a:r>
            <a:r>
              <a:rPr lang="en-GB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0.1 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个左右；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供应链整体对质量要求高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：业务线对质量的要求较高，FE 质量从 Non-Live BUG 数层面来看，还有比较大的提升空间；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大量 AI 生码工具缺乏代码质量保证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：大量 AI 生码工具诞生，需要有一个工具去保证 AI 生码的质量；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59"/>
          <p:cNvSpPr txBox="1"/>
          <p:nvPr/>
        </p:nvSpPr>
        <p:spPr>
          <a:xfrm>
            <a:off x="307500" y="4367276"/>
            <a:ext cx="370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FE 引入 IBS AICR 后，Non-Live BUG 数逐渐降低</a:t>
            </a:r>
            <a:endParaRPr sz="9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9"/>
          <p:cNvSpPr txBox="1"/>
          <p:nvPr/>
        </p:nvSpPr>
        <p:spPr>
          <a:xfrm>
            <a:off x="4759375" y="4367276"/>
            <a:ext cx="4220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大量 AI 生码工具/平台，生码质量需要保障</a:t>
            </a:r>
            <a:endParaRPr sz="9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19" name="Google Shape;419;p59"/>
          <p:cNvGraphicFramePr/>
          <p:nvPr/>
        </p:nvGraphicFramePr>
        <p:xfrm>
          <a:off x="4759448" y="1909381"/>
          <a:ext cx="4219950" cy="3000000"/>
        </p:xfrm>
        <a:graphic>
          <a:graphicData uri="http://schemas.openxmlformats.org/drawingml/2006/table">
            <a:tbl>
              <a:tblPr>
                <a:noFill/>
                <a:tableStyleId>{F0759321-DC8F-42B9-8EFD-07616C4615D4}</a:tableStyleId>
              </a:tblPr>
              <a:tblGrid>
                <a:gridCol w="1200650"/>
                <a:gridCol w="3019300"/>
              </a:tblGrid>
              <a:tr h="30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平台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描述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</a:tr>
              <a:tr h="637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IBS</a:t>
                      </a:r>
                      <a:b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(Intelligent Build Studio)</a:t>
                      </a:r>
                      <a:endParaRPr sz="8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前端智构平台，可以帮助 PM 基于 BRD 快速生成页面原型和 PRD 描述，可以帮助 FE 快速生成符合供应链规范的代码；</a:t>
                      </a:r>
                      <a:endParaRPr sz="1300" i="1">
                        <a:solidFill>
                          <a:srgbClr val="59595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377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Feature FLow</a:t>
                      </a:r>
                      <a:endParaRPr lang="en-GB" sz="8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SSC 一站式 AI 工作平台，集成 AI 能力提升交付质量和效率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63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[SCTP] Coding Bot</a:t>
                      </a:r>
                      <a:endParaRPr lang="en-GB" sz="8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集成 SeaTalk 与 Claude Code 的全流程 AI 研发 Agent Bot，能够实现从需求澄清、方案确认、多 Agent 协同开发到自动 CR 及测试环境部署的端到端自动化交付平台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332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…</a:t>
                      </a:r>
                      <a:endParaRPr sz="1100"/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 </a:t>
                      </a:r>
                      <a:endParaRPr sz="1100"/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420" name="Google Shape;420;p59" title="Chart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7492" y="1923924"/>
            <a:ext cx="3700182" cy="228795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7" name="Google Shape;417;p59"/>
          <p:cNvSpPr txBox="1"/>
          <p:nvPr/>
        </p:nvSpPr>
        <p:spPr>
          <a:xfrm>
            <a:off x="2304678" y="1585226"/>
            <a:ext cx="2755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900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FE 大规模铺开 IBS AICR 时间点</a:t>
            </a:r>
            <a:endParaRPr sz="900" i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5" name="Google Shape;415;p59"/>
          <p:cNvCxnSpPr/>
          <p:nvPr/>
        </p:nvCxnSpPr>
        <p:spPr>
          <a:xfrm>
            <a:off x="2256738" y="1662464"/>
            <a:ext cx="0" cy="2169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ash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整体概览</a:t>
            </a:r>
            <a:endParaRPr sz="1000" b="1">
              <a:solidFill>
                <a:srgbClr val="EE4D2D"/>
              </a:solidFill>
            </a:endParaRPr>
          </a:p>
        </p:txBody>
      </p:sp>
      <p:sp>
        <p:nvSpPr>
          <p:cNvPr id="426" name="Google Shape;426;p60"/>
          <p:cNvSpPr/>
          <p:nvPr/>
        </p:nvSpPr>
        <p:spPr>
          <a:xfrm>
            <a:off x="131100" y="624800"/>
            <a:ext cx="8830800" cy="833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截止 26 Q1，IBS AICR 累计发现有效问题 1497 个(25Q3 265 个，25Q4 580个，26Q1 652个)，整体采纳率 </a:t>
            </a: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63.82%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，召回率 </a:t>
            </a: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41%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；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n-GB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能力标杆场景落地（25Q2-25Q3）：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完成完整流程的 POC 落地，核心在于结合本地工程代码上下文挖掘问题；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n-GB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采纳率&amp;召回率提升，业务线内大规模落地（25Q4）：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通过</a:t>
            </a:r>
            <a:r>
              <a:rPr lang="en-GB" sz="830">
                <a:solidFill>
                  <a:schemeClr val="dk1"/>
                </a:solidFill>
              </a:rPr>
              <a:t>编排、链式提示词、质检、卡点检测、数据回流等手段，提升采纳率和召回率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●"/>
            </a:pPr>
            <a:r>
              <a:rPr lang="en-GB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与 Skynet 合作（26Q1-至今）：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与 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Skynet 合并，共建公司级的 AICR，已经完成成本降低功能开发；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60"/>
          <p:cNvSpPr/>
          <p:nvPr/>
        </p:nvSpPr>
        <p:spPr>
          <a:xfrm>
            <a:off x="131100" y="1517063"/>
            <a:ext cx="2988600" cy="262800"/>
          </a:xfrm>
          <a:prstGeom prst="homePlate">
            <a:avLst>
              <a:gd name="adj" fmla="val 5000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25Q2-25Q3：能力标杆场景落地</a:t>
            </a:r>
            <a:endParaRPr sz="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60"/>
          <p:cNvSpPr/>
          <p:nvPr/>
        </p:nvSpPr>
        <p:spPr>
          <a:xfrm>
            <a:off x="3081551" y="1507738"/>
            <a:ext cx="2988600" cy="262800"/>
          </a:xfrm>
          <a:prstGeom prst="chevron">
            <a:avLst>
              <a:gd name="adj" fmla="val 50000"/>
            </a:avLst>
          </a:prstGeom>
          <a:solidFill>
            <a:srgbClr val="3D85C6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25Q4：采纳率&amp;召回率提升，业务线内大规模落地</a:t>
            </a:r>
            <a:endParaRPr sz="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60"/>
          <p:cNvSpPr/>
          <p:nvPr/>
        </p:nvSpPr>
        <p:spPr>
          <a:xfrm>
            <a:off x="6024389" y="1507738"/>
            <a:ext cx="2988600" cy="262800"/>
          </a:xfrm>
          <a:prstGeom prst="chevron">
            <a:avLst>
              <a:gd name="adj" fmla="val 50000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26Q1 ~： 与 Skynet 合作 &amp; 远端 AI CR</a:t>
            </a:r>
            <a:endParaRPr sz="800" b="1">
              <a:solidFill>
                <a:srgbClr val="B2E39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60"/>
          <p:cNvSpPr/>
          <p:nvPr/>
        </p:nvSpPr>
        <p:spPr>
          <a:xfrm>
            <a:off x="131100" y="1840488"/>
            <a:ext cx="2886600" cy="1558200"/>
          </a:xfrm>
          <a:prstGeom prst="roundRect">
            <a:avLst>
              <a:gd name="adj" fmla="val 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80775" tIns="80775" rIns="80775" bIns="80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本地 CR</a:t>
            </a:r>
            <a:endParaRPr sz="83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在 Cursor 审查代码，建议直接输出到对话中，支持自动修复</a:t>
            </a: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『事项』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✓ </a:t>
            </a: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提升采纳率：</a:t>
            </a: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结合本地工程代码上下文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✓ </a:t>
            </a: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生态建设：</a:t>
            </a: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提交前发现问题并修复</a:t>
            </a:r>
            <a:endParaRPr sz="730" b="1">
              <a:solidFill>
                <a:srgbClr val="FF57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730" b="1">
              <a:solidFill>
                <a:srgbClr val="FF57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30" b="1">
              <a:solidFill>
                <a:srgbClr val="E6A23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30" b="1">
              <a:solidFill>
                <a:srgbClr val="EE4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1" name="Google Shape;431;p60"/>
          <p:cNvCxnSpPr/>
          <p:nvPr/>
        </p:nvCxnSpPr>
        <p:spPr>
          <a:xfrm>
            <a:off x="218366" y="2265481"/>
            <a:ext cx="1730400" cy="6300"/>
          </a:xfrm>
          <a:prstGeom prst="straightConnector1">
            <a:avLst/>
          </a:prstGeom>
          <a:noFill/>
          <a:ln w="88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2" name="Google Shape;432;p60"/>
          <p:cNvSpPr/>
          <p:nvPr/>
        </p:nvSpPr>
        <p:spPr>
          <a:xfrm>
            <a:off x="3109772" y="1840488"/>
            <a:ext cx="2886600" cy="1558200"/>
          </a:xfrm>
          <a:prstGeom prst="roundRect">
            <a:avLst>
              <a:gd name="adj" fmla="val 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80775" tIns="80775" rIns="80775" bIns="80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本地 CR</a:t>
            </a:r>
            <a:endParaRPr sz="83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在 Cursor 审查代码，建议直接输出到对话中，支持自动修复</a:t>
            </a: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『事项』</a:t>
            </a:r>
            <a:endParaRPr sz="730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</a:t>
            </a:r>
            <a:r>
              <a:rPr lang="en-GB" sz="730" b="1">
                <a:solidFill>
                  <a:srgbClr val="113366"/>
                </a:solidFill>
              </a:rPr>
              <a:t>提升</a:t>
            </a:r>
            <a:r>
              <a:rPr lang="en-GB" sz="730" b="1">
                <a:solidFill>
                  <a:srgbClr val="113366"/>
                </a:solidFill>
              </a:rPr>
              <a:t>采纳率：规则库、代码上下文、过滤策略</a:t>
            </a:r>
            <a:br>
              <a:rPr lang="en-GB" sz="730" b="1">
                <a:solidFill>
                  <a:srgbClr val="113366"/>
                </a:solidFill>
              </a:rPr>
            </a:br>
            <a:r>
              <a:rPr lang="en-GB" sz="730" b="1">
                <a:solidFill>
                  <a:srgbClr val="113366"/>
                </a:solidFill>
              </a:rPr>
              <a:t>✓ 提升召回率：AI 防偷懒工程、质检策略</a:t>
            </a:r>
            <a:br>
              <a:rPr lang="en-GB" sz="730" b="1">
                <a:solidFill>
                  <a:srgbClr val="113366"/>
                </a:solidFill>
              </a:rPr>
            </a:br>
            <a:r>
              <a:rPr lang="en-GB" sz="730" b="1">
                <a:solidFill>
                  <a:srgbClr val="113366"/>
                </a:solidFill>
              </a:rPr>
              <a:t>✓ 数据回流：指标采集、构建测试集、规则闭环</a:t>
            </a:r>
            <a:endParaRPr sz="730" b="1">
              <a:solidFill>
                <a:srgbClr val="1133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生态建设：本地/远端卡点、周报、外化平台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60"/>
          <p:cNvSpPr/>
          <p:nvPr/>
        </p:nvSpPr>
        <p:spPr>
          <a:xfrm>
            <a:off x="6075400" y="1840488"/>
            <a:ext cx="2886600" cy="1558200"/>
          </a:xfrm>
          <a:prstGeom prst="roundRect">
            <a:avLst>
              <a:gd name="adj" fmla="val 0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80775" tIns="80775" rIns="80775" bIns="80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83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本地 CR + 远端 CR</a:t>
            </a:r>
            <a:endParaRPr sz="83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530" i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Cursor IDE + 平台调用远端 AI CR 服务</a:t>
            </a: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530" i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『事项』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优化 Skyent Review 成本</a:t>
            </a:r>
            <a:endParaRPr sz="730" b="1">
              <a:solidFill>
                <a:srgbClr val="1133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提升 Skynet Review 指标</a:t>
            </a:r>
            <a:endParaRPr sz="730" b="1">
              <a:solidFill>
                <a:srgbClr val="1133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Skynet Review 平台与业务落地标杆</a:t>
            </a:r>
            <a:endParaRPr sz="730" b="1">
              <a:solidFill>
                <a:srgbClr val="113366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</a:rPr>
              <a:t>✓ 远端 CR 服务稳定性保障</a:t>
            </a:r>
            <a:endParaRPr sz="730" b="1">
              <a:solidFill>
                <a:srgbClr val="113366"/>
              </a:solidFill>
            </a:endParaRPr>
          </a:p>
        </p:txBody>
      </p:sp>
      <p:cxnSp>
        <p:nvCxnSpPr>
          <p:cNvPr id="434" name="Google Shape;434;p60"/>
          <p:cNvCxnSpPr/>
          <p:nvPr/>
        </p:nvCxnSpPr>
        <p:spPr>
          <a:xfrm>
            <a:off x="3147913" y="2265481"/>
            <a:ext cx="1730400" cy="6300"/>
          </a:xfrm>
          <a:prstGeom prst="straightConnector1">
            <a:avLst/>
          </a:prstGeom>
          <a:noFill/>
          <a:ln w="88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" name="Google Shape;435;p60"/>
          <p:cNvCxnSpPr/>
          <p:nvPr/>
        </p:nvCxnSpPr>
        <p:spPr>
          <a:xfrm>
            <a:off x="6146991" y="2265481"/>
            <a:ext cx="1730400" cy="6300"/>
          </a:xfrm>
          <a:prstGeom prst="straightConnector1">
            <a:avLst/>
          </a:prstGeom>
          <a:noFill/>
          <a:ln w="88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6" name="Google Shape;436;p60"/>
          <p:cNvSpPr/>
          <p:nvPr/>
        </p:nvSpPr>
        <p:spPr>
          <a:xfrm>
            <a:off x="131050" y="3405638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核心指标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（基于 IBS AICR）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60"/>
          <p:cNvSpPr/>
          <p:nvPr/>
        </p:nvSpPr>
        <p:spPr>
          <a:xfrm>
            <a:off x="131050" y="3615963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采纳率：～10%</a:t>
            </a:r>
            <a:endParaRPr sz="730" b="1">
              <a:solidFill>
                <a:srgbClr val="E6A23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召回率：-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60"/>
          <p:cNvSpPr/>
          <p:nvPr/>
        </p:nvSpPr>
        <p:spPr>
          <a:xfrm>
            <a:off x="3109722" y="3405638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核心指标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（基于 IBS AICR）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60"/>
          <p:cNvSpPr/>
          <p:nvPr/>
        </p:nvSpPr>
        <p:spPr>
          <a:xfrm>
            <a:off x="3109722" y="3615963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采纳率：～60%</a:t>
            </a:r>
            <a:endParaRPr sz="730" b="1">
              <a:solidFill>
                <a:srgbClr val="E6A23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召回率：～40%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60"/>
          <p:cNvSpPr/>
          <p:nvPr/>
        </p:nvSpPr>
        <p:spPr>
          <a:xfrm>
            <a:off x="6075350" y="3414963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核心指标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基于 Skynet AICR）</a:t>
            </a:r>
            <a:endParaRPr sz="800" b="1">
              <a:solidFill>
                <a:srgbClr val="BDBDB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0"/>
          <p:cNvSpPr/>
          <p:nvPr/>
        </p:nvSpPr>
        <p:spPr>
          <a:xfrm>
            <a:off x="6075350" y="3625288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采纳率：</a:t>
            </a:r>
            <a:r>
              <a:rPr lang="en-GB" sz="730" b="1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帮助 Skynet 提升 10%</a:t>
            </a:r>
            <a:endParaRPr sz="730" b="1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召回率：帮助 Skynet 提升 </a:t>
            </a:r>
            <a:r>
              <a:rPr lang="en-GB" sz="73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10% ✅</a:t>
            </a:r>
            <a:endParaRPr sz="73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Token 成本：帮助 Skynet 降低 40% Tokens 消耗 </a:t>
            </a:r>
            <a:r>
              <a:rPr lang="en-GB" sz="73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✅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60"/>
          <p:cNvSpPr/>
          <p:nvPr/>
        </p:nvSpPr>
        <p:spPr>
          <a:xfrm>
            <a:off x="131100" y="4174288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落地数据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（覆盖个人和平台）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60"/>
          <p:cNvSpPr/>
          <p:nvPr/>
        </p:nvSpPr>
        <p:spPr>
          <a:xfrm>
            <a:off x="131100" y="4390288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研发个人生码：SSC FE 60%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工具/平台生码：-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60"/>
          <p:cNvSpPr/>
          <p:nvPr/>
        </p:nvSpPr>
        <p:spPr>
          <a:xfrm>
            <a:off x="3109722" y="4165863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落地数据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（覆盖个人和平台）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60"/>
          <p:cNvSpPr/>
          <p:nvPr/>
        </p:nvSpPr>
        <p:spPr>
          <a:xfrm>
            <a:off x="6075400" y="4165863"/>
            <a:ext cx="2886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落地数据</a:t>
            </a:r>
            <a:r>
              <a:rPr lang="en-GB" sz="800" b="1">
                <a:solidFill>
                  <a:srgbClr val="BDBDBD"/>
                </a:solidFill>
                <a:latin typeface="Montserrat"/>
                <a:ea typeface="Montserrat"/>
                <a:cs typeface="Montserrat"/>
                <a:sym typeface="Montserrat"/>
              </a:rPr>
              <a:t>（覆盖个人和工具）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60"/>
          <p:cNvSpPr/>
          <p:nvPr/>
        </p:nvSpPr>
        <p:spPr>
          <a:xfrm>
            <a:off x="3109722" y="4381863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研发个人生码：SSC FE 100%，SSC BE 30%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工具/平台生码：-</a:t>
            </a:r>
            <a:endParaRPr sz="7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60"/>
          <p:cNvSpPr/>
          <p:nvPr/>
        </p:nvSpPr>
        <p:spPr>
          <a:xfrm>
            <a:off x="6075400" y="4381863"/>
            <a:ext cx="2886600" cy="549900"/>
          </a:xfrm>
          <a:prstGeom prst="roundRect">
            <a:avLst>
              <a:gd name="adj" fmla="val 1793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研发个人生码：SSC FE 100%，SSC BE 30%、</a:t>
            </a:r>
            <a:r>
              <a:rPr lang="en-GB" sz="73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Skynet AICR</a:t>
            </a:r>
            <a:endParaRPr sz="73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730" b="1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- 工具/平台生码：IBS Agent、SSC FeatureFlow、SCTP Coding Bot</a:t>
            </a:r>
            <a:endParaRPr sz="630" b="1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1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采纳率提升技术细节</a:t>
            </a:r>
            <a:endParaRPr sz="1000" b="1">
              <a:solidFill>
                <a:srgbClr val="EE4D2D"/>
              </a:solidFill>
            </a:endParaRPr>
          </a:p>
        </p:txBody>
      </p:sp>
      <p:sp>
        <p:nvSpPr>
          <p:cNvPr id="453" name="Google Shape;453;p61"/>
          <p:cNvSpPr/>
          <p:nvPr/>
        </p:nvSpPr>
        <p:spPr>
          <a:xfrm>
            <a:off x="8047050" y="1756161"/>
            <a:ext cx="1036500" cy="288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000" tIns="0" rIns="870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Cursor Agent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循环执行审查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61"/>
          <p:cNvSpPr/>
          <p:nvPr/>
        </p:nvSpPr>
        <p:spPr>
          <a:xfrm>
            <a:off x="204150" y="655200"/>
            <a:ext cx="8735700" cy="87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针对提升采纳率，主要从以下问题进行攻克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endParaRPr sz="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问题① - 审查缺乏团队规范：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 使用通用审查标准，缺少 SSC 各业务场景的针对性规则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问题② - 代码上下文不足：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仅依赖 diff 片段，无法准确判断改动带来的潜在问题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问题③ - 误报反馈回流不足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：对用户反馈不采纳的记录，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无别回流至用户后续审查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61"/>
          <p:cNvSpPr/>
          <p:nvPr/>
        </p:nvSpPr>
        <p:spPr>
          <a:xfrm>
            <a:off x="187362" y="2225000"/>
            <a:ext cx="3155700" cy="2665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解法①-</a:t>
            </a: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工作流建设</a:t>
            </a: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：构建分层审查规则体系</a:t>
            </a:r>
            <a:endParaRPr sz="800" b="1">
              <a:solidFill>
                <a:srgbClr val="EA43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1"/>
          <p:cNvSpPr/>
          <p:nvPr/>
        </p:nvSpPr>
        <p:spPr>
          <a:xfrm>
            <a:off x="260104" y="3165101"/>
            <a:ext cx="29910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SSC 通用规则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61"/>
          <p:cNvSpPr/>
          <p:nvPr/>
        </p:nvSpPr>
        <p:spPr>
          <a:xfrm>
            <a:off x="269273" y="3433914"/>
            <a:ext cx="1516500" cy="4059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6 种主要分类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安全、规范、可维护性、可拓展性、性能、健壮性 6 </a:t>
            </a: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大类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61"/>
          <p:cNvSpPr/>
          <p:nvPr/>
        </p:nvSpPr>
        <p:spPr>
          <a:xfrm>
            <a:off x="1810108" y="3433926"/>
            <a:ext cx="1441200" cy="4059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4 种严重程度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5～2 分，分别表示严重问题、潜在风险、建议型、适当关注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61"/>
          <p:cNvSpPr/>
          <p:nvPr/>
        </p:nvSpPr>
        <p:spPr>
          <a:xfrm>
            <a:off x="265182" y="3892651"/>
            <a:ext cx="1516500" cy="2874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3 种主要技术栈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JS、Java、Go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61"/>
          <p:cNvSpPr/>
          <p:nvPr/>
        </p:nvSpPr>
        <p:spPr>
          <a:xfrm>
            <a:off x="1823321" y="3913651"/>
            <a:ext cx="1426500" cy="2874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经典坑点示例</a:t>
            </a:r>
            <a:endParaRPr sz="7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FE 40+ 条，BE 20+ 条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61"/>
          <p:cNvSpPr/>
          <p:nvPr/>
        </p:nvSpPr>
        <p:spPr>
          <a:xfrm>
            <a:off x="260204" y="4267001"/>
            <a:ext cx="29910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项目规则 - 基于仓库的个性化规则 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61"/>
          <p:cNvSpPr/>
          <p:nvPr/>
        </p:nvSpPr>
        <p:spPr>
          <a:xfrm>
            <a:off x="265300" y="4525876"/>
            <a:ext cx="2991000" cy="2874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仓库维度配置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团队通过 Cursor Rules 定制团队审查规则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61"/>
          <p:cNvSpPr/>
          <p:nvPr/>
        </p:nvSpPr>
        <p:spPr>
          <a:xfrm>
            <a:off x="3495141" y="2222600"/>
            <a:ext cx="2794200" cy="2665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解法②-</a:t>
            </a: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上下文建设</a:t>
            </a: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：让 AI 获取足够的代码上下文</a:t>
            </a:r>
            <a:endParaRPr sz="800" b="1">
              <a:solidFill>
                <a:srgbClr val="EA43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61"/>
          <p:cNvSpPr/>
          <p:nvPr/>
        </p:nvSpPr>
        <p:spPr>
          <a:xfrm>
            <a:off x="3635197" y="2523577"/>
            <a:ext cx="2484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Cursor Code</a:t>
            </a: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</a:t>
            </a: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集成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61"/>
          <p:cNvSpPr/>
          <p:nvPr/>
        </p:nvSpPr>
        <p:spPr>
          <a:xfrm>
            <a:off x="3640707" y="2816777"/>
            <a:ext cx="2484600" cy="324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未改动代码部分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将未改动的关联代码纳入审查上下文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61"/>
          <p:cNvSpPr/>
          <p:nvPr/>
        </p:nvSpPr>
        <p:spPr>
          <a:xfrm>
            <a:off x="3659346" y="3236977"/>
            <a:ext cx="2484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对改动代码进行分组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61"/>
          <p:cNvSpPr/>
          <p:nvPr/>
        </p:nvSpPr>
        <p:spPr>
          <a:xfrm>
            <a:off x="3664856" y="3530177"/>
            <a:ext cx="2484600" cy="324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改动代码部分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语义相近的文件分成一组，确保同模块文件放一起审查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61"/>
          <p:cNvSpPr/>
          <p:nvPr/>
        </p:nvSpPr>
        <p:spPr>
          <a:xfrm>
            <a:off x="267080" y="2526264"/>
            <a:ext cx="29910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大模型审查角色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61"/>
          <p:cNvSpPr/>
          <p:nvPr/>
        </p:nvSpPr>
        <p:spPr>
          <a:xfrm>
            <a:off x="272176" y="2785139"/>
            <a:ext cx="2991000" cy="2874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审查角色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不同的代码仓库，定义不同审查角色，激活大模型内部的审查规则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61"/>
          <p:cNvSpPr/>
          <p:nvPr/>
        </p:nvSpPr>
        <p:spPr>
          <a:xfrm>
            <a:off x="204149" y="1761225"/>
            <a:ext cx="540000" cy="288000"/>
          </a:xfrm>
          <a:prstGeom prst="ellipse">
            <a:avLst/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IBS CR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开始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1"/>
          <p:cNvSpPr/>
          <p:nvPr/>
        </p:nvSpPr>
        <p:spPr>
          <a:xfrm>
            <a:off x="950651" y="1761325"/>
            <a:ext cx="2162700" cy="288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000" tIns="0" rIns="870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IBS CLI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收集项目规则（Cursor Rules）+ 改动代码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61"/>
          <p:cNvSpPr/>
          <p:nvPr/>
        </p:nvSpPr>
        <p:spPr>
          <a:xfrm>
            <a:off x="3476375" y="1761300"/>
            <a:ext cx="1312800" cy="288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000" tIns="0" rIns="870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Server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对改动代码进行分组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957749" y="1761300"/>
            <a:ext cx="1312800" cy="288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000" tIns="0" rIns="870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Cursor Agent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收集未改动部分代码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4" name="Google Shape;474;p61"/>
          <p:cNvCxnSpPr>
            <a:stCxn id="470" idx="6"/>
            <a:endCxn id="471" idx="1"/>
          </p:cNvCxnSpPr>
          <p:nvPr/>
        </p:nvCxnSpPr>
        <p:spPr>
          <a:xfrm>
            <a:off x="744149" y="1905225"/>
            <a:ext cx="2064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Google Shape;475;p61"/>
          <p:cNvCxnSpPr>
            <a:stCxn id="471" idx="3"/>
            <a:endCxn id="472" idx="1"/>
          </p:cNvCxnSpPr>
          <p:nvPr/>
        </p:nvCxnSpPr>
        <p:spPr>
          <a:xfrm>
            <a:off x="3113351" y="1905325"/>
            <a:ext cx="3630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6" name="Google Shape;476;p61"/>
          <p:cNvCxnSpPr>
            <a:stCxn id="472" idx="3"/>
            <a:endCxn id="473" idx="1"/>
          </p:cNvCxnSpPr>
          <p:nvPr/>
        </p:nvCxnSpPr>
        <p:spPr>
          <a:xfrm>
            <a:off x="4789175" y="1905300"/>
            <a:ext cx="16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7" name="Google Shape;477;p61"/>
          <p:cNvCxnSpPr>
            <a:endCxn id="456" idx="1"/>
          </p:cNvCxnSpPr>
          <p:nvPr/>
        </p:nvCxnSpPr>
        <p:spPr>
          <a:xfrm rot="5400000">
            <a:off x="-55646" y="2950151"/>
            <a:ext cx="638700" cy="7200"/>
          </a:xfrm>
          <a:prstGeom prst="curvedConnector4">
            <a:avLst>
              <a:gd name="adj1" fmla="val 41545"/>
              <a:gd name="adj2" fmla="val 2837069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478" name="Google Shape;478;p61"/>
          <p:cNvCxnSpPr>
            <a:stCxn id="456" idx="1"/>
            <a:endCxn id="461" idx="1"/>
          </p:cNvCxnSpPr>
          <p:nvPr/>
        </p:nvCxnSpPr>
        <p:spPr>
          <a:xfrm>
            <a:off x="260104" y="3273101"/>
            <a:ext cx="600" cy="1101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479" name="Google Shape;479;p61"/>
          <p:cNvCxnSpPr>
            <a:stCxn id="464" idx="1"/>
            <a:endCxn id="466" idx="1"/>
          </p:cNvCxnSpPr>
          <p:nvPr/>
        </p:nvCxnSpPr>
        <p:spPr>
          <a:xfrm>
            <a:off x="3635197" y="2631577"/>
            <a:ext cx="24000" cy="713400"/>
          </a:xfrm>
          <a:prstGeom prst="curvedConnector3">
            <a:avLst>
              <a:gd name="adj1" fmla="val -853495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480" name="Google Shape;480;p61"/>
          <p:cNvSpPr/>
          <p:nvPr/>
        </p:nvSpPr>
        <p:spPr>
          <a:xfrm rot="-5400000">
            <a:off x="1715050" y="835425"/>
            <a:ext cx="116700" cy="2600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1" name="Google Shape;481;p61"/>
          <p:cNvSpPr/>
          <p:nvPr/>
        </p:nvSpPr>
        <p:spPr>
          <a:xfrm rot="-5400000">
            <a:off x="4839758" y="823600"/>
            <a:ext cx="114000" cy="2624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82" name="Google Shape;482;p61"/>
          <p:cNvCxnSpPr/>
          <p:nvPr/>
        </p:nvCxnSpPr>
        <p:spPr>
          <a:xfrm rot="10800000" flipH="1">
            <a:off x="473050" y="1629426"/>
            <a:ext cx="8056800" cy="22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3" name="Google Shape;483;p61"/>
          <p:cNvSpPr/>
          <p:nvPr/>
        </p:nvSpPr>
        <p:spPr>
          <a:xfrm>
            <a:off x="3476375" y="1554913"/>
            <a:ext cx="2162700" cy="176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1"/>
              <a:t>发起 IBS CR 时，如何组合上下文？</a:t>
            </a:r>
            <a:endParaRPr sz="900" b="1" i="1"/>
          </a:p>
        </p:txBody>
      </p:sp>
      <p:sp>
        <p:nvSpPr>
          <p:cNvPr id="484" name="Google Shape;484;p61"/>
          <p:cNvSpPr/>
          <p:nvPr/>
        </p:nvSpPr>
        <p:spPr>
          <a:xfrm>
            <a:off x="6441450" y="2222625"/>
            <a:ext cx="2642100" cy="2665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解法</a:t>
            </a:r>
            <a:r>
              <a:rPr lang="en-GB" sz="8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③-数据回流建设： 黑名单规则增强</a:t>
            </a:r>
            <a:endParaRPr sz="800" b="1">
              <a:solidFill>
                <a:srgbClr val="EA43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61"/>
          <p:cNvSpPr/>
          <p:nvPr/>
        </p:nvSpPr>
        <p:spPr>
          <a:xfrm>
            <a:off x="6502399" y="1756150"/>
            <a:ext cx="1312800" cy="2880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 w="90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000" tIns="0" rIns="870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Server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以用户+仓库去加载反向规则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86" name="Google Shape;486;p61"/>
          <p:cNvCxnSpPr>
            <a:stCxn id="473" idx="3"/>
            <a:endCxn id="485" idx="1"/>
          </p:cNvCxnSpPr>
          <p:nvPr/>
        </p:nvCxnSpPr>
        <p:spPr>
          <a:xfrm rot="10800000" flipH="1">
            <a:off x="6270549" y="1900200"/>
            <a:ext cx="231900" cy="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7" name="Google Shape;487;p61"/>
          <p:cNvCxnSpPr>
            <a:stCxn id="485" idx="3"/>
            <a:endCxn id="453" idx="1"/>
          </p:cNvCxnSpPr>
          <p:nvPr/>
        </p:nvCxnSpPr>
        <p:spPr>
          <a:xfrm>
            <a:off x="7815199" y="1900150"/>
            <a:ext cx="231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8" name="Google Shape;488;p61"/>
          <p:cNvSpPr/>
          <p:nvPr/>
        </p:nvSpPr>
        <p:spPr>
          <a:xfrm rot="-5400000">
            <a:off x="7072904" y="1505950"/>
            <a:ext cx="114000" cy="12549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9" name="Google Shape;489;p61"/>
          <p:cNvSpPr/>
          <p:nvPr/>
        </p:nvSpPr>
        <p:spPr>
          <a:xfrm>
            <a:off x="6533400" y="2826274"/>
            <a:ext cx="2484600" cy="5187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黑名单规则蒸馏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对用户反馈未采纳，形成用户+仓库纬度的黑名单规则记忆，用于识别误报问题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61"/>
          <p:cNvSpPr/>
          <p:nvPr/>
        </p:nvSpPr>
        <p:spPr>
          <a:xfrm>
            <a:off x="6533200" y="3452975"/>
            <a:ext cx="2484600" cy="11019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Re-check 机制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审查流程结束，引入 re-check agent，对问题集进行二次过滤，由可信度机制：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排除误判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- 排除建议错误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- 排除重复建议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满足三个条件，则保留。</a:t>
            </a:r>
            <a:r>
              <a:rPr lang="en-GB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而</a:t>
            </a:r>
            <a:r>
              <a:rPr lang="en-GB" sz="7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无效问题会被标识，蒸馏成黑名单规则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61"/>
          <p:cNvSpPr/>
          <p:nvPr/>
        </p:nvSpPr>
        <p:spPr>
          <a:xfrm>
            <a:off x="6526422" y="2523577"/>
            <a:ext cx="2484600" cy="216000"/>
          </a:xfrm>
          <a:prstGeom prst="roundRect">
            <a:avLst>
              <a:gd name="adj" fmla="val 6963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记忆蒸馏策略</a:t>
            </a:r>
            <a:endParaRPr sz="9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2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召回</a:t>
            </a:r>
            <a:r>
              <a:rPr lang="en-GB" b="1">
                <a:solidFill>
                  <a:srgbClr val="EE4D2D"/>
                </a:solidFill>
              </a:rPr>
              <a:t>率提升</a:t>
            </a:r>
            <a:r>
              <a:rPr lang="en-GB" b="1">
                <a:solidFill>
                  <a:srgbClr val="EE4D2D"/>
                </a:solidFill>
              </a:rPr>
              <a:t>技术细节</a:t>
            </a:r>
            <a:endParaRPr sz="1000" b="1">
              <a:solidFill>
                <a:srgbClr val="EE4D2D"/>
              </a:solidFill>
            </a:endParaRPr>
          </a:p>
        </p:txBody>
      </p:sp>
      <p:sp>
        <p:nvSpPr>
          <p:cNvPr id="497" name="Google Shape;497;p62"/>
          <p:cNvSpPr/>
          <p:nvPr/>
        </p:nvSpPr>
        <p:spPr>
          <a:xfrm>
            <a:off x="88025" y="655200"/>
            <a:ext cx="8851800" cy="98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AI 审查的召回率低，主要的原因是 AI 其实会「</a:t>
            </a: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偷懒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」。根本原因是大模型存在上下文窗口限制，当上下文使用占比达到一定的比例后，AI 的指令遵循能力会显著下降，导致大型任务后期敷衍了事。为了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尽可能多的发现真实存在的问题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，我们解决了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以下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问题：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问题① - AI 审查流程不可控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：大型 MR 任务量大、步骤多，AI 容易"战略性放弃"或遗漏步骤 </a:t>
            </a:r>
            <a:endParaRPr sz="8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问题② - AI 审查不够仔细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：AI 自我管理，缺乏外部监督，无法识别是否真正完成审查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问题③ - AI 频繁遗漏的问题：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AICR 后被人工审查或测试发现的问题，无别回流至用户后续审查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62"/>
          <p:cNvSpPr/>
          <p:nvPr/>
        </p:nvSpPr>
        <p:spPr>
          <a:xfrm>
            <a:off x="171813" y="1764975"/>
            <a:ext cx="2808600" cy="3337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EE4D2D"/>
                </a:solidFill>
                <a:latin typeface="Montserrat"/>
                <a:ea typeface="Montserrat"/>
                <a:cs typeface="Montserrat"/>
                <a:sym typeface="Montserrat"/>
              </a:rPr>
              <a:t>解法①：</a:t>
            </a:r>
            <a:r>
              <a:rPr lang="en-GB" sz="900" b="1">
                <a:solidFill>
                  <a:srgbClr val="EE4D2D"/>
                </a:solidFill>
                <a:latin typeface="Montserrat"/>
                <a:ea typeface="Montserrat"/>
                <a:cs typeface="Montserrat"/>
                <a:sym typeface="Montserrat"/>
              </a:rPr>
              <a:t>工程化流程管控，系统驱动审查节奏</a:t>
            </a:r>
            <a:endParaRPr sz="900" b="1">
              <a:solidFill>
                <a:srgbClr val="EE4D2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62"/>
          <p:cNvSpPr/>
          <p:nvPr/>
        </p:nvSpPr>
        <p:spPr>
          <a:xfrm>
            <a:off x="3052575" y="1764976"/>
            <a:ext cx="2876100" cy="3337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解法②：建立验证机制，保障 AI 审查结果的质量</a:t>
            </a:r>
            <a:endParaRPr sz="900" b="1">
              <a:solidFill>
                <a:srgbClr val="EA43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62"/>
          <p:cNvSpPr/>
          <p:nvPr/>
        </p:nvSpPr>
        <p:spPr>
          <a:xfrm>
            <a:off x="267137" y="2087556"/>
            <a:ext cx="2611500" cy="209700"/>
          </a:xfrm>
          <a:prstGeom prst="roundRect">
            <a:avLst>
              <a:gd name="adj" fmla="val 6963"/>
            </a:avLst>
          </a:prstGeom>
          <a:solidFill>
            <a:srgbClr val="113366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任务编排 </a:t>
            </a:r>
            <a:r>
              <a:rPr lang="en-GB" sz="700" i="1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- 保证每次审查代码数量在合理范围</a:t>
            </a:r>
            <a:endParaRPr sz="700" i="1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62"/>
          <p:cNvSpPr/>
          <p:nvPr/>
        </p:nvSpPr>
        <p:spPr>
          <a:xfrm>
            <a:off x="267150" y="2351574"/>
            <a:ext cx="2611500" cy="4536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/>
              <a:t>大型 MR：</a:t>
            </a:r>
            <a:r>
              <a:rPr lang="en-GB" sz="700" b="1">
                <a:solidFill>
                  <a:srgbClr val="000000"/>
                </a:solidFill>
              </a:rPr>
              <a:t>批次 1 → 批次 2 → 批次 N</a:t>
            </a:r>
            <a:endParaRPr sz="700" b="1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solidFill>
                  <a:srgbClr val="44546A"/>
                </a:solidFill>
              </a:rPr>
              <a:t>按语义分组，每批 800-1200 行代码</a:t>
            </a:r>
            <a:endParaRPr sz="700" b="1">
              <a:solidFill>
                <a:srgbClr val="44546A"/>
              </a:solidFill>
            </a:endParaRPr>
          </a:p>
        </p:txBody>
      </p:sp>
      <p:cxnSp>
        <p:nvCxnSpPr>
          <p:cNvPr id="502" name="Google Shape;502;p62"/>
          <p:cNvCxnSpPr>
            <a:stCxn id="503" idx="2"/>
            <a:endCxn id="504" idx="2"/>
          </p:cNvCxnSpPr>
          <p:nvPr/>
        </p:nvCxnSpPr>
        <p:spPr>
          <a:xfrm rot="5400000">
            <a:off x="821482" y="3238240"/>
            <a:ext cx="25800" cy="695700"/>
          </a:xfrm>
          <a:prstGeom prst="bentConnector3">
            <a:avLst>
              <a:gd name="adj1" fmla="val 1023159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5" name="Google Shape;505;p62"/>
          <p:cNvCxnSpPr>
            <a:stCxn id="504" idx="3"/>
            <a:endCxn id="503" idx="1"/>
          </p:cNvCxnSpPr>
          <p:nvPr/>
        </p:nvCxnSpPr>
        <p:spPr>
          <a:xfrm>
            <a:off x="701351" y="3413640"/>
            <a:ext cx="98100" cy="2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6" name="Google Shape;506;p62"/>
          <p:cNvCxnSpPr>
            <a:stCxn id="503" idx="3"/>
            <a:endCxn id="507" idx="1"/>
          </p:cNvCxnSpPr>
          <p:nvPr/>
        </p:nvCxnSpPr>
        <p:spPr>
          <a:xfrm>
            <a:off x="1564916" y="3416290"/>
            <a:ext cx="981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8" name="Google Shape;508;p62"/>
          <p:cNvSpPr/>
          <p:nvPr/>
        </p:nvSpPr>
        <p:spPr>
          <a:xfrm>
            <a:off x="3166240" y="2092419"/>
            <a:ext cx="2642100" cy="216000"/>
          </a:xfrm>
          <a:prstGeom prst="roundRect">
            <a:avLst>
              <a:gd name="adj" fmla="val 6963"/>
            </a:avLst>
          </a:prstGeom>
          <a:solidFill>
            <a:srgbClr val="113366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验证策略 </a:t>
            </a:r>
            <a:r>
              <a:rPr lang="en-GB" sz="700" i="1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- 保证每次审查找到合理的问题数量</a:t>
            </a:r>
            <a:endParaRPr sz="700" i="1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62"/>
          <p:cNvSpPr/>
          <p:nvPr/>
        </p:nvSpPr>
        <p:spPr>
          <a:xfrm>
            <a:off x="3172841" y="2385626"/>
            <a:ext cx="2642100" cy="6507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对审查“时间”验证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定义：1000 行代码，至少需要 N 秒才能看完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公式：实际耗时 ≥ 代码行数 × 单行耗时 × 系数（灵活配置）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62"/>
          <p:cNvSpPr/>
          <p:nvPr/>
        </p:nvSpPr>
        <p:spPr>
          <a:xfrm>
            <a:off x="3169528" y="3146163"/>
            <a:ext cx="2642100" cy="6507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对 AI 输出问题“密度”验证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定义：1000 行代码，正常应该能发现 N 个问题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公式：问题数量 ≥ 代码行数 ÷ 系数（灵活配置）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62"/>
          <p:cNvSpPr/>
          <p:nvPr/>
        </p:nvSpPr>
        <p:spPr>
          <a:xfrm>
            <a:off x="3169528" y="3922875"/>
            <a:ext cx="2642100" cy="4059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对 AI 输出结构验证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CR 结果是否合理：问题分类、评分、描述、代码等信息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2" name="Google Shape;512;p62"/>
          <p:cNvCxnSpPr>
            <a:stCxn id="507" idx="3"/>
            <a:endCxn id="513" idx="1"/>
          </p:cNvCxnSpPr>
          <p:nvPr/>
        </p:nvCxnSpPr>
        <p:spPr>
          <a:xfrm>
            <a:off x="2330968" y="3416290"/>
            <a:ext cx="122100" cy="4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4" name="Google Shape;514;p62"/>
          <p:cNvGrpSpPr/>
          <p:nvPr/>
        </p:nvGrpSpPr>
        <p:grpSpPr>
          <a:xfrm>
            <a:off x="271453" y="2933340"/>
            <a:ext cx="2611383" cy="913425"/>
            <a:chOff x="183787" y="2792244"/>
            <a:chExt cx="2522100" cy="913425"/>
          </a:xfrm>
        </p:grpSpPr>
        <p:sp>
          <p:nvSpPr>
            <p:cNvPr id="515" name="Google Shape;515;p62"/>
            <p:cNvSpPr/>
            <p:nvPr/>
          </p:nvSpPr>
          <p:spPr>
            <a:xfrm>
              <a:off x="183788" y="2792244"/>
              <a:ext cx="2522100" cy="209700"/>
            </a:xfrm>
            <a:prstGeom prst="roundRect">
              <a:avLst>
                <a:gd name="adj" fmla="val 6963"/>
              </a:avLst>
            </a:prstGeom>
            <a:solidFill>
              <a:srgbClr val="113366"/>
            </a:solidFill>
            <a:ln w="9525" cap="flat" cmpd="sng">
              <a:solidFill>
                <a:srgbClr val="1133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400" tIns="86400" rIns="86400" bIns="864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链式提示词 </a:t>
              </a:r>
              <a:r>
                <a:rPr lang="en-GB" sz="900" i="1">
                  <a:solidFill>
                    <a:srgbClr val="D9D9D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</a:t>
              </a:r>
              <a:r>
                <a:rPr lang="en-GB" sz="700" i="1">
                  <a:solidFill>
                    <a:srgbClr val="D9D9D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引导 AI 按照顺序一步一步思考</a:t>
              </a:r>
              <a:endParaRPr sz="700" i="1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4" name="Google Shape;504;p62"/>
            <p:cNvSpPr/>
            <p:nvPr/>
          </p:nvSpPr>
          <p:spPr>
            <a:xfrm>
              <a:off x="183787" y="3087144"/>
              <a:ext cx="415200" cy="3708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Step 1</a:t>
              </a:r>
              <a:endParaRPr sz="700" b="1">
                <a:solidFill>
                  <a:srgbClr val="000000"/>
                </a:solidFill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4546A"/>
                  </a:solidFill>
                </a:rPr>
                <a:t>审查任务</a:t>
              </a:r>
              <a:endParaRPr sz="700">
                <a:solidFill>
                  <a:srgbClr val="44546A"/>
                </a:solidFill>
              </a:endParaRPr>
            </a:p>
          </p:txBody>
        </p:sp>
        <p:sp>
          <p:nvSpPr>
            <p:cNvPr id="513" name="Google Shape;513;p62"/>
            <p:cNvSpPr/>
            <p:nvPr/>
          </p:nvSpPr>
          <p:spPr>
            <a:xfrm>
              <a:off x="2290687" y="3094488"/>
              <a:ext cx="415200" cy="3708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Step 3</a:t>
              </a:r>
              <a:endParaRPr sz="700" b="1">
                <a:solidFill>
                  <a:srgbClr val="000000"/>
                </a:solidFill>
              </a:endParaRPr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4546A"/>
                  </a:solidFill>
                </a:rPr>
                <a:t>输出结果</a:t>
              </a:r>
              <a:endParaRPr sz="700">
                <a:solidFill>
                  <a:srgbClr val="44546A"/>
                </a:solidFill>
              </a:endParaRPr>
            </a:p>
          </p:txBody>
        </p:sp>
        <p:sp>
          <p:nvSpPr>
            <p:cNvPr id="503" name="Google Shape;503;p62"/>
            <p:cNvSpPr/>
            <p:nvPr/>
          </p:nvSpPr>
          <p:spPr>
            <a:xfrm>
              <a:off x="693827" y="3118294"/>
              <a:ext cx="739200" cy="313800"/>
            </a:xfrm>
            <a:prstGeom prst="diamond">
              <a:avLst/>
            </a:prstGeom>
            <a:solidFill>
              <a:srgbClr val="D9D9D9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Step 2</a:t>
              </a:r>
              <a:endParaRPr sz="700" b="1"/>
            </a:p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4546A"/>
                  </a:solidFill>
                </a:rPr>
                <a:t>验证审查结果</a:t>
              </a:r>
              <a:endParaRPr sz="700">
                <a:solidFill>
                  <a:srgbClr val="44546A"/>
                </a:solidFill>
              </a:endParaRPr>
            </a:p>
          </p:txBody>
        </p:sp>
        <p:sp>
          <p:nvSpPr>
            <p:cNvPr id="507" name="Google Shape;507;p62"/>
            <p:cNvSpPr/>
            <p:nvPr/>
          </p:nvSpPr>
          <p:spPr>
            <a:xfrm>
              <a:off x="1527888" y="3090094"/>
              <a:ext cx="645000" cy="370200"/>
            </a:xfrm>
            <a:prstGeom prst="diamond">
              <a:avLst/>
            </a:prstGeom>
            <a:solidFill>
              <a:srgbClr val="D9D9D9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44546A"/>
                  </a:solidFill>
                </a:rPr>
                <a:t>下一批？</a:t>
              </a:r>
              <a:endParaRPr sz="700">
                <a:solidFill>
                  <a:srgbClr val="44546A"/>
                </a:solidFill>
              </a:endParaRPr>
            </a:p>
          </p:txBody>
        </p:sp>
        <p:cxnSp>
          <p:nvCxnSpPr>
            <p:cNvPr id="516" name="Google Shape;516;p62"/>
            <p:cNvCxnSpPr>
              <a:stCxn id="507" idx="2"/>
              <a:endCxn id="504" idx="2"/>
            </p:cNvCxnSpPr>
            <p:nvPr/>
          </p:nvCxnSpPr>
          <p:spPr>
            <a:xfrm rot="5400000" flipH="1">
              <a:off x="1119738" y="2729644"/>
              <a:ext cx="2400" cy="1458900"/>
            </a:xfrm>
            <a:prstGeom prst="bentConnector3">
              <a:avLst>
                <a:gd name="adj1" fmla="val -9921875"/>
              </a:avLst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7" name="Google Shape;517;p62"/>
            <p:cNvSpPr txBox="1"/>
            <p:nvPr/>
          </p:nvSpPr>
          <p:spPr>
            <a:xfrm>
              <a:off x="1067563" y="3395544"/>
              <a:ext cx="5214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No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18" name="Google Shape;518;p62"/>
            <p:cNvSpPr txBox="1"/>
            <p:nvPr/>
          </p:nvSpPr>
          <p:spPr>
            <a:xfrm>
              <a:off x="1779025" y="3413169"/>
              <a:ext cx="5214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Yes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19" name="Google Shape;519;p62"/>
            <p:cNvSpPr txBox="1"/>
            <p:nvPr/>
          </p:nvSpPr>
          <p:spPr>
            <a:xfrm>
              <a:off x="1348288" y="3052494"/>
              <a:ext cx="5214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Yes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20" name="Google Shape;520;p62"/>
            <p:cNvSpPr txBox="1"/>
            <p:nvPr/>
          </p:nvSpPr>
          <p:spPr>
            <a:xfrm>
              <a:off x="2095923" y="3061294"/>
              <a:ext cx="5214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>
                  <a:solidFill>
                    <a:srgbClr val="000000"/>
                  </a:solidFill>
                </a:rPr>
                <a:t>No</a:t>
              </a:r>
              <a:endParaRPr sz="700" b="1">
                <a:solidFill>
                  <a:srgbClr val="000000"/>
                </a:solidFill>
              </a:endParaRPr>
            </a:p>
          </p:txBody>
        </p:sp>
      </p:grpSp>
      <p:grpSp>
        <p:nvGrpSpPr>
          <p:cNvPr id="521" name="Google Shape;521;p62"/>
          <p:cNvGrpSpPr/>
          <p:nvPr/>
        </p:nvGrpSpPr>
        <p:grpSpPr>
          <a:xfrm>
            <a:off x="273667" y="3948442"/>
            <a:ext cx="2611434" cy="837575"/>
            <a:chOff x="185925" y="3941316"/>
            <a:chExt cx="2522150" cy="837575"/>
          </a:xfrm>
        </p:grpSpPr>
        <p:sp>
          <p:nvSpPr>
            <p:cNvPr id="522" name="Google Shape;522;p62"/>
            <p:cNvSpPr/>
            <p:nvPr/>
          </p:nvSpPr>
          <p:spPr>
            <a:xfrm>
              <a:off x="185925" y="3941316"/>
              <a:ext cx="2522100" cy="209700"/>
            </a:xfrm>
            <a:prstGeom prst="roundRect">
              <a:avLst>
                <a:gd name="adj" fmla="val 6963"/>
              </a:avLst>
            </a:prstGeom>
            <a:solidFill>
              <a:srgbClr val="113366"/>
            </a:solidFill>
            <a:ln w="9525" cap="flat" cmpd="sng">
              <a:solidFill>
                <a:srgbClr val="1133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6400" tIns="86400" rIns="86400" bIns="8640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状态机 </a:t>
              </a:r>
              <a:r>
                <a:rPr lang="en-GB" sz="700" i="1">
                  <a:solidFill>
                    <a:srgbClr val="D9D9D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引导 AI 按照顺序一步一步执行</a:t>
              </a:r>
              <a:endParaRPr sz="700" i="1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3" name="Google Shape;523;p62"/>
            <p:cNvSpPr/>
            <p:nvPr/>
          </p:nvSpPr>
          <p:spPr>
            <a:xfrm>
              <a:off x="231875" y="4571879"/>
              <a:ext cx="350700" cy="2070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init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24" name="Google Shape;524;p62"/>
            <p:cNvSpPr/>
            <p:nvPr/>
          </p:nvSpPr>
          <p:spPr>
            <a:xfrm>
              <a:off x="708950" y="4571891"/>
              <a:ext cx="350700" cy="2070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ready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25" name="Google Shape;525;p62"/>
            <p:cNvSpPr/>
            <p:nvPr/>
          </p:nvSpPr>
          <p:spPr>
            <a:xfrm>
              <a:off x="1186025" y="4571841"/>
              <a:ext cx="588900" cy="2070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reviewing</a:t>
              </a:r>
              <a:endParaRPr sz="700" b="1">
                <a:solidFill>
                  <a:srgbClr val="000000"/>
                </a:solidFill>
              </a:endParaRPr>
            </a:p>
          </p:txBody>
        </p:sp>
        <p:sp>
          <p:nvSpPr>
            <p:cNvPr id="526" name="Google Shape;526;p62"/>
            <p:cNvSpPr/>
            <p:nvPr/>
          </p:nvSpPr>
          <p:spPr>
            <a:xfrm>
              <a:off x="1905563" y="4571865"/>
              <a:ext cx="645000" cy="2070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completed</a:t>
              </a:r>
              <a:endParaRPr sz="700" b="1">
                <a:solidFill>
                  <a:srgbClr val="000000"/>
                </a:solidFill>
              </a:endParaRPr>
            </a:p>
          </p:txBody>
        </p:sp>
        <p:cxnSp>
          <p:nvCxnSpPr>
            <p:cNvPr id="527" name="Google Shape;527;p62"/>
            <p:cNvCxnSpPr>
              <a:stCxn id="523" idx="3"/>
              <a:endCxn id="524" idx="1"/>
            </p:cNvCxnSpPr>
            <p:nvPr/>
          </p:nvCxnSpPr>
          <p:spPr>
            <a:xfrm>
              <a:off x="582575" y="4675379"/>
              <a:ext cx="1263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8" name="Google Shape;528;p62"/>
            <p:cNvCxnSpPr>
              <a:stCxn id="524" idx="3"/>
              <a:endCxn id="525" idx="1"/>
            </p:cNvCxnSpPr>
            <p:nvPr/>
          </p:nvCxnSpPr>
          <p:spPr>
            <a:xfrm>
              <a:off x="1059650" y="4675391"/>
              <a:ext cx="1263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9" name="Google Shape;529;p62"/>
            <p:cNvCxnSpPr>
              <a:stCxn id="525" idx="3"/>
              <a:endCxn id="526" idx="1"/>
            </p:cNvCxnSpPr>
            <p:nvPr/>
          </p:nvCxnSpPr>
          <p:spPr>
            <a:xfrm>
              <a:off x="1774925" y="4675341"/>
              <a:ext cx="1305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0" name="Google Shape;530;p62"/>
            <p:cNvSpPr/>
            <p:nvPr/>
          </p:nvSpPr>
          <p:spPr>
            <a:xfrm>
              <a:off x="2528075" y="4271441"/>
              <a:ext cx="180000" cy="180000"/>
            </a:xfrm>
            <a:prstGeom prst="flowChartConnector">
              <a:avLst/>
            </a:prstGeom>
            <a:solidFill>
              <a:srgbClr val="44546A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62"/>
            <p:cNvSpPr/>
            <p:nvPr/>
          </p:nvSpPr>
          <p:spPr>
            <a:xfrm>
              <a:off x="319758" y="4271429"/>
              <a:ext cx="180000" cy="180000"/>
            </a:xfrm>
            <a:prstGeom prst="donut">
              <a:avLst>
                <a:gd name="adj" fmla="val 25000"/>
              </a:avLst>
            </a:prstGeom>
            <a:solidFill>
              <a:srgbClr val="FFFFFF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highlight>
                  <a:srgbClr val="000000"/>
                </a:highlight>
              </a:endParaRPr>
            </a:p>
          </p:txBody>
        </p:sp>
        <p:cxnSp>
          <p:nvCxnSpPr>
            <p:cNvPr id="532" name="Google Shape;532;p62"/>
            <p:cNvCxnSpPr>
              <a:stCxn id="531" idx="4"/>
              <a:endCxn id="523" idx="0"/>
            </p:cNvCxnSpPr>
            <p:nvPr/>
          </p:nvCxnSpPr>
          <p:spPr>
            <a:xfrm flipH="1">
              <a:off x="407358" y="4451429"/>
              <a:ext cx="2400" cy="12060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3" name="Google Shape;533;p62"/>
            <p:cNvCxnSpPr>
              <a:stCxn id="526" idx="3"/>
              <a:endCxn id="530" idx="4"/>
            </p:cNvCxnSpPr>
            <p:nvPr/>
          </p:nvCxnSpPr>
          <p:spPr>
            <a:xfrm rot="10800000" flipH="1">
              <a:off x="2550563" y="4451565"/>
              <a:ext cx="67500" cy="223800"/>
            </a:xfrm>
            <a:prstGeom prst="bentConnector2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4" name="Google Shape;534;p62"/>
            <p:cNvSpPr/>
            <p:nvPr/>
          </p:nvSpPr>
          <p:spPr>
            <a:xfrm>
              <a:off x="1905576" y="4257929"/>
              <a:ext cx="415200" cy="207000"/>
            </a:xfrm>
            <a:prstGeom prst="roundRect">
              <a:avLst>
                <a:gd name="adj" fmla="val 1793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failed</a:t>
              </a:r>
              <a:endParaRPr sz="700" b="1">
                <a:solidFill>
                  <a:srgbClr val="000000"/>
                </a:solidFill>
              </a:endParaRPr>
            </a:p>
          </p:txBody>
        </p:sp>
        <p:cxnSp>
          <p:nvCxnSpPr>
            <p:cNvPr id="535" name="Google Shape;535;p62"/>
            <p:cNvCxnSpPr>
              <a:stCxn id="525" idx="3"/>
              <a:endCxn id="534" idx="1"/>
            </p:cNvCxnSpPr>
            <p:nvPr/>
          </p:nvCxnSpPr>
          <p:spPr>
            <a:xfrm rot="10800000" flipH="1">
              <a:off x="1774925" y="4361541"/>
              <a:ext cx="130800" cy="313800"/>
            </a:xfrm>
            <a:prstGeom prst="bentConnector3">
              <a:avLst>
                <a:gd name="adj1" fmla="val 49943"/>
              </a:avLst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6" name="Google Shape;536;p62"/>
            <p:cNvCxnSpPr>
              <a:stCxn id="534" idx="3"/>
              <a:endCxn id="530" idx="2"/>
            </p:cNvCxnSpPr>
            <p:nvPr/>
          </p:nvCxnSpPr>
          <p:spPr>
            <a:xfrm>
              <a:off x="2320776" y="4361429"/>
              <a:ext cx="207300" cy="0"/>
            </a:xfrm>
            <a:prstGeom prst="straightConnector1">
              <a:avLst/>
            </a:prstGeom>
            <a:noFill/>
            <a:ln w="9525" cap="flat" cmpd="sng">
              <a:solidFill>
                <a:srgbClr val="44546A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537" name="Google Shape;537;p62"/>
          <p:cNvSpPr/>
          <p:nvPr/>
        </p:nvSpPr>
        <p:spPr>
          <a:xfrm>
            <a:off x="6096083" y="1764976"/>
            <a:ext cx="2876100" cy="33375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解法</a:t>
            </a:r>
            <a:r>
              <a:rPr lang="en-GB" sz="9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③</a:t>
            </a:r>
            <a:r>
              <a:rPr lang="en-GB" sz="9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lang="en-GB" sz="900" b="1">
                <a:solidFill>
                  <a:srgbClr val="EA4335"/>
                </a:solidFill>
                <a:latin typeface="Montserrat"/>
                <a:ea typeface="Montserrat"/>
                <a:cs typeface="Montserrat"/>
                <a:sym typeface="Montserrat"/>
              </a:rPr>
              <a:t>数据回流侧建立 CR 白名单和 BUG 白名单</a:t>
            </a:r>
            <a:endParaRPr sz="900" b="1">
              <a:solidFill>
                <a:srgbClr val="EA433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62"/>
          <p:cNvSpPr/>
          <p:nvPr/>
        </p:nvSpPr>
        <p:spPr>
          <a:xfrm>
            <a:off x="6213066" y="2430701"/>
            <a:ext cx="2642100" cy="650700"/>
          </a:xfrm>
          <a:prstGeom prst="roundRect">
            <a:avLst>
              <a:gd name="adj" fmla="val 1793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87000" tIns="87000" rIns="87000" bIns="870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>
                <a:latin typeface="Montserrat"/>
                <a:ea typeface="Montserrat"/>
                <a:cs typeface="Montserrat"/>
                <a:sym typeface="Montserrat"/>
              </a:rPr>
              <a:t>白名单规则蒸馏</a:t>
            </a:r>
            <a:endParaRPr sz="700" b="1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44546A"/>
                </a:solidFill>
                <a:latin typeface="Montserrat"/>
                <a:ea typeface="Montserrat"/>
                <a:cs typeface="Montserrat"/>
                <a:sym typeface="Montserrat"/>
              </a:rPr>
              <a:t>以需求纬度，收集人工审查和测试发现的问题，通过 AI 识别可被召回的问题，形成白名单规则，用于识别漏报问题</a:t>
            </a:r>
            <a:endParaRPr sz="700">
              <a:solidFill>
                <a:srgbClr val="4454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62"/>
          <p:cNvSpPr/>
          <p:nvPr/>
        </p:nvSpPr>
        <p:spPr>
          <a:xfrm>
            <a:off x="6213065" y="2084394"/>
            <a:ext cx="2642100" cy="216000"/>
          </a:xfrm>
          <a:prstGeom prst="roundRect">
            <a:avLst>
              <a:gd name="adj" fmla="val 6963"/>
            </a:avLst>
          </a:prstGeom>
          <a:solidFill>
            <a:srgbClr val="113366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6400" tIns="86400" rIns="86400" bIns="864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记忆蒸馏策略</a:t>
            </a:r>
            <a:endParaRPr sz="700" i="1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3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采纳率&amp;</a:t>
            </a:r>
            <a:r>
              <a:rPr lang="en-GB" b="1">
                <a:solidFill>
                  <a:srgbClr val="EE4D2D"/>
                </a:solidFill>
              </a:rPr>
              <a:t>召回率</a:t>
            </a:r>
            <a:r>
              <a:rPr lang="en-GB" b="1">
                <a:solidFill>
                  <a:srgbClr val="EE4D2D"/>
                </a:solidFill>
              </a:rPr>
              <a:t>提升整体架构图</a:t>
            </a:r>
            <a:endParaRPr sz="1000" b="1">
              <a:solidFill>
                <a:srgbClr val="EE4D2D"/>
              </a:solidFill>
            </a:endParaRPr>
          </a:p>
        </p:txBody>
      </p:sp>
      <p:graphicFrame>
        <p:nvGraphicFramePr>
          <p:cNvPr id="545" name="Google Shape;545;p63"/>
          <p:cNvGraphicFramePr/>
          <p:nvPr/>
        </p:nvGraphicFramePr>
        <p:xfrm>
          <a:off x="84174" y="620632"/>
          <a:ext cx="8982000" cy="3000000"/>
        </p:xfrm>
        <a:graphic>
          <a:graphicData uri="http://schemas.openxmlformats.org/drawingml/2006/table">
            <a:tbl>
              <a:tblPr>
                <a:noFill/>
                <a:tableStyleId>{B523FD4E-FA10-4ED1-B9B5-A90FBFA38641}</a:tableStyleId>
              </a:tblPr>
              <a:tblGrid>
                <a:gridCol w="652500"/>
                <a:gridCol w="2081900"/>
                <a:gridCol w="2487325"/>
                <a:gridCol w="3760275"/>
              </a:tblGrid>
              <a:tr h="18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指标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1425" marR="2142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需要解决什么问题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1425" marR="2142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核心能力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1425" marR="2142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实现思路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21425" marR="2142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</a:tr>
              <a:tr h="182600">
                <a:tc row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采纳率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缺乏业务团队审查规范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上下文建设 - 审查规则集建设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沉淀业务常用审查规范：通用规则集 + 业务自定义规则集</a:t>
                      </a:r>
                      <a:endParaRPr sz="7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缺乏代码工程上下文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上下文建设 - 代码上下文增强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通过 Cursor CodeBase 获取 giff 所在文件更多的代码上下文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降低大量的噪音问题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工作流建设 - 分批验收增强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引入 rechecker [Agent]，对审查结果进行标记和过滤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进一步提高上下文质量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上下文建设 - 代码上下文增强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引入 Context Engine，分析关联文件放到上下文中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过滤高频且无效的问题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数据回流建设 - 黑名单规则增强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对 Bad Case 分析/类聚，建立高频的黑名单规则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rowSpan="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召回率</a:t>
                      </a:r>
                      <a:endParaRPr sz="900" b="1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AI 处理复杂任务时容易偷懒</a:t>
                      </a:r>
                      <a:endParaRPr sz="7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工作流建设 - 工程化驱动式工作流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将提示词驱动的工作流改为工程化驱动的工作流，AI 被后端状态驱动执行任务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工作流建设 - 质检策略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引入外部质检 [Agent]，对审查问题数有问题密度数的校验，触发二次重新审查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衡量 AICR 指标水平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数据回流建设 - 测试集建设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基准测试集、业务测试集（人类 CR + Bug）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召回高频且被 CR 遗漏</a:t>
                      </a: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、Test Bug 等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问题</a:t>
                      </a:r>
                      <a:endParaRPr sz="6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数据回流建设 - CR/</a:t>
                      </a:r>
                      <a:r>
                        <a:rPr lang="en-GB" sz="7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Bug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白名单规则补充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对人类 CR、Bug 分析/类聚，建立高频的白名单规则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18260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召回业务</a:t>
                      </a: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领域的通用问题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上下文建设 - 知识库/业务补充</a:t>
                      </a:r>
                      <a:endParaRPr sz="7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7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对接 SSC 常见知识库：接口（YAPI）、AI2TD 等</a:t>
                      </a:r>
                      <a:endParaRPr sz="7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575" marR="68575" marT="3600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pSp>
        <p:nvGrpSpPr>
          <p:cNvPr id="546" name="Google Shape;546;p63"/>
          <p:cNvGrpSpPr/>
          <p:nvPr/>
        </p:nvGrpSpPr>
        <p:grpSpPr>
          <a:xfrm>
            <a:off x="55850" y="2887847"/>
            <a:ext cx="9038625" cy="2145992"/>
            <a:chOff x="55846" y="2426155"/>
            <a:chExt cx="9038625" cy="2522916"/>
          </a:xfrm>
        </p:grpSpPr>
        <p:pic>
          <p:nvPicPr>
            <p:cNvPr id="547" name="Google Shape;547;p63" title="产品人员汇总表.png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55846" y="3142253"/>
              <a:ext cx="254437" cy="25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8" name="Google Shape;548;p63"/>
            <p:cNvSpPr/>
            <p:nvPr/>
          </p:nvSpPr>
          <p:spPr>
            <a:xfrm>
              <a:off x="655500" y="2426155"/>
              <a:ext cx="1092300" cy="1686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IBS CLI</a:t>
              </a:r>
              <a:endParaRPr sz="800"/>
            </a:p>
          </p:txBody>
        </p:sp>
        <p:sp>
          <p:nvSpPr>
            <p:cNvPr id="549" name="Google Shape;549;p63"/>
            <p:cNvSpPr/>
            <p:nvPr/>
          </p:nvSpPr>
          <p:spPr>
            <a:xfrm>
              <a:off x="734500" y="2602730"/>
              <a:ext cx="942600" cy="9603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触发入口</a:t>
              </a:r>
              <a:endParaRPr sz="800"/>
            </a:p>
          </p:txBody>
        </p:sp>
        <p:sp>
          <p:nvSpPr>
            <p:cNvPr id="550" name="Google Shape;550;p63"/>
            <p:cNvSpPr/>
            <p:nvPr/>
          </p:nvSpPr>
          <p:spPr>
            <a:xfrm>
              <a:off x="773333" y="2875980"/>
              <a:ext cx="8649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IBS CR commit1…2</a:t>
              </a:r>
              <a:endParaRPr sz="700"/>
            </a:p>
          </p:txBody>
        </p:sp>
        <p:sp>
          <p:nvSpPr>
            <p:cNvPr id="551" name="Google Shape;551;p63"/>
            <p:cNvSpPr/>
            <p:nvPr/>
          </p:nvSpPr>
          <p:spPr>
            <a:xfrm>
              <a:off x="773333" y="3114603"/>
              <a:ext cx="8649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IBS CR branch1…2</a:t>
              </a:r>
              <a:endParaRPr sz="700"/>
            </a:p>
          </p:txBody>
        </p:sp>
        <p:sp>
          <p:nvSpPr>
            <p:cNvPr id="552" name="Google Shape;552;p63"/>
            <p:cNvSpPr/>
            <p:nvPr/>
          </p:nvSpPr>
          <p:spPr>
            <a:xfrm>
              <a:off x="762408" y="3353226"/>
              <a:ext cx="8649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IBS CR mr_url</a:t>
              </a:r>
              <a:endParaRPr sz="700"/>
            </a:p>
          </p:txBody>
        </p:sp>
        <p:sp>
          <p:nvSpPr>
            <p:cNvPr id="553" name="Google Shape;553;p63"/>
            <p:cNvSpPr/>
            <p:nvPr/>
          </p:nvSpPr>
          <p:spPr>
            <a:xfrm>
              <a:off x="734500" y="3625505"/>
              <a:ext cx="942600" cy="254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…</a:t>
              </a:r>
              <a:endParaRPr sz="700"/>
            </a:p>
          </p:txBody>
        </p:sp>
        <p:sp>
          <p:nvSpPr>
            <p:cNvPr id="554" name="Google Shape;554;p63"/>
            <p:cNvSpPr/>
            <p:nvPr/>
          </p:nvSpPr>
          <p:spPr>
            <a:xfrm>
              <a:off x="655500" y="4297347"/>
              <a:ext cx="1092300" cy="63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Cursor Chat</a:t>
              </a:r>
              <a:endParaRPr sz="800"/>
            </a:p>
          </p:txBody>
        </p:sp>
        <p:sp>
          <p:nvSpPr>
            <p:cNvPr id="555" name="Google Shape;555;p63"/>
            <p:cNvSpPr/>
            <p:nvPr/>
          </p:nvSpPr>
          <p:spPr>
            <a:xfrm>
              <a:off x="734492" y="4504972"/>
              <a:ext cx="920700" cy="162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执行审查任务</a:t>
              </a:r>
              <a:endParaRPr sz="700"/>
            </a:p>
          </p:txBody>
        </p:sp>
        <p:sp>
          <p:nvSpPr>
            <p:cNvPr id="556" name="Google Shape;556;p63"/>
            <p:cNvSpPr/>
            <p:nvPr/>
          </p:nvSpPr>
          <p:spPr>
            <a:xfrm>
              <a:off x="734492" y="4711397"/>
              <a:ext cx="920700" cy="162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提交审查结果</a:t>
              </a:r>
              <a:endParaRPr sz="700"/>
            </a:p>
          </p:txBody>
        </p:sp>
        <p:sp>
          <p:nvSpPr>
            <p:cNvPr id="557" name="Google Shape;557;p63"/>
            <p:cNvSpPr/>
            <p:nvPr/>
          </p:nvSpPr>
          <p:spPr>
            <a:xfrm>
              <a:off x="1964275" y="4309472"/>
              <a:ext cx="1110900" cy="639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MCP</a:t>
              </a:r>
              <a:endParaRPr sz="800"/>
            </a:p>
          </p:txBody>
        </p:sp>
        <p:sp>
          <p:nvSpPr>
            <p:cNvPr id="558" name="Google Shape;558;p63"/>
            <p:cNvSpPr/>
            <p:nvPr/>
          </p:nvSpPr>
          <p:spPr>
            <a:xfrm>
              <a:off x="2044721" y="4512702"/>
              <a:ext cx="936300" cy="162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下发审查任务</a:t>
              </a:r>
              <a:endParaRPr sz="700"/>
            </a:p>
          </p:txBody>
        </p:sp>
        <p:sp>
          <p:nvSpPr>
            <p:cNvPr id="559" name="Google Shape;559;p63"/>
            <p:cNvSpPr/>
            <p:nvPr/>
          </p:nvSpPr>
          <p:spPr>
            <a:xfrm>
              <a:off x="2044721" y="4719127"/>
              <a:ext cx="936300" cy="162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上报审查结果</a:t>
              </a:r>
              <a:endParaRPr sz="700"/>
            </a:p>
          </p:txBody>
        </p:sp>
        <p:sp>
          <p:nvSpPr>
            <p:cNvPr id="560" name="Google Shape;560;p63"/>
            <p:cNvSpPr/>
            <p:nvPr/>
          </p:nvSpPr>
          <p:spPr>
            <a:xfrm>
              <a:off x="1959663" y="2426155"/>
              <a:ext cx="3296100" cy="1686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Server 服务层</a:t>
              </a:r>
              <a:endParaRPr sz="800"/>
            </a:p>
          </p:txBody>
        </p:sp>
        <p:sp>
          <p:nvSpPr>
            <p:cNvPr id="561" name="Google Shape;561;p63"/>
            <p:cNvSpPr/>
            <p:nvPr/>
          </p:nvSpPr>
          <p:spPr>
            <a:xfrm>
              <a:off x="2061513" y="2630180"/>
              <a:ext cx="764700" cy="135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其他核心组件</a:t>
              </a:r>
              <a:endParaRPr sz="800"/>
            </a:p>
          </p:txBody>
        </p:sp>
        <p:sp>
          <p:nvSpPr>
            <p:cNvPr id="562" name="Google Shape;562;p63"/>
            <p:cNvSpPr/>
            <p:nvPr/>
          </p:nvSpPr>
          <p:spPr>
            <a:xfrm>
              <a:off x="2093014" y="2837518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代码分批算法</a:t>
              </a:r>
              <a:endParaRPr sz="700"/>
            </a:p>
          </p:txBody>
        </p:sp>
        <p:sp>
          <p:nvSpPr>
            <p:cNvPr id="563" name="Google Shape;563;p63"/>
            <p:cNvSpPr/>
            <p:nvPr/>
          </p:nvSpPr>
          <p:spPr>
            <a:xfrm>
              <a:off x="2093014" y="3021049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多维质检验收</a:t>
              </a:r>
              <a:endParaRPr sz="700"/>
            </a:p>
          </p:txBody>
        </p:sp>
        <p:sp>
          <p:nvSpPr>
            <p:cNvPr id="564" name="Google Shape;564;p63"/>
            <p:cNvSpPr/>
            <p:nvPr/>
          </p:nvSpPr>
          <p:spPr>
            <a:xfrm>
              <a:off x="2093014" y="3197448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工作流编排</a:t>
              </a:r>
              <a:endParaRPr sz="700"/>
            </a:p>
          </p:txBody>
        </p:sp>
        <p:sp>
          <p:nvSpPr>
            <p:cNvPr id="565" name="Google Shape;565;p63"/>
            <p:cNvSpPr/>
            <p:nvPr/>
          </p:nvSpPr>
          <p:spPr>
            <a:xfrm>
              <a:off x="2093014" y="3378761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基准/业务测试集</a:t>
              </a:r>
              <a:endParaRPr sz="700"/>
            </a:p>
          </p:txBody>
        </p:sp>
        <p:sp>
          <p:nvSpPr>
            <p:cNvPr id="566" name="Google Shape;566;p63"/>
            <p:cNvSpPr/>
            <p:nvPr/>
          </p:nvSpPr>
          <p:spPr>
            <a:xfrm>
              <a:off x="3000538" y="2630180"/>
              <a:ext cx="764700" cy="135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上下文组装</a:t>
              </a:r>
              <a:endParaRPr sz="800"/>
            </a:p>
          </p:txBody>
        </p:sp>
        <p:sp>
          <p:nvSpPr>
            <p:cNvPr id="567" name="Google Shape;567;p63"/>
            <p:cNvSpPr/>
            <p:nvPr/>
          </p:nvSpPr>
          <p:spPr>
            <a:xfrm>
              <a:off x="3032041" y="2837518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Diff + </a:t>
              </a:r>
              <a:r>
                <a:rPr lang="en-GB" sz="700"/>
                <a:t>代码工程</a:t>
              </a:r>
              <a:endParaRPr sz="700"/>
            </a:p>
          </p:txBody>
        </p:sp>
        <p:sp>
          <p:nvSpPr>
            <p:cNvPr id="568" name="Google Shape;568;p63"/>
            <p:cNvSpPr/>
            <p:nvPr/>
          </p:nvSpPr>
          <p:spPr>
            <a:xfrm>
              <a:off x="3032041" y="3021049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通用审查规则</a:t>
              </a:r>
              <a:endParaRPr sz="700"/>
            </a:p>
          </p:txBody>
        </p:sp>
        <p:sp>
          <p:nvSpPr>
            <p:cNvPr id="569" name="Google Shape;569;p63"/>
            <p:cNvSpPr/>
            <p:nvPr/>
          </p:nvSpPr>
          <p:spPr>
            <a:xfrm>
              <a:off x="3032041" y="3197448"/>
              <a:ext cx="7017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自定义审查规则</a:t>
              </a:r>
              <a:endParaRPr sz="700"/>
            </a:p>
          </p:txBody>
        </p:sp>
        <p:sp>
          <p:nvSpPr>
            <p:cNvPr id="570" name="Google Shape;570;p63"/>
            <p:cNvSpPr/>
            <p:nvPr/>
          </p:nvSpPr>
          <p:spPr>
            <a:xfrm>
              <a:off x="3032041" y="3378761"/>
              <a:ext cx="7017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关联影响文件</a:t>
              </a:r>
              <a:endParaRPr sz="700"/>
            </a:p>
          </p:txBody>
        </p:sp>
        <p:sp>
          <p:nvSpPr>
            <p:cNvPr id="571" name="Google Shape;571;p63"/>
            <p:cNvSpPr/>
            <p:nvPr/>
          </p:nvSpPr>
          <p:spPr>
            <a:xfrm>
              <a:off x="3929638" y="2630168"/>
              <a:ext cx="1196100" cy="1357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进阶审查</a:t>
              </a:r>
              <a:endParaRPr sz="800"/>
            </a:p>
          </p:txBody>
        </p:sp>
        <p:sp>
          <p:nvSpPr>
            <p:cNvPr id="572" name="Google Shape;572;p63"/>
            <p:cNvSpPr/>
            <p:nvPr/>
          </p:nvSpPr>
          <p:spPr>
            <a:xfrm>
              <a:off x="3988288" y="2837518"/>
              <a:ext cx="10923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recheck 审查有效性</a:t>
              </a:r>
              <a:endParaRPr sz="700"/>
            </a:p>
          </p:txBody>
        </p:sp>
        <p:sp>
          <p:nvSpPr>
            <p:cNvPr id="573" name="Google Shape;573;p63"/>
            <p:cNvSpPr/>
            <p:nvPr/>
          </p:nvSpPr>
          <p:spPr>
            <a:xfrm>
              <a:off x="3988288" y="3021043"/>
              <a:ext cx="10923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000000"/>
                  </a:solidFill>
                </a:rPr>
                <a:t>检查 YAPI 接口逻辑</a:t>
              </a:r>
              <a:endParaRPr sz="700"/>
            </a:p>
          </p:txBody>
        </p:sp>
        <p:sp>
          <p:nvSpPr>
            <p:cNvPr id="574" name="Google Shape;574;p63"/>
            <p:cNvSpPr/>
            <p:nvPr/>
          </p:nvSpPr>
          <p:spPr>
            <a:xfrm>
              <a:off x="3988288" y="3197443"/>
              <a:ext cx="10923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>
                  <a:solidFill>
                    <a:srgbClr val="000000"/>
                  </a:solidFill>
                </a:rPr>
                <a:t>检查 PRD/</a:t>
              </a:r>
              <a:r>
                <a:rPr lang="en-GB" sz="700"/>
                <a:t>TD 业务功能</a:t>
              </a:r>
              <a:endParaRPr sz="700"/>
            </a:p>
          </p:txBody>
        </p:sp>
        <p:sp>
          <p:nvSpPr>
            <p:cNvPr id="575" name="Google Shape;575;p63"/>
            <p:cNvSpPr/>
            <p:nvPr/>
          </p:nvSpPr>
          <p:spPr>
            <a:xfrm>
              <a:off x="3988288" y="3378743"/>
              <a:ext cx="10923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二次</a:t>
              </a:r>
              <a:r>
                <a:rPr lang="en-GB" sz="700"/>
                <a:t>过滤 - 黑名单规则</a:t>
              </a:r>
              <a:endParaRPr sz="700"/>
            </a:p>
          </p:txBody>
        </p:sp>
        <p:sp>
          <p:nvSpPr>
            <p:cNvPr id="576" name="Google Shape;576;p63"/>
            <p:cNvSpPr/>
            <p:nvPr/>
          </p:nvSpPr>
          <p:spPr>
            <a:xfrm>
              <a:off x="3988288" y="3560043"/>
              <a:ext cx="1092300" cy="144000"/>
            </a:xfrm>
            <a:prstGeom prst="rect">
              <a:avLst/>
            </a:prstGeom>
            <a:noFill/>
            <a:ln w="9525" cap="flat" cmpd="sng">
              <a:solidFill>
                <a:srgbClr val="666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查缺补漏</a:t>
              </a:r>
              <a:r>
                <a:rPr lang="en-GB" sz="700">
                  <a:solidFill>
                    <a:srgbClr val="000000"/>
                  </a:solidFill>
                </a:rPr>
                <a:t> - </a:t>
              </a:r>
              <a:r>
                <a:rPr lang="en-GB" sz="700"/>
                <a:t>白名单规则</a:t>
              </a:r>
              <a:endParaRPr sz="700"/>
            </a:p>
          </p:txBody>
        </p:sp>
        <p:sp>
          <p:nvSpPr>
            <p:cNvPr id="577" name="Google Shape;577;p63"/>
            <p:cNvSpPr/>
            <p:nvPr/>
          </p:nvSpPr>
          <p:spPr>
            <a:xfrm>
              <a:off x="3988288" y="3756943"/>
              <a:ext cx="1092300" cy="144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/>
                <a:t>…</a:t>
              </a:r>
              <a:endParaRPr sz="700"/>
            </a:p>
          </p:txBody>
        </p:sp>
        <p:pic>
          <p:nvPicPr>
            <p:cNvPr id="578" name="Google Shape;578;p63" descr="Vector flat icon (Provided by Getty Images)"/>
            <p:cNvPicPr preferRelativeResize="0"/>
            <p:nvPr/>
          </p:nvPicPr>
          <p:blipFill rotWithShape="1">
            <a:blip r:embed="rId2"/>
            <a:srcRect l="18761" t="13764" r="20249" b="15102"/>
            <a:stretch>
              <a:fillRect/>
            </a:stretch>
          </p:blipFill>
          <p:spPr>
            <a:xfrm>
              <a:off x="5541825" y="2426155"/>
              <a:ext cx="260905" cy="30600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pic>
        <p:pic>
          <p:nvPicPr>
            <p:cNvPr id="579" name="Google Shape;579;p63" descr="Vector flat icon (Provided by Getty Images)"/>
            <p:cNvPicPr preferRelativeResize="0"/>
            <p:nvPr/>
          </p:nvPicPr>
          <p:blipFill rotWithShape="1">
            <a:blip r:embed="rId2"/>
            <a:srcRect l="18761" t="13764" r="20249" b="15102"/>
            <a:stretch>
              <a:fillRect/>
            </a:stretch>
          </p:blipFill>
          <p:spPr>
            <a:xfrm>
              <a:off x="5540387" y="3119793"/>
              <a:ext cx="263793" cy="306002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80" name="Google Shape;580;p63" descr="Vector flat icon (Provided by Getty Images)"/>
            <p:cNvPicPr preferRelativeResize="0"/>
            <p:nvPr/>
          </p:nvPicPr>
          <p:blipFill rotWithShape="1">
            <a:blip r:embed="rId2"/>
            <a:srcRect l="18761" t="13764" r="20249" b="15102"/>
            <a:stretch>
              <a:fillRect/>
            </a:stretch>
          </p:blipFill>
          <p:spPr>
            <a:xfrm>
              <a:off x="5540387" y="4006244"/>
              <a:ext cx="263793" cy="30600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pic>
        <p:sp>
          <p:nvSpPr>
            <p:cNvPr id="581" name="Google Shape;581;p63"/>
            <p:cNvSpPr/>
            <p:nvPr/>
          </p:nvSpPr>
          <p:spPr>
            <a:xfrm>
              <a:off x="6088771" y="2426162"/>
              <a:ext cx="3005700" cy="2510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0" tIns="36000" rIns="0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LLM as Judge</a:t>
              </a:r>
              <a:endParaRPr sz="800"/>
            </a:p>
          </p:txBody>
        </p:sp>
        <p:sp>
          <p:nvSpPr>
            <p:cNvPr id="582" name="Google Shape;582;p63"/>
            <p:cNvSpPr/>
            <p:nvPr/>
          </p:nvSpPr>
          <p:spPr>
            <a:xfrm>
              <a:off x="6183925" y="2630781"/>
              <a:ext cx="9633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Bad Case 分析/类聚</a:t>
              </a:r>
              <a:endParaRPr sz="700" b="1"/>
            </a:p>
          </p:txBody>
        </p:sp>
        <p:sp>
          <p:nvSpPr>
            <p:cNvPr id="583" name="Google Shape;583;p63"/>
            <p:cNvSpPr/>
            <p:nvPr/>
          </p:nvSpPr>
          <p:spPr>
            <a:xfrm>
              <a:off x="8248108" y="2630780"/>
              <a:ext cx="7512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Bug 分析/类聚</a:t>
              </a:r>
              <a:endParaRPr sz="700" b="1"/>
            </a:p>
          </p:txBody>
        </p:sp>
        <p:sp>
          <p:nvSpPr>
            <p:cNvPr id="584" name="Google Shape;584;p63"/>
            <p:cNvSpPr/>
            <p:nvPr/>
          </p:nvSpPr>
          <p:spPr>
            <a:xfrm>
              <a:off x="7216016" y="2630780"/>
              <a:ext cx="9633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人类 CR 分析/类聚</a:t>
              </a:r>
              <a:endParaRPr sz="700" b="1"/>
            </a:p>
          </p:txBody>
        </p:sp>
        <p:sp>
          <p:nvSpPr>
            <p:cNvPr id="585" name="Google Shape;585;p63"/>
            <p:cNvSpPr/>
            <p:nvPr/>
          </p:nvSpPr>
          <p:spPr>
            <a:xfrm>
              <a:off x="7227800" y="3067586"/>
              <a:ext cx="927000" cy="210900"/>
            </a:xfrm>
            <a:prstGeom prst="parallelogram">
              <a:avLst>
                <a:gd name="adj" fmla="val 25000"/>
              </a:avLst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长期记忆系统</a:t>
              </a:r>
              <a:endParaRPr sz="700" b="1"/>
            </a:p>
          </p:txBody>
        </p:sp>
        <p:sp>
          <p:nvSpPr>
            <p:cNvPr id="586" name="Google Shape;586;p63"/>
            <p:cNvSpPr/>
            <p:nvPr/>
          </p:nvSpPr>
          <p:spPr>
            <a:xfrm>
              <a:off x="6189350" y="3581175"/>
              <a:ext cx="9597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黑名单规则</a:t>
              </a:r>
              <a:endParaRPr sz="700" b="1"/>
            </a:p>
          </p:txBody>
        </p:sp>
        <p:sp>
          <p:nvSpPr>
            <p:cNvPr id="587" name="Google Shape;587;p63"/>
            <p:cNvSpPr/>
            <p:nvPr/>
          </p:nvSpPr>
          <p:spPr>
            <a:xfrm>
              <a:off x="7217525" y="3581175"/>
              <a:ext cx="9597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CR 白名单规则</a:t>
              </a:r>
              <a:endParaRPr sz="700" b="1"/>
            </a:p>
          </p:txBody>
        </p:sp>
        <p:sp>
          <p:nvSpPr>
            <p:cNvPr id="588" name="Google Shape;588;p63"/>
            <p:cNvSpPr/>
            <p:nvPr/>
          </p:nvSpPr>
          <p:spPr>
            <a:xfrm>
              <a:off x="6187675" y="4177274"/>
              <a:ext cx="9588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高频黑名单规则</a:t>
              </a:r>
              <a:endParaRPr sz="700" b="1"/>
            </a:p>
          </p:txBody>
        </p:sp>
        <p:sp>
          <p:nvSpPr>
            <p:cNvPr id="589" name="Google Shape;589;p63"/>
            <p:cNvSpPr/>
            <p:nvPr/>
          </p:nvSpPr>
          <p:spPr>
            <a:xfrm>
              <a:off x="7214964" y="4177274"/>
              <a:ext cx="9588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高频白名单规则</a:t>
              </a:r>
              <a:endParaRPr sz="700" b="1"/>
            </a:p>
          </p:txBody>
        </p:sp>
        <p:sp>
          <p:nvSpPr>
            <p:cNvPr id="590" name="Google Shape;590;p63"/>
            <p:cNvSpPr/>
            <p:nvPr/>
          </p:nvSpPr>
          <p:spPr>
            <a:xfrm>
              <a:off x="6186063" y="4570129"/>
              <a:ext cx="980400" cy="210900"/>
            </a:xfrm>
            <a:prstGeom prst="flowChartPunchedCard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基准/业务 - 测试集</a:t>
              </a:r>
              <a:endParaRPr sz="700" b="1"/>
            </a:p>
          </p:txBody>
        </p:sp>
        <p:sp>
          <p:nvSpPr>
            <p:cNvPr id="591" name="Google Shape;591;p63"/>
            <p:cNvSpPr/>
            <p:nvPr/>
          </p:nvSpPr>
          <p:spPr>
            <a:xfrm>
              <a:off x="8245700" y="3581175"/>
              <a:ext cx="7482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Bug 白名单规则</a:t>
              </a:r>
              <a:endParaRPr sz="700" b="1"/>
            </a:p>
          </p:txBody>
        </p:sp>
        <p:cxnSp>
          <p:nvCxnSpPr>
            <p:cNvPr id="592" name="Google Shape;592;p63"/>
            <p:cNvCxnSpPr>
              <a:stCxn id="547" idx="3"/>
              <a:endCxn id="548" idx="1"/>
            </p:cNvCxnSpPr>
            <p:nvPr/>
          </p:nvCxnSpPr>
          <p:spPr>
            <a:xfrm>
              <a:off x="310283" y="3269453"/>
              <a:ext cx="345300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593" name="Google Shape;593;p63"/>
            <p:cNvCxnSpPr>
              <a:stCxn id="582" idx="2"/>
              <a:endCxn id="585" idx="0"/>
            </p:cNvCxnSpPr>
            <p:nvPr/>
          </p:nvCxnSpPr>
          <p:spPr>
            <a:xfrm>
              <a:off x="6665575" y="2841681"/>
              <a:ext cx="1025700" cy="225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4" name="Google Shape;594;p63"/>
            <p:cNvCxnSpPr>
              <a:stCxn id="584" idx="2"/>
              <a:endCxn id="585" idx="0"/>
            </p:cNvCxnSpPr>
            <p:nvPr/>
          </p:nvCxnSpPr>
          <p:spPr>
            <a:xfrm flipH="1">
              <a:off x="7691366" y="2841680"/>
              <a:ext cx="6300" cy="225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5" name="Google Shape;595;p63"/>
            <p:cNvCxnSpPr>
              <a:stCxn id="583" idx="2"/>
              <a:endCxn id="585" idx="1"/>
            </p:cNvCxnSpPr>
            <p:nvPr/>
          </p:nvCxnSpPr>
          <p:spPr>
            <a:xfrm flipH="1">
              <a:off x="7713808" y="2841680"/>
              <a:ext cx="909900" cy="225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6" name="Google Shape;596;p63"/>
            <p:cNvCxnSpPr>
              <a:stCxn id="585" idx="4"/>
              <a:endCxn id="586" idx="0"/>
            </p:cNvCxnSpPr>
            <p:nvPr/>
          </p:nvCxnSpPr>
          <p:spPr>
            <a:xfrm flipH="1">
              <a:off x="6669200" y="3278486"/>
              <a:ext cx="1022100" cy="302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7" name="Google Shape;597;p63"/>
            <p:cNvCxnSpPr>
              <a:stCxn id="585" idx="4"/>
              <a:endCxn id="587" idx="0"/>
            </p:cNvCxnSpPr>
            <p:nvPr/>
          </p:nvCxnSpPr>
          <p:spPr>
            <a:xfrm>
              <a:off x="7691300" y="3278486"/>
              <a:ext cx="6000" cy="302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8" name="Google Shape;598;p63"/>
            <p:cNvCxnSpPr>
              <a:stCxn id="585" idx="4"/>
              <a:endCxn id="591" idx="0"/>
            </p:cNvCxnSpPr>
            <p:nvPr/>
          </p:nvCxnSpPr>
          <p:spPr>
            <a:xfrm>
              <a:off x="7691300" y="3278486"/>
              <a:ext cx="928500" cy="302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99" name="Google Shape;599;p63"/>
            <p:cNvCxnSpPr>
              <a:stCxn id="586" idx="2"/>
              <a:endCxn id="588" idx="0"/>
            </p:cNvCxnSpPr>
            <p:nvPr/>
          </p:nvCxnSpPr>
          <p:spPr>
            <a:xfrm rot="5400000">
              <a:off x="6475550" y="3983625"/>
              <a:ext cx="385200" cy="21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0" name="Google Shape;600;p63"/>
            <p:cNvCxnSpPr>
              <a:stCxn id="587" idx="2"/>
              <a:endCxn id="589" idx="0"/>
            </p:cNvCxnSpPr>
            <p:nvPr/>
          </p:nvCxnSpPr>
          <p:spPr>
            <a:xfrm rot="5400000">
              <a:off x="7503275" y="3983175"/>
              <a:ext cx="385200" cy="30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1" name="Google Shape;601;p63"/>
            <p:cNvCxnSpPr>
              <a:stCxn id="588" idx="2"/>
              <a:endCxn id="590" idx="0"/>
            </p:cNvCxnSpPr>
            <p:nvPr/>
          </p:nvCxnSpPr>
          <p:spPr>
            <a:xfrm>
              <a:off x="6667075" y="4388174"/>
              <a:ext cx="9300" cy="18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2" name="Google Shape;602;p63"/>
            <p:cNvCxnSpPr>
              <a:stCxn id="589" idx="2"/>
              <a:endCxn id="590" idx="0"/>
            </p:cNvCxnSpPr>
            <p:nvPr/>
          </p:nvCxnSpPr>
          <p:spPr>
            <a:xfrm flipH="1">
              <a:off x="6676164" y="4388174"/>
              <a:ext cx="1018200" cy="18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3" name="Google Shape;603;p63"/>
            <p:cNvCxnSpPr>
              <a:stCxn id="548" idx="3"/>
              <a:endCxn id="560" idx="1"/>
            </p:cNvCxnSpPr>
            <p:nvPr/>
          </p:nvCxnSpPr>
          <p:spPr>
            <a:xfrm>
              <a:off x="1747800" y="3269455"/>
              <a:ext cx="211800" cy="600"/>
            </a:xfrm>
            <a:prstGeom prst="curvedConnector3">
              <a:avLst>
                <a:gd name="adj1" fmla="val 50015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04" name="Google Shape;604;p63"/>
            <p:cNvCxnSpPr>
              <a:stCxn id="553" idx="2"/>
              <a:endCxn id="554" idx="0"/>
            </p:cNvCxnSpPr>
            <p:nvPr/>
          </p:nvCxnSpPr>
          <p:spPr>
            <a:xfrm rot="5400000">
              <a:off x="995050" y="4086455"/>
              <a:ext cx="417300" cy="4200"/>
            </a:xfrm>
            <a:prstGeom prst="curvedConnector3">
              <a:avLst>
                <a:gd name="adj1" fmla="val 50017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05" name="Google Shape;605;p63"/>
            <p:cNvCxnSpPr>
              <a:stCxn id="557" idx="3"/>
              <a:endCxn id="560" idx="2"/>
            </p:cNvCxnSpPr>
            <p:nvPr/>
          </p:nvCxnSpPr>
          <p:spPr>
            <a:xfrm rot="10800000" flipH="1">
              <a:off x="3075175" y="4112672"/>
              <a:ext cx="532500" cy="516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06" name="Google Shape;606;p63"/>
            <p:cNvCxnSpPr>
              <a:stCxn id="554" idx="3"/>
              <a:endCxn id="557" idx="1"/>
            </p:cNvCxnSpPr>
            <p:nvPr/>
          </p:nvCxnSpPr>
          <p:spPr>
            <a:xfrm>
              <a:off x="1747800" y="4617147"/>
              <a:ext cx="216600" cy="12000"/>
            </a:xfrm>
            <a:prstGeom prst="curvedConnector3">
              <a:avLst>
                <a:gd name="adj1" fmla="val 49971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07" name="Google Shape;607;p63"/>
            <p:cNvCxnSpPr>
              <a:stCxn id="578" idx="1"/>
              <a:endCxn id="573" idx="3"/>
            </p:cNvCxnSpPr>
            <p:nvPr/>
          </p:nvCxnSpPr>
          <p:spPr>
            <a:xfrm flipH="1">
              <a:off x="5080725" y="2579156"/>
              <a:ext cx="461100" cy="513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8" name="Google Shape;608;p63"/>
            <p:cNvCxnSpPr>
              <a:stCxn id="578" idx="1"/>
              <a:endCxn id="574" idx="3"/>
            </p:cNvCxnSpPr>
            <p:nvPr/>
          </p:nvCxnSpPr>
          <p:spPr>
            <a:xfrm flipH="1">
              <a:off x="5080725" y="2579156"/>
              <a:ext cx="461100" cy="690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09" name="Google Shape;609;p63"/>
            <p:cNvCxnSpPr>
              <a:stCxn id="579" idx="1"/>
              <a:endCxn id="560" idx="3"/>
            </p:cNvCxnSpPr>
            <p:nvPr/>
          </p:nvCxnSpPr>
          <p:spPr>
            <a:xfrm rot="10800000">
              <a:off x="5255687" y="3269494"/>
              <a:ext cx="284700" cy="3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triangle" w="med" len="med"/>
              <a:tailEnd type="triangle" w="med" len="med"/>
            </a:ln>
          </p:spPr>
        </p:cxnSp>
        <p:cxnSp>
          <p:nvCxnSpPr>
            <p:cNvPr id="610" name="Google Shape;610;p63"/>
            <p:cNvCxnSpPr>
              <a:stCxn id="579" idx="3"/>
              <a:endCxn id="581" idx="1"/>
            </p:cNvCxnSpPr>
            <p:nvPr/>
          </p:nvCxnSpPr>
          <p:spPr>
            <a:xfrm>
              <a:off x="5804180" y="3272794"/>
              <a:ext cx="284700" cy="408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1" name="Google Shape;611;p63"/>
            <p:cNvCxnSpPr>
              <a:stCxn id="580" idx="1"/>
              <a:endCxn id="575" idx="3"/>
            </p:cNvCxnSpPr>
            <p:nvPr/>
          </p:nvCxnSpPr>
          <p:spPr>
            <a:xfrm rot="10800000">
              <a:off x="5080487" y="3450645"/>
              <a:ext cx="459900" cy="708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2" name="Google Shape;612;p63"/>
            <p:cNvCxnSpPr>
              <a:stCxn id="580" idx="1"/>
              <a:endCxn id="576" idx="3"/>
            </p:cNvCxnSpPr>
            <p:nvPr/>
          </p:nvCxnSpPr>
          <p:spPr>
            <a:xfrm rot="10800000">
              <a:off x="5080487" y="3632145"/>
              <a:ext cx="459900" cy="52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3" name="Google Shape;613;p63"/>
            <p:cNvCxnSpPr/>
            <p:nvPr/>
          </p:nvCxnSpPr>
          <p:spPr>
            <a:xfrm rot="10800000">
              <a:off x="3755966" y="3287648"/>
              <a:ext cx="1806600" cy="889800"/>
            </a:xfrm>
            <a:prstGeom prst="bentConnector3">
              <a:avLst>
                <a:gd name="adj1" fmla="val 92782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4" name="Google Shape;614;p63"/>
            <p:cNvCxnSpPr>
              <a:stCxn id="586" idx="2"/>
              <a:endCxn id="580" idx="0"/>
            </p:cNvCxnSpPr>
            <p:nvPr/>
          </p:nvCxnSpPr>
          <p:spPr>
            <a:xfrm rot="5400000">
              <a:off x="6063650" y="3400725"/>
              <a:ext cx="214200" cy="996900"/>
            </a:xfrm>
            <a:prstGeom prst="bentConnector3">
              <a:avLst>
                <a:gd name="adj1" fmla="val 49993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5" name="Google Shape;615;p63"/>
            <p:cNvCxnSpPr>
              <a:stCxn id="587" idx="2"/>
              <a:endCxn id="580" idx="0"/>
            </p:cNvCxnSpPr>
            <p:nvPr/>
          </p:nvCxnSpPr>
          <p:spPr>
            <a:xfrm rot="5400000">
              <a:off x="6577775" y="2886675"/>
              <a:ext cx="214200" cy="2025000"/>
            </a:xfrm>
            <a:prstGeom prst="bentConnector3">
              <a:avLst>
                <a:gd name="adj1" fmla="val 49993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16" name="Google Shape;616;p63"/>
            <p:cNvCxnSpPr>
              <a:stCxn id="591" idx="2"/>
              <a:endCxn id="580" idx="0"/>
            </p:cNvCxnSpPr>
            <p:nvPr/>
          </p:nvCxnSpPr>
          <p:spPr>
            <a:xfrm rot="5400000">
              <a:off x="7038950" y="2425425"/>
              <a:ext cx="214200" cy="2947500"/>
            </a:xfrm>
            <a:prstGeom prst="bentConnector3">
              <a:avLst>
                <a:gd name="adj1" fmla="val 49993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sp>
          <p:nvSpPr>
            <p:cNvPr id="617" name="Google Shape;617;p63"/>
            <p:cNvSpPr/>
            <p:nvPr/>
          </p:nvSpPr>
          <p:spPr>
            <a:xfrm>
              <a:off x="7457850" y="4570130"/>
              <a:ext cx="1022100" cy="2109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00" b="1"/>
                <a:t>业务领域规则</a:t>
              </a:r>
              <a:endParaRPr sz="700" b="1"/>
            </a:p>
          </p:txBody>
        </p:sp>
        <p:pic>
          <p:nvPicPr>
            <p:cNvPr id="618" name="Google Shape;618;p63" title="产品人员汇总表.png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8771321" y="4548378"/>
              <a:ext cx="254437" cy="254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19" name="Google Shape;619;p63"/>
            <p:cNvCxnSpPr>
              <a:stCxn id="590" idx="3"/>
              <a:endCxn id="617" idx="1"/>
            </p:cNvCxnSpPr>
            <p:nvPr/>
          </p:nvCxnSpPr>
          <p:spPr>
            <a:xfrm>
              <a:off x="7166463" y="4675579"/>
              <a:ext cx="291300" cy="600"/>
            </a:xfrm>
            <a:prstGeom prst="curvedConnector3">
              <a:avLst>
                <a:gd name="adj1" fmla="val 50015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20" name="Google Shape;620;p63"/>
            <p:cNvCxnSpPr>
              <a:stCxn id="617" idx="3"/>
              <a:endCxn id="618" idx="1"/>
            </p:cNvCxnSpPr>
            <p:nvPr/>
          </p:nvCxnSpPr>
          <p:spPr>
            <a:xfrm>
              <a:off x="8479950" y="4675580"/>
              <a:ext cx="291300" cy="600"/>
            </a:xfrm>
            <a:prstGeom prst="curvedConnector3">
              <a:avLst>
                <a:gd name="adj1" fmla="val 50012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21" name="Google Shape;621;p63"/>
            <p:cNvCxnSpPr>
              <a:stCxn id="618" idx="2"/>
              <a:endCxn id="580" idx="2"/>
            </p:cNvCxnSpPr>
            <p:nvPr/>
          </p:nvCxnSpPr>
          <p:spPr>
            <a:xfrm rot="5400000" flipH="1">
              <a:off x="7040190" y="2944428"/>
              <a:ext cx="490500" cy="3226200"/>
            </a:xfrm>
            <a:prstGeom prst="bentConnector3">
              <a:avLst>
                <a:gd name="adj1" fmla="val -50405"/>
              </a:avLst>
            </a:prstGeom>
            <a:noFill/>
            <a:ln w="9525" cap="flat" cmpd="sng">
              <a:solidFill>
                <a:srgbClr val="595959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622" name="Google Shape;622;p63"/>
            <p:cNvCxnSpPr>
              <a:stCxn id="561" idx="0"/>
              <a:endCxn id="566" idx="0"/>
            </p:cNvCxnSpPr>
            <p:nvPr/>
          </p:nvCxnSpPr>
          <p:spPr>
            <a:xfrm rot="-5400000" flipH="1">
              <a:off x="2913063" y="2160980"/>
              <a:ext cx="600" cy="939000"/>
            </a:xfrm>
            <a:prstGeom prst="curvedConnector3">
              <a:avLst>
                <a:gd name="adj1" fmla="val -46658241"/>
              </a:avLst>
            </a:prstGeom>
            <a:noFill/>
            <a:ln w="952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623" name="Google Shape;623;p63"/>
            <p:cNvCxnSpPr>
              <a:stCxn id="566" idx="0"/>
              <a:endCxn id="571" idx="0"/>
            </p:cNvCxnSpPr>
            <p:nvPr/>
          </p:nvCxnSpPr>
          <p:spPr>
            <a:xfrm rot="-5400000" flipH="1">
              <a:off x="3954988" y="2058080"/>
              <a:ext cx="600" cy="1144800"/>
            </a:xfrm>
            <a:prstGeom prst="curvedConnector3">
              <a:avLst>
                <a:gd name="adj1" fmla="val -46660325"/>
              </a:avLst>
            </a:prstGeom>
            <a:noFill/>
            <a:ln w="952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624" name="Google Shape;624;p63"/>
          <p:cNvSpPr/>
          <p:nvPr/>
        </p:nvSpPr>
        <p:spPr>
          <a:xfrm>
            <a:off x="2710450" y="80660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1</a:t>
            </a:r>
            <a:endParaRPr sz="900"/>
          </a:p>
        </p:txBody>
      </p:sp>
      <p:sp>
        <p:nvSpPr>
          <p:cNvPr id="625" name="Google Shape;625;p63"/>
          <p:cNvSpPr/>
          <p:nvPr/>
        </p:nvSpPr>
        <p:spPr>
          <a:xfrm>
            <a:off x="2890450" y="350392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1</a:t>
            </a:r>
            <a:endParaRPr sz="900"/>
          </a:p>
        </p:txBody>
      </p:sp>
      <p:sp>
        <p:nvSpPr>
          <p:cNvPr id="626" name="Google Shape;626;p63"/>
          <p:cNvSpPr/>
          <p:nvPr/>
        </p:nvSpPr>
        <p:spPr>
          <a:xfrm>
            <a:off x="2710450" y="101647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2</a:t>
            </a:r>
            <a:endParaRPr sz="900"/>
          </a:p>
        </p:txBody>
      </p:sp>
      <p:sp>
        <p:nvSpPr>
          <p:cNvPr id="627" name="Google Shape;627;p63"/>
          <p:cNvSpPr/>
          <p:nvPr/>
        </p:nvSpPr>
        <p:spPr>
          <a:xfrm>
            <a:off x="2890450" y="325682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2</a:t>
            </a:r>
            <a:endParaRPr sz="900"/>
          </a:p>
        </p:txBody>
      </p:sp>
      <p:sp>
        <p:nvSpPr>
          <p:cNvPr id="628" name="Google Shape;628;p63"/>
          <p:cNvSpPr/>
          <p:nvPr/>
        </p:nvSpPr>
        <p:spPr>
          <a:xfrm>
            <a:off x="2710450" y="191445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6</a:t>
            </a:r>
            <a:endParaRPr sz="900"/>
          </a:p>
        </p:txBody>
      </p:sp>
      <p:sp>
        <p:nvSpPr>
          <p:cNvPr id="629" name="Google Shape;629;p63"/>
          <p:cNvSpPr/>
          <p:nvPr/>
        </p:nvSpPr>
        <p:spPr>
          <a:xfrm>
            <a:off x="2710450" y="122635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3</a:t>
            </a:r>
            <a:endParaRPr sz="900"/>
          </a:p>
        </p:txBody>
      </p:sp>
      <p:sp>
        <p:nvSpPr>
          <p:cNvPr id="630" name="Google Shape;630;p63"/>
          <p:cNvSpPr/>
          <p:nvPr/>
        </p:nvSpPr>
        <p:spPr>
          <a:xfrm>
            <a:off x="2710450" y="143622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4</a:t>
            </a:r>
            <a:endParaRPr sz="900"/>
          </a:p>
        </p:txBody>
      </p:sp>
      <p:sp>
        <p:nvSpPr>
          <p:cNvPr id="631" name="Google Shape;631;p63"/>
          <p:cNvSpPr/>
          <p:nvPr/>
        </p:nvSpPr>
        <p:spPr>
          <a:xfrm>
            <a:off x="2710450" y="1639038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5</a:t>
            </a:r>
            <a:endParaRPr sz="900"/>
          </a:p>
        </p:txBody>
      </p:sp>
      <p:sp>
        <p:nvSpPr>
          <p:cNvPr id="632" name="Google Shape;632;p63"/>
          <p:cNvSpPr/>
          <p:nvPr/>
        </p:nvSpPr>
        <p:spPr>
          <a:xfrm>
            <a:off x="3918925" y="325682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3</a:t>
            </a:r>
            <a:endParaRPr sz="900"/>
          </a:p>
        </p:txBody>
      </p:sp>
      <p:sp>
        <p:nvSpPr>
          <p:cNvPr id="633" name="Google Shape;633;p63"/>
          <p:cNvSpPr/>
          <p:nvPr/>
        </p:nvSpPr>
        <p:spPr>
          <a:xfrm>
            <a:off x="2710450" y="218985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7</a:t>
            </a:r>
            <a:endParaRPr sz="900"/>
          </a:p>
        </p:txBody>
      </p:sp>
      <p:sp>
        <p:nvSpPr>
          <p:cNvPr id="634" name="Google Shape;634;p63"/>
          <p:cNvSpPr/>
          <p:nvPr/>
        </p:nvSpPr>
        <p:spPr>
          <a:xfrm>
            <a:off x="2710450" y="2399513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8</a:t>
            </a:r>
            <a:endParaRPr sz="900"/>
          </a:p>
        </p:txBody>
      </p:sp>
      <p:sp>
        <p:nvSpPr>
          <p:cNvPr id="635" name="Google Shape;635;p63"/>
          <p:cNvSpPr/>
          <p:nvPr/>
        </p:nvSpPr>
        <p:spPr>
          <a:xfrm>
            <a:off x="2710450" y="260920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9</a:t>
            </a:r>
            <a:endParaRPr sz="900"/>
          </a:p>
        </p:txBody>
      </p:sp>
      <p:sp>
        <p:nvSpPr>
          <p:cNvPr id="636" name="Google Shape;636;p63"/>
          <p:cNvSpPr/>
          <p:nvPr/>
        </p:nvSpPr>
        <p:spPr>
          <a:xfrm>
            <a:off x="2890450" y="374336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4</a:t>
            </a:r>
            <a:endParaRPr sz="900"/>
          </a:p>
        </p:txBody>
      </p:sp>
      <p:sp>
        <p:nvSpPr>
          <p:cNvPr id="637" name="Google Shape;637;p63"/>
          <p:cNvSpPr/>
          <p:nvPr/>
        </p:nvSpPr>
        <p:spPr>
          <a:xfrm>
            <a:off x="3918925" y="3722893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5</a:t>
            </a:r>
            <a:endParaRPr sz="900"/>
          </a:p>
        </p:txBody>
      </p:sp>
      <p:sp>
        <p:nvSpPr>
          <p:cNvPr id="638" name="Google Shape;638;p63"/>
          <p:cNvSpPr/>
          <p:nvPr/>
        </p:nvSpPr>
        <p:spPr>
          <a:xfrm>
            <a:off x="1930450" y="3743360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7</a:t>
            </a:r>
            <a:endParaRPr sz="900"/>
          </a:p>
        </p:txBody>
      </p:sp>
      <p:sp>
        <p:nvSpPr>
          <p:cNvPr id="639" name="Google Shape;639;p63"/>
          <p:cNvSpPr/>
          <p:nvPr/>
        </p:nvSpPr>
        <p:spPr>
          <a:xfrm>
            <a:off x="4984400" y="3902899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8</a:t>
            </a:r>
            <a:endParaRPr sz="900"/>
          </a:p>
        </p:txBody>
      </p:sp>
      <p:sp>
        <p:nvSpPr>
          <p:cNvPr id="640" name="Google Shape;640;p63"/>
          <p:cNvSpPr/>
          <p:nvPr/>
        </p:nvSpPr>
        <p:spPr>
          <a:xfrm>
            <a:off x="3918925" y="3488591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9</a:t>
            </a:r>
            <a:endParaRPr sz="900"/>
          </a:p>
        </p:txBody>
      </p:sp>
      <p:sp>
        <p:nvSpPr>
          <p:cNvPr id="641" name="Google Shape;641;p63"/>
          <p:cNvSpPr/>
          <p:nvPr/>
        </p:nvSpPr>
        <p:spPr>
          <a:xfrm>
            <a:off x="1930450" y="3436825"/>
            <a:ext cx="180000" cy="1800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E0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6</a:t>
            </a:r>
            <a:endParaRPr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4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与 Skynet AICR 思路对比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647" name="Google Shape;647;p64"/>
          <p:cNvSpPr/>
          <p:nvPr/>
        </p:nvSpPr>
        <p:spPr>
          <a:xfrm>
            <a:off x="356525" y="691175"/>
            <a:ext cx="8531400" cy="78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整个 IBS AICR 的核心思想就是 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提示词工程 + Harness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Skynet AICR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：纯提示词驱动，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LLM 依照 10 步提示词执行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IBS AICR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</a:t>
            </a:r>
            <a:r>
              <a:rPr lang="en-GB" sz="800" i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提示词 + harness 工程，LLM 只做审查，但是有大量的工程化手段去保证 AICR 每一步按顺序正确被执行，对每一步的产物进行验收，保证 LLM 输出结果的质量</a:t>
            </a:r>
            <a:endParaRPr sz="800" i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64"/>
          <p:cNvSpPr/>
          <p:nvPr/>
        </p:nvSpPr>
        <p:spPr>
          <a:xfrm>
            <a:off x="234000" y="1645263"/>
            <a:ext cx="4230000" cy="3603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Skynet AICR</a:t>
            </a:r>
            <a:r>
              <a:rPr lang="en-GB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en-GB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纯提示词驱动</a:t>
            </a:r>
            <a:br>
              <a:rPr lang="en-GB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900" i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依照 10 步提示词执行</a:t>
            </a:r>
            <a:endParaRPr sz="13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306000" y="2059875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1～2  ·  init&amp;</a:t>
            </a: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plan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p64"/>
          <p:cNvSpPr/>
          <p:nvPr/>
        </p:nvSpPr>
        <p:spPr>
          <a:xfrm>
            <a:off x="2106000" y="2358938"/>
            <a:ext cx="468000" cy="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0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64"/>
          <p:cNvSpPr/>
          <p:nvPr/>
        </p:nvSpPr>
        <p:spPr>
          <a:xfrm>
            <a:off x="306000" y="2473963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3~4</a:t>
            </a:r>
            <a:r>
              <a:rPr lang="en-GB" sz="95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 ·  </a:t>
            </a: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scan&amp;td_fetch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64"/>
          <p:cNvSpPr/>
          <p:nvPr/>
        </p:nvSpPr>
        <p:spPr>
          <a:xfrm>
            <a:off x="2106000" y="2773026"/>
            <a:ext cx="468000" cy="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0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64"/>
          <p:cNvSpPr/>
          <p:nvPr/>
        </p:nvSpPr>
        <p:spPr>
          <a:xfrm>
            <a:off x="306000" y="2888051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5 × N  ·  review batches  </a:t>
            </a:r>
            <a:b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HARD_STOP every 7  (多次 restart)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64"/>
          <p:cNvSpPr/>
          <p:nvPr/>
        </p:nvSpPr>
        <p:spPr>
          <a:xfrm>
            <a:off x="2106000" y="3187114"/>
            <a:ext cx="468000" cy="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0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64"/>
          <p:cNvSpPr/>
          <p:nvPr/>
        </p:nvSpPr>
        <p:spPr>
          <a:xfrm>
            <a:off x="306000" y="3302138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6 × N  ·  batch check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64"/>
          <p:cNvSpPr/>
          <p:nvPr/>
        </p:nvSpPr>
        <p:spPr>
          <a:xfrm>
            <a:off x="2106000" y="3601202"/>
            <a:ext cx="468000" cy="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0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64"/>
          <p:cNvSpPr/>
          <p:nvPr/>
        </p:nvSpPr>
        <p:spPr>
          <a:xfrm>
            <a:off x="306000" y="3716226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7~9  ·  dedup/td_check/filter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64"/>
          <p:cNvSpPr/>
          <p:nvPr/>
        </p:nvSpPr>
        <p:spPr>
          <a:xfrm>
            <a:off x="2106000" y="4015290"/>
            <a:ext cx="468000" cy="1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i="0" u="none" strike="noStrike" cap="none">
                <a:solidFill>
                  <a:srgbClr val="808080"/>
                </a:solidFill>
                <a:latin typeface="Montserrat"/>
                <a:ea typeface="Montserrat"/>
                <a:cs typeface="Montserrat"/>
                <a:sym typeface="Montserrat"/>
              </a:rPr>
              <a:t>▼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64"/>
          <p:cNvSpPr/>
          <p:nvPr/>
        </p:nvSpPr>
        <p:spPr>
          <a:xfrm>
            <a:off x="306000" y="4130314"/>
            <a:ext cx="4068000" cy="28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Step 10  ·  finalize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64"/>
          <p:cNvSpPr/>
          <p:nvPr/>
        </p:nvSpPr>
        <p:spPr>
          <a:xfrm>
            <a:off x="4680000" y="1645263"/>
            <a:ext cx="4230000" cy="3603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IBS AICR - </a:t>
            </a:r>
            <a:r>
              <a:rPr lang="en-GB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提示词 + harness 工程</a:t>
            </a:r>
            <a:br>
              <a:rPr lang="en-GB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900" i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LLM 只做审查</a:t>
            </a:r>
            <a:endParaRPr sz="1200" i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64"/>
          <p:cNvSpPr/>
          <p:nvPr/>
        </p:nvSpPr>
        <p:spPr>
          <a:xfrm>
            <a:off x="5220000" y="2113875"/>
            <a:ext cx="1620000" cy="234000"/>
          </a:xfrm>
          <a:prstGeom prst="rect">
            <a:avLst/>
          </a:prstGeom>
          <a:solidFill>
            <a:srgbClr val="DCE8F7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get batch review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p64"/>
          <p:cNvSpPr/>
          <p:nvPr/>
        </p:nvSpPr>
        <p:spPr>
          <a:xfrm>
            <a:off x="7038000" y="2113875"/>
            <a:ext cx="1620000" cy="234000"/>
          </a:xfrm>
          <a:prstGeom prst="rect">
            <a:avLst/>
          </a:prstGeom>
          <a:solidFill>
            <a:srgbClr val="DCE8F7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submit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batch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review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3" name="Google Shape;663;p64"/>
          <p:cNvSpPr/>
          <p:nvPr/>
        </p:nvSpPr>
        <p:spPr>
          <a:xfrm>
            <a:off x="4680000" y="2419875"/>
            <a:ext cx="4230000" cy="1998000"/>
          </a:xfrm>
          <a:prstGeom prst="rect">
            <a:avLst/>
          </a:prstGeom>
          <a:solidFill>
            <a:srgbClr val="E7F1FF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4"/>
          <p:cNvSpPr/>
          <p:nvPr/>
        </p:nvSpPr>
        <p:spPr>
          <a:xfrm>
            <a:off x="4680000" y="2419875"/>
            <a:ext cx="4230000" cy="198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Server  ·  Harness Engine  ·  工程化底座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5" name="Google Shape;665;p64"/>
          <p:cNvCxnSpPr/>
          <p:nvPr/>
        </p:nvCxnSpPr>
        <p:spPr>
          <a:xfrm>
            <a:off x="6030000" y="2347875"/>
            <a:ext cx="763200" cy="72000"/>
          </a:xfrm>
          <a:prstGeom prst="straightConnector1">
            <a:avLst/>
          </a:prstGeom>
          <a:noFill/>
          <a:ln w="12700" cap="flat" cmpd="sng">
            <a:solidFill>
              <a:srgbClr val="2E5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6" name="Google Shape;666;p64"/>
          <p:cNvCxnSpPr/>
          <p:nvPr/>
        </p:nvCxnSpPr>
        <p:spPr>
          <a:xfrm>
            <a:off x="6793200" y="2347875"/>
            <a:ext cx="1054800" cy="72000"/>
          </a:xfrm>
          <a:prstGeom prst="straightConnector1">
            <a:avLst/>
          </a:prstGeom>
          <a:noFill/>
          <a:ln w="12700" cap="flat" cmpd="sng">
            <a:solidFill>
              <a:srgbClr val="2E5F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7" name="Google Shape;667;p64"/>
          <p:cNvSpPr/>
          <p:nvPr/>
        </p:nvSpPr>
        <p:spPr>
          <a:xfrm>
            <a:off x="4752000" y="2689875"/>
            <a:ext cx="2016000" cy="792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01  ·  会话 &amp; 状态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i="0" u="none" strike="noStrike" cap="none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贯穿全流程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64"/>
          <p:cNvSpPr/>
          <p:nvPr/>
        </p:nvSpPr>
        <p:spPr>
          <a:xfrm>
            <a:off x="6822000" y="2689875"/>
            <a:ext cx="2016000" cy="792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02  ·  调度 &amp; 并发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i="0" u="none" strike="noStrike" cap="none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取代 HARD_STOP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64"/>
          <p:cNvSpPr/>
          <p:nvPr/>
        </p:nvSpPr>
        <p:spPr>
          <a:xfrm>
            <a:off x="4752000" y="3553875"/>
            <a:ext cx="2016000" cy="792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03  ·  上下文组装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i="0" u="none" strike="noStrike" cap="none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规范 / TD / Diff 自动喂给 LLM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822000" y="3553875"/>
            <a:ext cx="2016000" cy="792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04  ·  结果收敛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i="0" u="none" strike="noStrike" cap="none"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去重 / 分级 / </a:t>
            </a:r>
            <a:r>
              <a:rPr lang="en-GB" sz="100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质检</a:t>
            </a:r>
            <a:r>
              <a:rPr lang="en-GB" sz="100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 / </a:t>
            </a:r>
            <a:r>
              <a:rPr lang="en-GB" sz="100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全链路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64"/>
          <p:cNvSpPr/>
          <p:nvPr/>
        </p:nvSpPr>
        <p:spPr>
          <a:xfrm>
            <a:off x="4680000" y="4489875"/>
            <a:ext cx="4230000" cy="549900"/>
          </a:xfrm>
          <a:prstGeom prst="rect">
            <a:avLst/>
          </a:prstGeom>
          <a:solidFill>
            <a:srgbClr val="DCE8F7"/>
          </a:solidFill>
          <a:ln w="9525" cap="flat" cmpd="sng">
            <a:solidFill>
              <a:srgbClr val="11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·  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LLM 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不会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偷懒 - “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善于长时间处理复杂任务”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·  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LLM 回答更准确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·  </a:t>
            </a:r>
            <a:r>
              <a:rPr lang="en-GB" sz="950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LLM 只需要处理审查任务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64"/>
          <p:cNvSpPr/>
          <p:nvPr/>
        </p:nvSpPr>
        <p:spPr>
          <a:xfrm>
            <a:off x="234000" y="4489875"/>
            <a:ext cx="4230000" cy="5499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·  LLM 容易偷懒 - “</a:t>
            </a: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加速处理</a:t>
            </a: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”/“</a:t>
            </a: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合并处理</a:t>
            </a: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”</a:t>
            </a:r>
            <a:endParaRPr sz="950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·  LLM 容易产生幻觉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·  </a:t>
            </a:r>
            <a:r>
              <a:rPr lang="en-GB" sz="95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LLM 职责要求太多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5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远端 CR 能力 - 支持 FeatureFlow 等外部生码平台接入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678" name="Google Shape;678;p65"/>
          <p:cNvSpPr/>
          <p:nvPr/>
        </p:nvSpPr>
        <p:spPr>
          <a:xfrm>
            <a:off x="244800" y="666847"/>
            <a:ext cx="8654400" cy="862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提供 AICR 远端调用能力，供其他平台在自动化流程中调用，将 AI 代码审查无缝嵌入研发流程，实现需求的</a:t>
            </a:r>
            <a:r>
              <a:rPr lang="en-GB" sz="8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自动化质量门禁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，其核心价值：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快速低成本接入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：对于对代码质量有诉求的平台/工具，提供便捷的快速接入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完善的质量报告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：提供详细的质量报告，问题按严重程度进行 P0/P1/P2 分级，提供完整的结果及配套可视化看板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高制定化服务 &amp; </a:t>
            </a: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快速响应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：更适配 SSC 业务，对于有不同诉求的团队、工具，可以进行定制化开发，同时能够快速响应各种咨询、问题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目前已经接入或者正在接入的有 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① IBS 生码 Agent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、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② SSC FeatureFlow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、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③ SCTP Coding Bot 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等...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65"/>
          <p:cNvSpPr/>
          <p:nvPr/>
        </p:nvSpPr>
        <p:spPr>
          <a:xfrm>
            <a:off x="230400" y="1607330"/>
            <a:ext cx="8676000" cy="264600"/>
          </a:xfrm>
          <a:prstGeom prst="rect">
            <a:avLst/>
          </a:prstGeom>
          <a:solidFill>
            <a:srgbClr val="E93F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四步闭环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65"/>
          <p:cNvSpPr/>
          <p:nvPr/>
        </p:nvSpPr>
        <p:spPr>
          <a:xfrm>
            <a:off x="230400" y="1941525"/>
            <a:ext cx="2008800" cy="234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  ·  接入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p65"/>
          <p:cNvSpPr/>
          <p:nvPr/>
        </p:nvSpPr>
        <p:spPr>
          <a:xfrm>
            <a:off x="230400" y="2193525"/>
            <a:ext cx="2008800" cy="252000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i="0" u="none" strike="noStrike" cap="none">
                <a:solidFill>
                  <a:srgbClr val="1133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业务方发起调用</a:t>
            </a:r>
            <a:endParaRPr>
              <a:solidFill>
                <a:srgbClr val="113366"/>
              </a:solidFill>
            </a:endParaRPr>
          </a:p>
        </p:txBody>
      </p:sp>
      <p:sp>
        <p:nvSpPr>
          <p:cNvPr id="682" name="Google Shape;682;p65"/>
          <p:cNvSpPr/>
          <p:nvPr/>
        </p:nvSpPr>
        <p:spPr>
          <a:xfrm>
            <a:off x="2455200" y="1941525"/>
            <a:ext cx="2008800" cy="234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  ·  调用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65"/>
          <p:cNvSpPr/>
          <p:nvPr/>
        </p:nvSpPr>
        <p:spPr>
          <a:xfrm>
            <a:off x="2455200" y="2193525"/>
            <a:ext cx="2008800" cy="252000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AICR 远端 API</a:t>
            </a:r>
            <a:endParaRPr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65"/>
          <p:cNvSpPr/>
          <p:nvPr/>
        </p:nvSpPr>
        <p:spPr>
          <a:xfrm>
            <a:off x="4680000" y="1941525"/>
            <a:ext cx="2008800" cy="234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  ·  审查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65"/>
          <p:cNvSpPr/>
          <p:nvPr/>
        </p:nvSpPr>
        <p:spPr>
          <a:xfrm>
            <a:off x="4680000" y="2193525"/>
            <a:ext cx="2008800" cy="252000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Harness 执行 CR</a:t>
            </a:r>
            <a:endParaRPr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65"/>
          <p:cNvSpPr/>
          <p:nvPr/>
        </p:nvSpPr>
        <p:spPr>
          <a:xfrm>
            <a:off x="6904800" y="1941525"/>
            <a:ext cx="2008800" cy="234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  ·  回传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65"/>
          <p:cNvSpPr/>
          <p:nvPr/>
        </p:nvSpPr>
        <p:spPr>
          <a:xfrm>
            <a:off x="6904800" y="2193525"/>
            <a:ext cx="2008800" cy="252000"/>
          </a:xfrm>
          <a:prstGeom prst="rect">
            <a:avLst/>
          </a:prstGeom>
          <a:solidFill>
            <a:srgbClr val="DCE8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i="0" u="none" strike="noStrike" cap="none">
                <a:solidFill>
                  <a:srgbClr val="113366"/>
                </a:solidFill>
                <a:latin typeface="Montserrat"/>
                <a:ea typeface="Montserrat"/>
                <a:cs typeface="Montserrat"/>
                <a:sym typeface="Montserrat"/>
              </a:rPr>
              <a:t>质量结果 &amp; 看板</a:t>
            </a:r>
            <a:endParaRPr>
              <a:solidFill>
                <a:srgbClr val="113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65"/>
          <p:cNvSpPr/>
          <p:nvPr/>
        </p:nvSpPr>
        <p:spPr>
          <a:xfrm>
            <a:off x="2239200" y="2229525"/>
            <a:ext cx="216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rgbClr val="1133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▶</a:t>
            </a:r>
            <a:endParaRPr>
              <a:solidFill>
                <a:srgbClr val="113366"/>
              </a:solidFill>
            </a:endParaRPr>
          </a:p>
        </p:txBody>
      </p:sp>
      <p:sp>
        <p:nvSpPr>
          <p:cNvPr id="689" name="Google Shape;689;p65"/>
          <p:cNvSpPr/>
          <p:nvPr/>
        </p:nvSpPr>
        <p:spPr>
          <a:xfrm>
            <a:off x="4464000" y="2229525"/>
            <a:ext cx="216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rgbClr val="1133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▶</a:t>
            </a:r>
            <a:endParaRPr>
              <a:solidFill>
                <a:srgbClr val="113366"/>
              </a:solidFill>
            </a:endParaRPr>
          </a:p>
        </p:txBody>
      </p:sp>
      <p:sp>
        <p:nvSpPr>
          <p:cNvPr id="690" name="Google Shape;690;p65"/>
          <p:cNvSpPr/>
          <p:nvPr/>
        </p:nvSpPr>
        <p:spPr>
          <a:xfrm>
            <a:off x="6688800" y="2229525"/>
            <a:ext cx="216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rgbClr val="11336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▶</a:t>
            </a:r>
            <a:endParaRPr>
              <a:solidFill>
                <a:srgbClr val="113366"/>
              </a:solidFill>
            </a:endParaRPr>
          </a:p>
        </p:txBody>
      </p:sp>
      <p:sp>
        <p:nvSpPr>
          <p:cNvPr id="691" name="Google Shape;691;p65"/>
          <p:cNvSpPr/>
          <p:nvPr/>
        </p:nvSpPr>
        <p:spPr>
          <a:xfrm>
            <a:off x="230400" y="2463525"/>
            <a:ext cx="2008800" cy="6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FeatureFlow 等业务方 / CI 流水线，按统一</a:t>
            </a:r>
            <a:r>
              <a:rPr lang="en-GB" sz="1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协议</a:t>
            </a:r>
            <a:r>
              <a:rPr lang="en-GB" sz="100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发起远端调用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2" name="Google Shape;692;p65"/>
          <p:cNvSpPr/>
          <p:nvPr/>
        </p:nvSpPr>
        <p:spPr>
          <a:xfrm>
            <a:off x="2455200" y="2463525"/>
            <a:ext cx="2008800" cy="6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标准化远端接口 · 鉴权 / 白名单 · 免业务方重复搭建底座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65"/>
          <p:cNvSpPr/>
          <p:nvPr/>
        </p:nvSpPr>
        <p:spPr>
          <a:xfrm>
            <a:off x="4680000" y="2463525"/>
            <a:ext cx="2008800" cy="6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Harness 工程化底座自动跑完 CR 全流程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65"/>
          <p:cNvSpPr/>
          <p:nvPr/>
        </p:nvSpPr>
        <p:spPr>
          <a:xfrm>
            <a:off x="6904800" y="2463525"/>
            <a:ext cx="2008800" cy="66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000" tIns="108000" rIns="108000" bIns="10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同步 P0 / P1 / P2 结果与看板，对接业务后续动作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5" name="Google Shape;695;p65"/>
          <p:cNvSpPr/>
          <p:nvPr/>
        </p:nvSpPr>
        <p:spPr>
          <a:xfrm>
            <a:off x="230400" y="3588350"/>
            <a:ext cx="2772000" cy="360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  ·  低成本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65"/>
          <p:cNvSpPr/>
          <p:nvPr/>
        </p:nvSpPr>
        <p:spPr>
          <a:xfrm>
            <a:off x="3182400" y="3588350"/>
            <a:ext cx="2772000" cy="360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  ·  高质量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65"/>
          <p:cNvSpPr/>
          <p:nvPr/>
        </p:nvSpPr>
        <p:spPr>
          <a:xfrm>
            <a:off x="6134400" y="3588350"/>
            <a:ext cx="2772000" cy="3600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  ·  强响应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8" name="Google Shape;698;p65"/>
          <p:cNvSpPr/>
          <p:nvPr/>
        </p:nvSpPr>
        <p:spPr>
          <a:xfrm>
            <a:off x="234000" y="3917100"/>
            <a:ext cx="2772000" cy="100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000" tIns="126000" rIns="126000" bIns="12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对于对代码质量有诉求的平台 / 工具，提供便捷的快速接入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业务方改动极小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统一标准化接口</a:t>
            </a:r>
            <a:endParaRPr sz="95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65"/>
          <p:cNvSpPr/>
          <p:nvPr/>
        </p:nvSpPr>
        <p:spPr>
          <a:xfrm>
            <a:off x="3186000" y="3917100"/>
            <a:ext cx="2772000" cy="100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000" tIns="126000" rIns="126000" bIns="12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提供详细的质量报告，问题按严重程度进行 P0 / P1 / P2 分级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endParaRPr sz="95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完整结果 + 配套可视化看板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报告结构化、易消费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65"/>
          <p:cNvSpPr/>
          <p:nvPr/>
        </p:nvSpPr>
        <p:spPr>
          <a:xfrm>
            <a:off x="6138000" y="3917100"/>
            <a:ext cx="2772000" cy="1003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6000" tIns="126000" rIns="126000" bIns="12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更适配 SSC 业务；对于不同诉求的团队 / 工具，可快速定制化开发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endParaRPr sz="95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·  咨询 / 问题快速响应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65"/>
          <p:cNvSpPr/>
          <p:nvPr/>
        </p:nvSpPr>
        <p:spPr>
          <a:xfrm>
            <a:off x="230400" y="3246346"/>
            <a:ext cx="8676000" cy="264600"/>
          </a:xfrm>
          <a:prstGeom prst="rect">
            <a:avLst/>
          </a:prstGeom>
          <a:solidFill>
            <a:srgbClr val="E93F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核心价值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6"/>
          <p:cNvSpPr/>
          <p:nvPr/>
        </p:nvSpPr>
        <p:spPr>
          <a:xfrm>
            <a:off x="233400" y="1435000"/>
            <a:ext cx="8677200" cy="2283600"/>
          </a:xfrm>
          <a:prstGeom prst="roundRect">
            <a:avLst>
              <a:gd name="adj" fmla="val 2008"/>
            </a:avLst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113366"/>
              </a:solidFill>
            </a:endParaRPr>
          </a:p>
        </p:txBody>
      </p:sp>
      <p:sp>
        <p:nvSpPr>
          <p:cNvPr id="707" name="Google Shape;707;p66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远端 CR 能力 - 支持 FeatureFlow 等外部生码平台接入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708" name="Google Shape;708;p66"/>
          <p:cNvSpPr/>
          <p:nvPr/>
        </p:nvSpPr>
        <p:spPr>
          <a:xfrm>
            <a:off x="244800" y="666862"/>
            <a:ext cx="8654400" cy="71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提供 AICR 远端调用能力，供其他平台在自动化流程中调用，将 AI 代码审查无缝嵌入研发流程，实现需求的</a:t>
            </a:r>
            <a:r>
              <a:rPr lang="en-GB" sz="9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自动化质量门禁</a:t>
            </a: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，其核心价值：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1、</a:t>
            </a:r>
            <a:r>
              <a:rPr lang="en-GB" sz="9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快速低成本接入</a:t>
            </a: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：对于对代码质量有诉求的平台/工具，提供便捷的快速接入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2、</a:t>
            </a:r>
            <a:r>
              <a:rPr lang="en-GB" sz="9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完善的质量报告</a:t>
            </a: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：提供详细的质量报告，问题按严重程度进行 P0/P1/P2 分级，提供完整的结果及配套可视化看板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3、</a:t>
            </a:r>
            <a:r>
              <a:rPr lang="en-GB" sz="9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高制定化服务 &amp; 快速响应</a:t>
            </a:r>
            <a:r>
              <a:rPr lang="en-GB" sz="900">
                <a:latin typeface="Montserrat"/>
                <a:ea typeface="Montserrat"/>
                <a:cs typeface="Montserrat"/>
                <a:sym typeface="Montserrat"/>
              </a:rPr>
              <a:t>：更适配 SSC 业务，对于有不同诉求的团队、工具，可以进行定制化开发，同时能够快速响应各种咨询、问题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66"/>
          <p:cNvSpPr/>
          <p:nvPr/>
        </p:nvSpPr>
        <p:spPr>
          <a:xfrm>
            <a:off x="360000" y="1710349"/>
            <a:ext cx="1224000" cy="2934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触发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0" name="Google Shape;710;p66"/>
          <p:cNvSpPr/>
          <p:nvPr/>
        </p:nvSpPr>
        <p:spPr>
          <a:xfrm>
            <a:off x="360000" y="2036689"/>
            <a:ext cx="122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FeatureFlow 平台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各类生码 Agent 平台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711" name="Google Shape;711;p66"/>
          <p:cNvCxnSpPr/>
          <p:nvPr/>
        </p:nvCxnSpPr>
        <p:spPr>
          <a:xfrm>
            <a:off x="1620000" y="1851592"/>
            <a:ext cx="432000" cy="0"/>
          </a:xfrm>
          <a:prstGeom prst="straightConnector1">
            <a:avLst/>
          </a:prstGeom>
          <a:noFill/>
          <a:ln w="1905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2" name="Google Shape;712;p66"/>
          <p:cNvSpPr/>
          <p:nvPr/>
        </p:nvSpPr>
        <p:spPr>
          <a:xfrm>
            <a:off x="2088000" y="1710349"/>
            <a:ext cx="1224000" cy="2934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入队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3" name="Google Shape;713;p66"/>
          <p:cNvSpPr/>
          <p:nvPr/>
        </p:nvSpPr>
        <p:spPr>
          <a:xfrm>
            <a:off x="2088000" y="2036689"/>
            <a:ext cx="122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CR 队列管理</a:t>
            </a:r>
            <a:br>
              <a:rPr lang="en-GB" sz="700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GB" sz="700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并发控制</a:t>
            </a:r>
            <a:endParaRPr lang="en-GB" sz="700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714" name="Google Shape;714;p66"/>
          <p:cNvCxnSpPr/>
          <p:nvPr/>
        </p:nvCxnSpPr>
        <p:spPr>
          <a:xfrm>
            <a:off x="3348000" y="1851592"/>
            <a:ext cx="432000" cy="0"/>
          </a:xfrm>
          <a:prstGeom prst="straightConnector1">
            <a:avLst/>
          </a:prstGeom>
          <a:noFill/>
          <a:ln w="1905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5" name="Google Shape;715;p66"/>
          <p:cNvSpPr/>
          <p:nvPr/>
        </p:nvSpPr>
        <p:spPr>
          <a:xfrm>
            <a:off x="3816000" y="1710349"/>
            <a:ext cx="1224000" cy="2934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准备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3816000" y="2036689"/>
            <a:ext cx="122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Git </a:t>
            </a:r>
            <a:r>
              <a:rPr lang="en-GB" sz="700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远程</a:t>
            </a: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代码克隆到服务器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717" name="Google Shape;717;p66"/>
          <p:cNvCxnSpPr/>
          <p:nvPr/>
        </p:nvCxnSpPr>
        <p:spPr>
          <a:xfrm>
            <a:off x="5076000" y="1851592"/>
            <a:ext cx="432000" cy="0"/>
          </a:xfrm>
          <a:prstGeom prst="straightConnector1">
            <a:avLst/>
          </a:prstGeom>
          <a:noFill/>
          <a:ln w="1905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8" name="Google Shape;718;p66"/>
          <p:cNvSpPr/>
          <p:nvPr/>
        </p:nvSpPr>
        <p:spPr>
          <a:xfrm>
            <a:off x="5544000" y="1710349"/>
            <a:ext cx="1224000" cy="2934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审查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9" name="Google Shape;719;p66"/>
          <p:cNvSpPr/>
          <p:nvPr/>
        </p:nvSpPr>
        <p:spPr>
          <a:xfrm>
            <a:off x="5544000" y="2036689"/>
            <a:ext cx="122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MCP + CLI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分批多轮 AI 审查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cxnSp>
        <p:nvCxnSpPr>
          <p:cNvPr id="720" name="Google Shape;720;p66"/>
          <p:cNvCxnSpPr/>
          <p:nvPr/>
        </p:nvCxnSpPr>
        <p:spPr>
          <a:xfrm>
            <a:off x="6804000" y="1851592"/>
            <a:ext cx="432000" cy="0"/>
          </a:xfrm>
          <a:prstGeom prst="straightConnector1">
            <a:avLst/>
          </a:prstGeom>
          <a:noFill/>
          <a:ln w="1905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21" name="Google Shape;721;p66"/>
          <p:cNvSpPr/>
          <p:nvPr/>
        </p:nvSpPr>
        <p:spPr>
          <a:xfrm>
            <a:off x="7272000" y="1710349"/>
            <a:ext cx="1224000" cy="2934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闭环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2" name="Google Shape;722;p66"/>
          <p:cNvSpPr/>
          <p:nvPr/>
        </p:nvSpPr>
        <p:spPr>
          <a:xfrm>
            <a:off x="7272000" y="2036689"/>
            <a:ext cx="122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结构化结果回传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0" i="0" u="none" strike="noStrike" cap="none">
                <a:solidFill>
                  <a:srgbClr val="666666"/>
                </a:solidFill>
                <a:latin typeface="微软雅黑"/>
                <a:ea typeface="微软雅黑"/>
                <a:cs typeface="微软雅黑"/>
                <a:sym typeface="微软雅黑"/>
              </a:rPr>
              <a:t>接入方</a:t>
            </a:r>
            <a:endParaRPr lang="en-GB" sz="700" b="0" i="0" u="none" strike="noStrike" cap="none">
              <a:solidFill>
                <a:srgbClr val="6666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23" name="Google Shape;723;p66"/>
          <p:cNvSpPr/>
          <p:nvPr/>
        </p:nvSpPr>
        <p:spPr>
          <a:xfrm>
            <a:off x="359988" y="2534510"/>
            <a:ext cx="1008000" cy="2562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 u="none" strike="noStrike" cap="none">
                <a:solidFill>
                  <a:schemeClr val="lt1"/>
                </a:solidFill>
                <a:latin typeface="微软雅黑"/>
                <a:ea typeface="微软雅黑"/>
                <a:cs typeface="微软雅黑"/>
                <a:sym typeface="微软雅黑"/>
              </a:rPr>
              <a:t>Feature Flow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4" name="Google Shape;724;p66"/>
          <p:cNvSpPr/>
          <p:nvPr/>
        </p:nvSpPr>
        <p:spPr>
          <a:xfrm>
            <a:off x="360000" y="3342616"/>
            <a:ext cx="1008000" cy="2562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lt1"/>
                </a:solidFill>
                <a:latin typeface="微软雅黑"/>
                <a:ea typeface="微软雅黑"/>
                <a:cs typeface="微软雅黑"/>
                <a:sym typeface="微软雅黑"/>
              </a:rPr>
              <a:t>生码Agent平台</a:t>
            </a:r>
            <a:endParaRPr sz="900" b="1">
              <a:solidFill>
                <a:schemeClr val="lt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25" name="Google Shape;725;p66"/>
          <p:cNvSpPr/>
          <p:nvPr/>
        </p:nvSpPr>
        <p:spPr>
          <a:xfrm>
            <a:off x="2005588" y="2433708"/>
            <a:ext cx="4320000" cy="1196100"/>
          </a:xfrm>
          <a:prstGeom prst="roundRect">
            <a:avLst>
              <a:gd name="adj" fmla="val 7281"/>
            </a:avLst>
          </a:pr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0" rIns="108000" bIns="108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i="0" u="none" strike="noStrike" cap="none">
                <a:solidFill>
                  <a:srgbClr val="113366"/>
                </a:solidFill>
                <a:latin typeface="微软雅黑"/>
                <a:ea typeface="微软雅黑"/>
                <a:cs typeface="微软雅黑"/>
                <a:sym typeface="微软雅黑"/>
              </a:rPr>
              <a:t>Server</a:t>
            </a:r>
            <a:endParaRPr lang="en-GB" sz="1200" b="1" i="0" u="none" strike="noStrike" cap="none">
              <a:solidFill>
                <a:srgbClr val="113366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26" name="Google Shape;726;p66"/>
          <p:cNvSpPr/>
          <p:nvPr/>
        </p:nvSpPr>
        <p:spPr>
          <a:xfrm>
            <a:off x="2221588" y="2803903"/>
            <a:ext cx="900000" cy="3987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基建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7" name="Google Shape;727;p66"/>
          <p:cNvSpPr/>
          <p:nvPr/>
        </p:nvSpPr>
        <p:spPr>
          <a:xfrm>
            <a:off x="3373588" y="2604577"/>
            <a:ext cx="1224000" cy="7119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并发控制</a:t>
            </a:r>
            <a:endParaRPr sz="800" b="1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Git Clone Executor</a:t>
            </a:r>
            <a:endParaRPr lang="en-GB" sz="800" b="1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p-limit(6) / 5s</a:t>
            </a:r>
            <a:endParaRPr sz="800" b="1" i="0" u="none" strike="noStrike" cap="none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GB" sz="800" b="1">
                <a:solidFill>
                  <a:schemeClr val="lt1"/>
                </a:solidFill>
                <a:latin typeface="微软雅黑"/>
                <a:ea typeface="微软雅黑"/>
                <a:cs typeface="微软雅黑"/>
                <a:sym typeface="微软雅黑"/>
              </a:rPr>
              <a:t>Cr TaskExecutor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chemeClr val="lt1"/>
                </a:solidFill>
                <a:latin typeface="微软雅黑"/>
                <a:ea typeface="微软雅黑"/>
                <a:cs typeface="微软雅黑"/>
                <a:sym typeface="微软雅黑"/>
              </a:rPr>
              <a:t>p-limit(5) / 30s</a:t>
            </a:r>
            <a:endParaRPr sz="800" b="1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28" name="Google Shape;728;p66"/>
          <p:cNvSpPr/>
          <p:nvPr/>
        </p:nvSpPr>
        <p:spPr>
          <a:xfrm>
            <a:off x="4813588" y="2604567"/>
            <a:ext cx="1224000" cy="2847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External Callback</a:t>
            </a:r>
            <a:endParaRPr lang="en-GB" sz="800" b="1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结果回传</a:t>
            </a:r>
            <a:endParaRPr lang="en-GB" sz="800" b="1" i="0" u="none" strike="noStrike" cap="none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29" name="Google Shape;729;p66"/>
          <p:cNvSpPr/>
          <p:nvPr/>
        </p:nvSpPr>
        <p:spPr>
          <a:xfrm>
            <a:off x="4813588" y="3031715"/>
            <a:ext cx="1224000" cy="2847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ServerMonitor</a:t>
            </a:r>
            <a:endParaRPr lang="en-GB" sz="800" b="1" i="0" u="none" strike="noStrike" cap="none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埋点</a:t>
            </a:r>
            <a:r>
              <a:rPr lang="en-GB" sz="800" b="1" i="0" u="none" strike="noStrike" cap="non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+ 告警</a:t>
            </a:r>
            <a:endParaRPr lang="en-GB" sz="800" b="1" i="0" u="none" strike="noStrike" cap="none">
              <a:solidFill>
                <a:srgbClr val="FFFFFF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730" name="Google Shape;730;p66"/>
          <p:cNvSpPr/>
          <p:nvPr/>
        </p:nvSpPr>
        <p:spPr>
          <a:xfrm>
            <a:off x="7374363" y="2520238"/>
            <a:ext cx="1008000" cy="3417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 w="12700" cap="flat" cmpd="sng">
            <a:solidFill>
              <a:srgbClr val="B3C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Flow 平台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质量门禁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1" name="Google Shape;731;p66"/>
          <p:cNvSpPr/>
          <p:nvPr/>
        </p:nvSpPr>
        <p:spPr>
          <a:xfrm>
            <a:off x="7379988" y="2898875"/>
            <a:ext cx="1008000" cy="3417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 w="12700" cap="flat" cmpd="sng">
            <a:solidFill>
              <a:srgbClr val="B3C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Grafana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监控看板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2" name="Google Shape;732;p66"/>
          <p:cNvSpPr/>
          <p:nvPr/>
        </p:nvSpPr>
        <p:spPr>
          <a:xfrm>
            <a:off x="7379988" y="3296755"/>
            <a:ext cx="1008000" cy="341700"/>
          </a:xfrm>
          <a:prstGeom prst="roundRect">
            <a:avLst>
              <a:gd name="adj" fmla="val 16667"/>
            </a:avLst>
          </a:prstGeom>
          <a:solidFill>
            <a:srgbClr val="B3CEF3"/>
          </a:solidFill>
          <a:ln w="12700" cap="flat" cmpd="sng">
            <a:solidFill>
              <a:srgbClr val="B3CE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SeaTalk</a:t>
            </a:r>
            <a:endParaRPr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i="0" u="none" strike="noStrike" cap="none">
                <a:solidFill>
                  <a:schemeClr val="dk1"/>
                </a:solidFill>
                <a:latin typeface="微软雅黑"/>
                <a:ea typeface="微软雅黑"/>
                <a:cs typeface="微软雅黑"/>
                <a:sym typeface="微软雅黑"/>
              </a:rPr>
              <a:t>实时告警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733" name="Google Shape;733;p66"/>
          <p:cNvCxnSpPr/>
          <p:nvPr/>
        </p:nvCxnSpPr>
        <p:spPr>
          <a:xfrm>
            <a:off x="1368031" y="2691168"/>
            <a:ext cx="637500" cy="0"/>
          </a:xfrm>
          <a:prstGeom prst="straightConnector1">
            <a:avLst/>
          </a:prstGeom>
          <a:noFill/>
          <a:ln w="1270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4" name="Google Shape;734;p66"/>
          <p:cNvCxnSpPr/>
          <p:nvPr/>
        </p:nvCxnSpPr>
        <p:spPr>
          <a:xfrm>
            <a:off x="1368031" y="3478781"/>
            <a:ext cx="637500" cy="0"/>
          </a:xfrm>
          <a:prstGeom prst="straightConnector1">
            <a:avLst/>
          </a:prstGeom>
          <a:noFill/>
          <a:ln w="1270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35" name="Google Shape;735;p66"/>
          <p:cNvCxnSpPr>
            <a:stCxn id="729" idx="3"/>
            <a:endCxn id="731" idx="1"/>
          </p:cNvCxnSpPr>
          <p:nvPr/>
        </p:nvCxnSpPr>
        <p:spPr>
          <a:xfrm rot="10800000" flipH="1">
            <a:off x="6037588" y="3069665"/>
            <a:ext cx="1342500" cy="104400"/>
          </a:xfrm>
          <a:prstGeom prst="curvedConnector3">
            <a:avLst>
              <a:gd name="adj1" fmla="val 49996"/>
            </a:avLst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36" name="Google Shape;736;p66"/>
          <p:cNvCxnSpPr>
            <a:stCxn id="729" idx="3"/>
            <a:endCxn id="732" idx="1"/>
          </p:cNvCxnSpPr>
          <p:nvPr/>
        </p:nvCxnSpPr>
        <p:spPr>
          <a:xfrm>
            <a:off x="6037588" y="3174065"/>
            <a:ext cx="1342500" cy="293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37" name="Google Shape;737;p66"/>
          <p:cNvCxnSpPr>
            <a:stCxn id="728" idx="3"/>
            <a:endCxn id="730" idx="1"/>
          </p:cNvCxnSpPr>
          <p:nvPr/>
        </p:nvCxnSpPr>
        <p:spPr>
          <a:xfrm rot="10800000" flipH="1">
            <a:off x="6037588" y="2691117"/>
            <a:ext cx="1336800" cy="55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738" name="Google Shape;738;p66"/>
          <p:cNvSpPr/>
          <p:nvPr/>
        </p:nvSpPr>
        <p:spPr>
          <a:xfrm>
            <a:off x="4356538" y="3778682"/>
            <a:ext cx="4554000" cy="1322400"/>
          </a:xfrm>
          <a:prstGeom prst="roundRect">
            <a:avLst>
              <a:gd name="adj" fmla="val 6236"/>
            </a:avLst>
          </a:pr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13366"/>
                </a:solidFill>
              </a:rPr>
              <a:t>优化演进</a:t>
            </a:r>
            <a:endParaRPr sz="1200" b="1">
              <a:solidFill>
                <a:srgbClr val="113366"/>
              </a:solidFill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233463" y="3772357"/>
            <a:ext cx="3951900" cy="1322400"/>
          </a:xfrm>
          <a:prstGeom prst="roundRect">
            <a:avLst>
              <a:gd name="adj" fmla="val 6236"/>
            </a:avLst>
          </a:pr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13366"/>
                </a:solidFill>
              </a:rPr>
              <a:t>核心价值</a:t>
            </a:r>
            <a:endParaRPr sz="1200" b="1">
              <a:solidFill>
                <a:srgbClr val="113366"/>
              </a:solidFill>
            </a:endParaRPr>
          </a:p>
        </p:txBody>
      </p:sp>
      <p:sp>
        <p:nvSpPr>
          <p:cNvPr id="740" name="Google Shape;740;p66"/>
          <p:cNvSpPr/>
          <p:nvPr/>
        </p:nvSpPr>
        <p:spPr>
          <a:xfrm>
            <a:off x="301413" y="4276122"/>
            <a:ext cx="1872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与 Feature Flow 对接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AI CR 作为发布质量门禁节点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66"/>
          <p:cNvSpPr/>
          <p:nvPr/>
        </p:nvSpPr>
        <p:spPr>
          <a:xfrm>
            <a:off x="2245413" y="4276122"/>
            <a:ext cx="1872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自动同步 Git 远程仓库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不依赖开发者本地环境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66"/>
          <p:cNvSpPr/>
          <p:nvPr/>
        </p:nvSpPr>
        <p:spPr>
          <a:xfrm>
            <a:off x="2245413" y="4760222"/>
            <a:ext cx="1872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更加适配 </a:t>
            </a:r>
            <a:r>
              <a:rPr lang="en-GB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SSC 业务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6"/>
          <p:cNvSpPr/>
          <p:nvPr/>
        </p:nvSpPr>
        <p:spPr>
          <a:xfrm>
            <a:off x="301413" y="4760222"/>
            <a:ext cx="1872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问题分级 P0/P1/P2、</a:t>
            </a:r>
            <a:r>
              <a:rPr lang="en-GB" sz="7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问题</a:t>
            </a: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追踪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按团队/项目维度趋势分析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66"/>
          <p:cNvSpPr/>
          <p:nvPr/>
        </p:nvSpPr>
        <p:spPr>
          <a:xfrm>
            <a:off x="4487463" y="4099663"/>
            <a:ext cx="1944000" cy="15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Phase 1 监控体系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66"/>
          <p:cNvSpPr/>
          <p:nvPr/>
        </p:nvSpPr>
        <p:spPr>
          <a:xfrm>
            <a:off x="4487463" y="4270522"/>
            <a:ext cx="194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进程 / 队列 / I/O / 业务 四维监控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Grafana + SeaTalk 告警 + 健康检查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66"/>
          <p:cNvSpPr/>
          <p:nvPr/>
        </p:nvSpPr>
        <p:spPr>
          <a:xfrm>
            <a:off x="6539463" y="4099663"/>
            <a:ext cx="2088000" cy="15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Phase 2 服务代码迁移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66"/>
          <p:cNvSpPr/>
          <p:nvPr/>
        </p:nvSpPr>
        <p:spPr>
          <a:xfrm>
            <a:off x="6539463" y="4270522"/>
            <a:ext cx="2088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剥离非 CR 模块（~70% 逻辑），迁移成 Go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专注 CR 服务，减少启动时间和维护成本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8" name="Google Shape;748;p66"/>
          <p:cNvSpPr/>
          <p:nvPr/>
        </p:nvSpPr>
        <p:spPr>
          <a:xfrm>
            <a:off x="4487463" y="4555287"/>
            <a:ext cx="1944000" cy="15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Phase 3 并发优化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66"/>
          <p:cNvSpPr/>
          <p:nvPr/>
        </p:nvSpPr>
        <p:spPr>
          <a:xfrm>
            <a:off x="4487463" y="4726146"/>
            <a:ext cx="1944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p-limit 配置化 + 分布式调度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连接池治理、请求超时与限流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66"/>
          <p:cNvSpPr/>
          <p:nvPr/>
        </p:nvSpPr>
        <p:spPr>
          <a:xfrm>
            <a:off x="6539463" y="4555287"/>
            <a:ext cx="2088000" cy="156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Phase 4 容错与兜底</a:t>
            </a:r>
            <a:endParaRPr sz="1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66"/>
          <p:cNvSpPr/>
          <p:nvPr/>
        </p:nvSpPr>
        <p:spPr>
          <a:xfrm>
            <a:off x="6539463" y="4726146"/>
            <a:ext cx="20880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外部调用熔断器（GitLab/LLM）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重试、代理关闭、限速恢复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66"/>
          <p:cNvSpPr/>
          <p:nvPr/>
        </p:nvSpPr>
        <p:spPr>
          <a:xfrm>
            <a:off x="301413" y="4101682"/>
            <a:ext cx="1872000" cy="1566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流水线无缝集成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3" name="Google Shape;753;p66"/>
          <p:cNvSpPr/>
          <p:nvPr/>
        </p:nvSpPr>
        <p:spPr>
          <a:xfrm>
            <a:off x="2245413" y="4101669"/>
            <a:ext cx="1872000" cy="1566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自动化，无需人工干预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66"/>
          <p:cNvSpPr/>
          <p:nvPr/>
        </p:nvSpPr>
        <p:spPr>
          <a:xfrm>
            <a:off x="301413" y="4582194"/>
            <a:ext cx="1872000" cy="1566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可度量的质量输出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5" name="Google Shape;755;p66"/>
          <p:cNvSpPr/>
          <p:nvPr/>
        </p:nvSpPr>
        <p:spPr>
          <a:xfrm>
            <a:off x="2245413" y="4583316"/>
            <a:ext cx="1872000" cy="156600"/>
          </a:xfrm>
          <a:prstGeom prst="roundRect">
            <a:avLst>
              <a:gd name="adj" fmla="val 16667"/>
            </a:avLst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适配业务线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p66"/>
          <p:cNvSpPr/>
          <p:nvPr/>
        </p:nvSpPr>
        <p:spPr>
          <a:xfrm rot="-5400000">
            <a:off x="913650" y="1851608"/>
            <a:ext cx="116700" cy="1052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7" name="Google Shape;757;p66"/>
          <p:cNvSpPr/>
          <p:nvPr/>
        </p:nvSpPr>
        <p:spPr>
          <a:xfrm rot="-5400000">
            <a:off x="4217350" y="581049"/>
            <a:ext cx="116700" cy="3590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8" name="Google Shape;758;p66"/>
          <p:cNvSpPr/>
          <p:nvPr/>
        </p:nvSpPr>
        <p:spPr>
          <a:xfrm rot="-5400000">
            <a:off x="7812750" y="1771570"/>
            <a:ext cx="116700" cy="1198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9" name="Google Shape;759;p66"/>
          <p:cNvSpPr/>
          <p:nvPr/>
        </p:nvSpPr>
        <p:spPr>
          <a:xfrm>
            <a:off x="359988" y="2939322"/>
            <a:ext cx="1008000" cy="256200"/>
          </a:xfrm>
          <a:prstGeom prst="rect">
            <a:avLst/>
          </a:prstGeom>
          <a:solidFill>
            <a:srgbClr val="11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chemeClr val="lt1"/>
                </a:solidFill>
                <a:latin typeface="微软雅黑"/>
                <a:ea typeface="微软雅黑"/>
                <a:cs typeface="微软雅黑"/>
                <a:sym typeface="微软雅黑"/>
              </a:rPr>
              <a:t>IBS 生码平台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60" name="Google Shape;760;p66"/>
          <p:cNvCxnSpPr/>
          <p:nvPr/>
        </p:nvCxnSpPr>
        <p:spPr>
          <a:xfrm>
            <a:off x="1368031" y="3072168"/>
            <a:ext cx="637500" cy="0"/>
          </a:xfrm>
          <a:prstGeom prst="straightConnector1">
            <a:avLst/>
          </a:prstGeom>
          <a:noFill/>
          <a:ln w="12700" cap="flat" cmpd="sng">
            <a:solidFill>
              <a:srgbClr val="11336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1" name="Google Shape;761;p66"/>
          <p:cNvSpPr txBox="1"/>
          <p:nvPr/>
        </p:nvSpPr>
        <p:spPr>
          <a:xfrm>
            <a:off x="290727" y="1427130"/>
            <a:ext cx="4402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i="1">
                <a:latin typeface="Montserrat"/>
                <a:ea typeface="Montserrat"/>
                <a:cs typeface="Montserrat"/>
                <a:sym typeface="Montserrat"/>
              </a:rPr>
              <a:t>端到端流程</a:t>
            </a:r>
            <a:endParaRPr sz="1000" b="1" i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与 Skynet AICR 合并 &amp; 共建整体能力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767" name="Google Shape;767;p67"/>
          <p:cNvSpPr/>
          <p:nvPr/>
        </p:nvSpPr>
        <p:spPr>
          <a:xfrm>
            <a:off x="334450" y="655224"/>
            <a:ext cx="8553600" cy="65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IBS AICR 后续会主要负责图中橙色块部分，聚焦在</a:t>
            </a:r>
            <a:r>
              <a:rPr lang="en-GB" sz="8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成本降低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、</a:t>
            </a:r>
            <a:r>
              <a:rPr lang="en-GB" sz="8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召回率提升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、远端 AICR 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上，同时</a:t>
            </a:r>
            <a:r>
              <a:rPr lang="en-GB" sz="800" b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完善 Skynet AICR 平台与业务的分层架构</a:t>
            </a:r>
            <a:r>
              <a:rPr lang="en-GB" sz="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，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当前部分结果：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成本降低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：帮助 Skynet 降低 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40%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 的 Token 成本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召回率提升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：帮助 Skynet 提升 </a:t>
            </a:r>
            <a:r>
              <a:rPr lang="en-GB" sz="800" b="1">
                <a:latin typeface="Montserrat"/>
                <a:ea typeface="Montserrat"/>
                <a:cs typeface="Montserrat"/>
                <a:sym typeface="Montserrat"/>
              </a:rPr>
              <a:t>10%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 的召回率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</a:pPr>
            <a:r>
              <a:rPr lang="en-GB" sz="8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远端 AICR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：逐步推动远端 CR 迁移到 Skynet 平台，并且实现其功能在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SSC 的落地，后续进一步</a:t>
            </a:r>
            <a:r>
              <a:rPr lang="en-GB" sz="800">
                <a:latin typeface="Montserrat"/>
                <a:ea typeface="Montserrat"/>
                <a:cs typeface="Montserrat"/>
                <a:sym typeface="Montserrat"/>
              </a:rPr>
              <a:t>覆盖更多的业务线，提高用户触达率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8" name="Google Shape;768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73525" y="1370665"/>
            <a:ext cx="8514427" cy="377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/>
        </p:nvSpPr>
        <p:spPr>
          <a:xfrm>
            <a:off x="614848" y="23592"/>
            <a:ext cx="82731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27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EE4D2D"/>
                </a:solidFill>
              </a:rPr>
              <a:t>IBS</a:t>
            </a:r>
            <a:r>
              <a:rPr lang="en-GB" b="1">
                <a:solidFill>
                  <a:srgbClr val="EE4D2D"/>
                </a:solidFill>
              </a:rPr>
              <a:t> AI CR </a:t>
            </a:r>
            <a:r>
              <a:rPr lang="en-GB" b="1">
                <a:solidFill>
                  <a:srgbClr val="EE4D2D"/>
                </a:solidFill>
              </a:rPr>
              <a:t>- </a:t>
            </a:r>
            <a:r>
              <a:rPr lang="en-GB" b="1">
                <a:solidFill>
                  <a:srgbClr val="EE4D2D"/>
                </a:solidFill>
              </a:rPr>
              <a:t>与 Skynet AICR 合并 &amp; 共建整体能力</a:t>
            </a:r>
            <a:endParaRPr b="1">
              <a:solidFill>
                <a:srgbClr val="EE4D2D"/>
              </a:solidFill>
            </a:endParaRPr>
          </a:p>
        </p:txBody>
      </p:sp>
      <p:sp>
        <p:nvSpPr>
          <p:cNvPr id="774" name="Google Shape;774;p68"/>
          <p:cNvSpPr/>
          <p:nvPr/>
        </p:nvSpPr>
        <p:spPr>
          <a:xfrm>
            <a:off x="353300" y="676402"/>
            <a:ext cx="8534700" cy="389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>
                <a:solidFill>
                  <a:srgbClr val="000000"/>
                </a:solidFill>
              </a:rPr>
              <a:t>与 Skynet A</a:t>
            </a:r>
            <a:r>
              <a:rPr lang="en-GB" sz="900" b="1"/>
              <a:t>I</a:t>
            </a:r>
            <a:r>
              <a:rPr lang="en-GB" sz="900" b="1">
                <a:solidFill>
                  <a:srgbClr val="000000"/>
                </a:solidFill>
              </a:rPr>
              <a:t>CR 合并</a:t>
            </a:r>
            <a:r>
              <a:rPr lang="en-GB" sz="900">
                <a:solidFill>
                  <a:srgbClr val="000000"/>
                </a:solidFill>
              </a:rPr>
              <a:t>：IBS AICR 与 Skynet AICR 合二为一，共建 AICR 能力中（主要负责 Skynet 成本降低、召回率提升事项） </a:t>
            </a:r>
            <a:endParaRPr sz="900">
              <a:solidFill>
                <a:srgbClr val="000000"/>
              </a:solidFill>
            </a:endParaRPr>
          </a:p>
        </p:txBody>
      </p:sp>
      <p:graphicFrame>
        <p:nvGraphicFramePr>
          <p:cNvPr id="775" name="Google Shape;775;p68"/>
          <p:cNvGraphicFramePr/>
          <p:nvPr/>
        </p:nvGraphicFramePr>
        <p:xfrm>
          <a:off x="353298" y="1107860"/>
          <a:ext cx="8534700" cy="3194650"/>
        </p:xfrm>
        <a:graphic>
          <a:graphicData uri="http://schemas.openxmlformats.org/drawingml/2006/table">
            <a:tbl>
              <a:tblPr>
                <a:noFill/>
                <a:tableStyleId>{F0759321-DC8F-42B9-8EFD-07616C4615D4}</a:tableStyleId>
              </a:tblPr>
              <a:tblGrid>
                <a:gridCol w="716250"/>
                <a:gridCol w="906325"/>
                <a:gridCol w="1966025"/>
                <a:gridCol w="2401350"/>
                <a:gridCol w="1713575"/>
                <a:gridCol w="831175"/>
              </a:tblGrid>
              <a:tr h="355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事项分类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目标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背景&amp;痛点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解法 &amp; Action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预期结果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当前状态</a:t>
                      </a:r>
                      <a:endParaRPr sz="900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3366"/>
                    </a:solidFill>
                  </a:tcPr>
                </a:tc>
              </a:tr>
              <a:tr h="785475">
                <a:tc row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深化能力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&amp; 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优化指标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降低成本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中大型需求，一次 AICR 审查需要耗费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20~30$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i="1">
                          <a:solidFill>
                            <a:srgbClr val="59595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2026.Q2 Cursor 定价策略变更后，每个开发者只有 40 美金的 Cursor 额度将无法支撑其如此高成本的 AICR 任务</a:t>
                      </a:r>
                      <a:endParaRPr sz="1300" i="1">
                        <a:solidFill>
                          <a:srgbClr val="59595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通过服务器管理审查流程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- 废弃 resume Agent 模式，降低重复的读写状态的 token 消耗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- 降低每批次工具调用数，从 ~15 轮降至 ～5 轮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建立全链路 token 消耗监控和优化，对每个工具调用的 token 进一步精细化压缩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中大型 AICR 审查，按 token 收费的成本平均降低 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40%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45818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Doing</a:t>
                      </a:r>
                      <a:endParaRPr sz="800" b="1">
                        <a:solidFill>
                          <a:srgbClr val="45818E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rgbClr val="666666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34625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提升召回率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当 LLM 处理复杂任务时，容易漏分析上下文，导致问题被遗漏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通过质检策略（例如，1000 行代码至少发现 N 个问题等机制），引导 LLM 进一步补充遗漏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召回率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整体从 </a:t>
                      </a: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 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提升至</a:t>
                      </a: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50%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45818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Doing</a:t>
                      </a:r>
                      <a:endParaRPr sz="800" b="1">
                        <a:solidFill>
                          <a:srgbClr val="BF9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427425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提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升采纳率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当前无论是 IBS AICR，还是 Skynet AICR，在采纳率上都还有比较大的提升空间</a:t>
                      </a: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工作流分批验收策略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代码上下文增强 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数据回流侧黑名单规则</a:t>
                      </a:r>
                      <a:endParaRPr sz="9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采纳率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整体从 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60%+ 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提升至 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65%+</a:t>
                      </a:r>
                      <a:endParaRPr sz="9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BF9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Waiting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71385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平台与业务分层架构优化</a:t>
                      </a:r>
                      <a:endParaRPr sz="9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形成供应链业务标杆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平台侧无法很好满足各业务侧的个性化场景诉求，如读取供应链 YAPI 文档，读取知识库，不同业务方可能需要不同的解法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接入 YAPI、FE/BE TD、业务知识库等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业务层审查结果的回流优化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沉淀通用业务接入方案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结合业务现状，在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供应链形成 AICR 业务标杆，AICR 整体落地效果好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优化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平台与业务分层架构，后续其他业务部门能更好接入 Skynet AICR</a:t>
                      </a:r>
                      <a:endParaRPr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45818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Doing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>
                        <a:solidFill>
                          <a:srgbClr val="595959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  <a:tr h="565850">
                <a:tc vMerge="1"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远端 CR 服务</a:t>
                      </a:r>
                      <a:endParaRPr sz="800" b="1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当前服务并发瓶颈，仅能同时并发 </a:t>
                      </a:r>
                      <a:r>
                        <a:rPr lang="en-GB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次审查。而 FeatureFlow 后续要接入更多业务线，以及远端场景将接入 FE 生码的流程等，并发要求会更加高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将远端 CR 从当前服务中单独拆出一个干净的服务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使用 Go 语言重写服务，可复用克隆仓库的资源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 </a:t>
                      </a: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整体服务迁移至 Skynet</a:t>
                      </a: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</a:t>
                      </a: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SSC 内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支持远端 CR 同时并发请求 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20+</a:t>
                      </a:r>
                      <a:r>
                        <a:rPr lang="en-GB" sz="8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次大型审查任务</a:t>
                      </a: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；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基于 Skynet AICR，提供更高的并发能力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800" b="1">
                          <a:solidFill>
                            <a:srgbClr val="45818E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Doing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rgbClr val="00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0000" marR="90000" marT="90000" marB="900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/>
          <p:nvPr/>
        </p:nvSpPr>
        <p:spPr>
          <a:xfrm>
            <a:off x="4482913" y="2376100"/>
            <a:ext cx="178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 </a:t>
            </a:r>
            <a:endParaRPr sz="1100" b="0" i="0" u="none" strike="noStrike" cap="none">
              <a:solidFill>
                <a:srgbClr val="000000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81" name="Google Shape;781;p69"/>
          <p:cNvSpPr txBox="1"/>
          <p:nvPr/>
        </p:nvSpPr>
        <p:spPr>
          <a:xfrm>
            <a:off x="512100" y="2448303"/>
            <a:ext cx="81198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None/>
            </a:pPr>
            <a:r>
              <a:rPr lang="en-GB" sz="4500">
                <a:solidFill>
                  <a:schemeClr val="dk1"/>
                </a:solidFill>
              </a:rPr>
              <a:t>Thank You</a:t>
            </a:r>
            <a:endParaRPr sz="45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F5823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8071</Words>
  <Application>WPS 演示</Application>
  <PresentationFormat/>
  <Paragraphs>805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宋体</vt:lpstr>
      <vt:lpstr>Wingdings</vt:lpstr>
      <vt:lpstr>Arial</vt:lpstr>
      <vt:lpstr>Calibri</vt:lpstr>
      <vt:lpstr>Helvetica Neue</vt:lpstr>
      <vt:lpstr>Times New Roman</vt:lpstr>
      <vt:lpstr>Roboto</vt:lpstr>
      <vt:lpstr>Play</vt:lpstr>
      <vt:lpstr>Thonburi</vt:lpstr>
      <vt:lpstr>Open Sans</vt:lpstr>
      <vt:lpstr>Montserrat</vt:lpstr>
      <vt:lpstr>微软雅黑</vt:lpstr>
      <vt:lpstr>汉仪旗黑</vt:lpstr>
      <vt:lpstr>微软雅黑</vt:lpstr>
      <vt:lpstr>宋体</vt:lpstr>
      <vt:lpstr>Arial Unicode MS</vt:lpstr>
      <vt:lpstr>宋体-简</vt:lpstr>
      <vt:lpstr>儷宋 Pro</vt:lpstr>
      <vt:lpstr>Apple Color Emoji</vt:lpstr>
      <vt:lpstr>Office Theme</vt:lpstr>
      <vt:lpstr>IBS AI CR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IBS AI CR</dc:title>
  <dc:creator/>
  <cp:lastModifiedBy>qi.qiao</cp:lastModifiedBy>
  <cp:revision>1</cp:revision>
  <dcterms:created xsi:type="dcterms:W3CDTF">2026-07-15T02:06:41Z</dcterms:created>
  <dcterms:modified xsi:type="dcterms:W3CDTF">2026-07-15T02:06:41Z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2052-5.7.2.8094</vt:lpwstr>
  </property>
</Properties>
</file>