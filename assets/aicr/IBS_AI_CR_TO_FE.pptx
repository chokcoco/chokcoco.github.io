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Lato"/>
      <p:regular r:id="rId40"/>
      <p:bold r:id="rId41"/>
      <p:italic r:id="rId42"/>
      <p:boldItalic r:id="rId43"/>
    </p:embeddedFont>
    <p:embeddedFont>
      <p:font typeface="Helvetica Neue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9C24D2-3EEB-49A2-8AAC-4C06B76EBC5C}">
  <a:tblStyle styleId="{F69C24D2-3EEB-49A2-8AAC-4C06B76EBC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44" Type="http://schemas.openxmlformats.org/officeDocument/2006/relationships/font" Target="fonts/HelveticaNeue-regular.fntdata"/><Relationship Id="rId43" Type="http://schemas.openxmlformats.org/officeDocument/2006/relationships/font" Target="fonts/Lato-boldItalic.fntdata"/><Relationship Id="rId46" Type="http://schemas.openxmlformats.org/officeDocument/2006/relationships/font" Target="fonts/HelveticaNeue-italic.fntdata"/><Relationship Id="rId45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regular.fntdata"/><Relationship Id="rId47" Type="http://schemas.openxmlformats.org/officeDocument/2006/relationships/font" Target="fonts/HelveticaNeue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34a1e959c_0_2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34a1e959c_0_2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01828d73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01828d7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13366"/>
                </a:solidFill>
                <a:latin typeface="Courier New"/>
                <a:ea typeface="Courier New"/>
                <a:cs typeface="Courier New"/>
                <a:sym typeface="Courier New"/>
              </a:rPr>
              <a:t>今天的分享分为五个部分：</a:t>
            </a:r>
            <a:endParaRPr sz="1000">
              <a:solidFill>
                <a:srgbClr val="1133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13366"/>
                </a:solidFill>
                <a:latin typeface="Courier New"/>
                <a:ea typeface="Courier New"/>
                <a:cs typeface="Courier New"/>
                <a:sym typeface="Courier New"/>
              </a:rPr>
              <a:t>为什么需要 AI CR、</a:t>
            </a:r>
            <a:endParaRPr sz="1000">
              <a:solidFill>
                <a:srgbClr val="1133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13366"/>
                </a:solidFill>
                <a:latin typeface="Courier New"/>
                <a:ea typeface="Courier New"/>
                <a:cs typeface="Courier New"/>
                <a:sym typeface="Courier New"/>
              </a:rPr>
              <a:t>IBS AI CR 是什么、</a:t>
            </a:r>
            <a:endParaRPr sz="1000">
              <a:solidFill>
                <a:srgbClr val="1133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13366"/>
                </a:solidFill>
                <a:latin typeface="Courier New"/>
                <a:ea typeface="Courier New"/>
                <a:cs typeface="Courier New"/>
                <a:sym typeface="Courier New"/>
              </a:rPr>
              <a:t>核心实现、</a:t>
            </a:r>
            <a:endParaRPr sz="1000">
              <a:solidFill>
                <a:srgbClr val="1133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13366"/>
                </a:solidFill>
                <a:latin typeface="Courier New"/>
                <a:ea typeface="Courier New"/>
                <a:cs typeface="Courier New"/>
                <a:sym typeface="Courier New"/>
              </a:rPr>
              <a:t>推广运营、</a:t>
            </a:r>
            <a:endParaRPr sz="1000">
              <a:solidFill>
                <a:srgbClr val="1133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13366"/>
                </a:solidFill>
                <a:latin typeface="Courier New"/>
                <a:ea typeface="Courier New"/>
                <a:cs typeface="Courier New"/>
                <a:sym typeface="Courier New"/>
              </a:rPr>
              <a:t>以及未来规划。</a:t>
            </a:r>
            <a:endParaRPr sz="1000">
              <a:solidFill>
                <a:srgbClr val="1133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13366"/>
                </a:solidFill>
                <a:latin typeface="Courier New"/>
                <a:ea typeface="Courier New"/>
                <a:cs typeface="Courier New"/>
                <a:sym typeface="Courier New"/>
              </a:rPr>
              <a:t>我们先从 Why 开始。</a:t>
            </a:r>
            <a:endParaRPr sz="1000"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301828d7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301828d7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QA 问"你自己没测过吗？" 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低级 Bug 复盘找不到改进措施 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No-Need-QA 需求心里没底 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给新人 CR 说过很多遍的问题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2eac6387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2eac6387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这些问题有什么共同特点？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**</a:t>
            </a:r>
            <a:r>
              <a:rPr lang="zh-CN">
                <a:solidFill>
                  <a:srgbClr val="113366"/>
                </a:solidFill>
              </a:rPr>
              <a:t>低级错误</a:t>
            </a:r>
            <a:r>
              <a:rPr lang="zh-CN">
                <a:solidFill>
                  <a:srgbClr val="113366"/>
                </a:solidFill>
              </a:rPr>
              <a:t>**</a:t>
            </a:r>
            <a:r>
              <a:rPr lang="zh-CN">
                <a:solidFill>
                  <a:srgbClr val="113366"/>
                </a:solidFill>
              </a:rPr>
              <a:t>，不涉及复杂业务逻辑；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**易忽略**，类似的问题反复发生；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**易发现**，代码审查一定能发现。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2eac63877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2eac6387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这些问题的共同特点：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**低级、高频、重复**。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如果人来做，需要 0.5 到 1 天。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301828d73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301828d73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2eac63877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2eac63877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af406411c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af406411c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看完 Demo，大家可能会问：为什么不用公司的 CAT？我们来对比一下。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"CAT 有先发优势，基础功能已基本提供完备。但也有一些限制。"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"首先，CAT 对前端代码审查的精确度不高。不支持 JavaScript 和 Java 审查规则，暂无法支持供应链的业务知识，模型选用较为落后。"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"其次，CAT 无法有效结合工作流程。CR 左移不完全支持，CAT 的本地模式和预想不符，无法适配供应链的研发规范，数据化建设薄弱。"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"第三，体验不佳。仅支持 5 个 comments 每 MR，大 MR 完全不够用。MCP 使用效果不佳，前置要求多，且 CR 完成度差。"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"所以我们决定自建 IBS AI CR。"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34a1e959c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34a1e959c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看完 Demo，大家可能会问：为什么不用公司的 CAT？我们来对比一下。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"CAT 有先发优势，基础功能已基本提供完备。但也有一些限制。"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"首先，CAT 对前端代码审查的精确度不高。不支持 JavaScript 和 Java 审查规则，暂无法支持供应链的业务知识，模型选用较为落后。"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"其次，CAT 无法有效结合工作流程。CR 左移不完全支持，CAT 的本地模式和预想不符，无法适配供应链的研发规范，数据化建设薄弱。"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"第三，体验不佳。仅支持 5 个 comments 每 MR，大 MR 完全不够用。MCP 使用效果不佳，前置要求多，且 CR 完成度差。"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"所以我们决定自建 IBS AI CR。"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34a1e959c_0_1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34a1e959c_0_1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"那为什么选择本地 CR 而不是远端 CR？"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"左边是远端 CR 结果。远端 CR 缺乏代码上下文的关联性，只会分析 Diff，仅检查修改的代码片段，无法理解完整的业务逻辑和变量作用域。可以看到，</a:t>
            </a:r>
            <a:r>
              <a:rPr b="1" lang="zh-CN">
                <a:solidFill>
                  <a:srgbClr val="113366"/>
                </a:solidFill>
              </a:rPr>
              <a:t>未发现问题</a:t>
            </a:r>
            <a:r>
              <a:rPr lang="zh-CN">
                <a:solidFill>
                  <a:srgbClr val="113366"/>
                </a:solidFill>
              </a:rPr>
              <a:t>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"右边是本地 CR 结果。本地 CR 可以结合上下文以及更有优秀的大模型，结合完整项目上下文，能够识别变量冲突、逻辑错误等复杂问题。可以看到，</a:t>
            </a:r>
            <a:r>
              <a:rPr b="1" lang="zh-CN">
                <a:solidFill>
                  <a:srgbClr val="113366"/>
                </a:solidFill>
              </a:rPr>
              <a:t>发现问题</a:t>
            </a:r>
            <a:r>
              <a:rPr lang="zh-CN">
                <a:solidFill>
                  <a:srgbClr val="113366"/>
                </a:solidFill>
              </a:rPr>
              <a:t>，危险程度 5 分，问题类型是变量定义冲突导致逻辑错误，并给出了修复建议。"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"这就是本地 CR 的优势：能看到更多上下文，发现更深层次的问题。"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34a1e959c_0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34a1e959c_0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"IBS AI CR 经历了四个阶段的演进。"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STEP 01：</a:t>
            </a:r>
            <a:r>
              <a:rPr lang="zh-CN">
                <a:solidFill>
                  <a:srgbClr val="113366"/>
                </a:solidFill>
              </a:rPr>
              <a:t>2025 年 Q2，</a:t>
            </a:r>
            <a:r>
              <a:rPr b="1" lang="zh-CN">
                <a:solidFill>
                  <a:srgbClr val="113366"/>
                </a:solidFill>
              </a:rPr>
              <a:t>远端 CR</a:t>
            </a:r>
            <a:r>
              <a:rPr lang="zh-CN">
                <a:solidFill>
                  <a:srgbClr val="113366"/>
                </a:solidFill>
              </a:rPr>
              <a:t>。使用方式是把 AI 审查建议评论到 MR 上。特点是问题发现太晚，建议与上下文割裂。采纳率只有 10%，较差。"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STEP 02：</a:t>
            </a:r>
            <a:r>
              <a:rPr lang="zh-CN">
                <a:solidFill>
                  <a:srgbClr val="113366"/>
                </a:solidFill>
              </a:rPr>
              <a:t>2025 年 Q3，从远端 CR 到 </a:t>
            </a:r>
            <a:r>
              <a:rPr b="1" lang="zh-CN">
                <a:solidFill>
                  <a:srgbClr val="113366"/>
                </a:solidFill>
              </a:rPr>
              <a:t>本地 Cursor CR</a:t>
            </a:r>
            <a:r>
              <a:rPr lang="zh-CN">
                <a:solidFill>
                  <a:srgbClr val="113366"/>
                </a:solidFill>
              </a:rPr>
              <a:t>。在 Cursor IDE 审查代码，建议直接输出到对话中，支持自动修复。特点是结合本地工程代码上下文，提交前发现问题并修复。但不支持大任务，采纳率低，没有卡点机制，需求覆盖率低。采纳率提升到 30%，有点准。"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STEP 03：</a:t>
            </a:r>
            <a:r>
              <a:rPr lang="zh-CN">
                <a:solidFill>
                  <a:srgbClr val="113366"/>
                </a:solidFill>
              </a:rPr>
              <a:t>2025 年 Q4，</a:t>
            </a:r>
            <a:r>
              <a:rPr b="1" lang="zh-CN">
                <a:solidFill>
                  <a:srgbClr val="113366"/>
                </a:solidFill>
              </a:rPr>
              <a:t>工程化 + 流程化</a:t>
            </a:r>
            <a:r>
              <a:rPr lang="zh-CN">
                <a:solidFill>
                  <a:srgbClr val="113366"/>
                </a:solidFill>
              </a:rPr>
              <a:t>。通过 CLI 自动触发 CR，可以使用 IDE 修复代码、把建议评论到 MR 上。特点是架构可靠性设计：任务编排、链式提示词、质检、数据；流程卡点设计：本地卡点、远端卡点、周报邮件。但缺乏指标收集机制和数据回流。采纳率提升到 60%，比较准。"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STEP 04：</a:t>
            </a:r>
            <a:r>
              <a:rPr lang="zh-CN">
                <a:solidFill>
                  <a:srgbClr val="113366"/>
                </a:solidFill>
              </a:rPr>
              <a:t>未来，</a:t>
            </a:r>
            <a:r>
              <a:rPr b="1" lang="zh-CN">
                <a:solidFill>
                  <a:srgbClr val="113366"/>
                </a:solidFill>
              </a:rPr>
              <a:t>数据驱动进化</a:t>
            </a:r>
            <a:r>
              <a:rPr lang="zh-CN">
                <a:solidFill>
                  <a:srgbClr val="113366"/>
                </a:solidFill>
              </a:rPr>
              <a:t>。指标自动收集、建设基准测试集、建设动态测试集、评估 + 数据回流。目标采纳率 80%，召回率 60%。"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"这是我们的演进核心：从远端到本地实现可修复，从裸 AI 到工程化实现防偷懒，从静态规则到数据驱动实现自迭代。"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301828d7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301828d7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34a1e959c_0_1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34a1e959c_0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左边是用户发起 IBS CR 后，背后发生的全流程时序图。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"我们从上往下看，整个流程分为四个阶段：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1：收集代码+自定义审查规则</a:t>
            </a:r>
            <a:r>
              <a:rPr lang="zh-CN">
                <a:solidFill>
                  <a:srgbClr val="113366"/>
                </a:solidFill>
              </a:rPr>
              <a:t>。用户执行 </a:t>
            </a:r>
            <a:r>
              <a:rPr lang="zh-CN">
                <a:solidFill>
                  <a:srgbClr val="113366"/>
                </a:solidFill>
                <a:highlight>
                  <a:srgbClr val="F0F0F0"/>
                </a:highlight>
              </a:rPr>
              <a:t>ibs cr</a:t>
            </a:r>
            <a:r>
              <a:rPr lang="zh-CN">
                <a:solidFill>
                  <a:srgbClr val="113366"/>
                </a:solidFill>
              </a:rPr>
              <a:t>，CLI 收集 Rules 和 Diff，然后初始化会话，调起 Cursor。这个阶段的核心是</a:t>
            </a:r>
            <a:r>
              <a:rPr b="1" lang="zh-CN">
                <a:solidFill>
                  <a:srgbClr val="113366"/>
                </a:solidFill>
              </a:rPr>
              <a:t>收集</a:t>
            </a:r>
            <a:r>
              <a:rPr lang="zh-CN">
                <a:solidFill>
                  <a:srgbClr val="113366"/>
                </a:solidFill>
              </a:rPr>
              <a:t>：收集代码变更、收集项目的 Cursor Rules。"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2：</a:t>
            </a:r>
            <a:r>
              <a:rPr lang="zh-CN">
                <a:solidFill>
                  <a:srgbClr val="113366"/>
                </a:solidFill>
              </a:rPr>
              <a:t>批次审查的 loop：</a:t>
            </a:r>
            <a:endParaRPr>
              <a:solidFill>
                <a:srgbClr val="113366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366"/>
              </a:buClr>
              <a:buSzPts val="1100"/>
              <a:buFont typeface="Arial"/>
              <a:buChar char="●"/>
            </a:pPr>
            <a:r>
              <a:rPr lang="zh-CN">
                <a:solidFill>
                  <a:srgbClr val="113366"/>
                </a:solidFill>
              </a:rPr>
              <a:t>步骤 3：获取任务 - Server 下发当前批次的代码</a:t>
            </a:r>
            <a:endParaRPr>
              <a:solidFill>
                <a:srgbClr val="113366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1100"/>
              <a:buFont typeface="Arial"/>
              <a:buChar char="●"/>
            </a:pPr>
            <a:r>
              <a:rPr lang="zh-CN">
                <a:solidFill>
                  <a:srgbClr val="113366"/>
                </a:solidFill>
              </a:rPr>
              <a:t>步骤 4：编排 + 提示词 - Server 动态生成审查提示词</a:t>
            </a:r>
            <a:endParaRPr>
              <a:solidFill>
                <a:srgbClr val="113366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1100"/>
              <a:buFont typeface="Arial"/>
              <a:buChar char="●"/>
            </a:pPr>
            <a:r>
              <a:rPr lang="zh-CN">
                <a:solidFill>
                  <a:srgbClr val="113366"/>
                </a:solidFill>
              </a:rPr>
              <a:t>步骤 5：提交结果 - AI 提交审查结果</a:t>
            </a:r>
            <a:endParaRPr>
              <a:solidFill>
                <a:srgbClr val="113366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1100"/>
              <a:buFont typeface="Arial"/>
              <a:buChar char="●"/>
            </a:pPr>
            <a:r>
              <a:rPr lang="zh-CN">
                <a:solidFill>
                  <a:srgbClr val="113366"/>
                </a:solidFill>
              </a:rPr>
              <a:t>步骤 6：质检 + 持久化 - Server 验证 AI 有没有偷懒，通过后持久化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"这个循环会一直执行，直到所有批次都审查完毕。最后输出建议和修复。"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3：</a:t>
            </a:r>
            <a:r>
              <a:rPr lang="zh-CN">
                <a:solidFill>
                  <a:srgbClr val="113366"/>
                </a:solidFill>
              </a:rPr>
              <a:t>MR Webhook 触发审查、生成审查报告。这是远端卡点的实现。"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4：数据回流设计</a:t>
            </a:r>
            <a:r>
              <a:rPr lang="zh-CN">
                <a:solidFill>
                  <a:srgbClr val="113366"/>
                </a:solidFill>
              </a:rPr>
              <a:t>。</a:t>
            </a:r>
            <a:r>
              <a:rPr lang="zh-CN">
                <a:solidFill>
                  <a:srgbClr val="113366"/>
                </a:solidFill>
              </a:rPr>
              <a:t>收集 AI CR Comments、收集人工 CR Comments、收集测试 Bug，然后通过 LLM-as-a-Judge 评估，沉淀到测试集，最后驱动规则自迭代。"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34a1e959c_0_1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34a1e959c_0_1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34a1e959c_0_1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34a1e959c_0_1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34a1e959c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34a1e959c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6 大类：安全、规范、性能、可维护、可扩展、健壮 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4 个评分等级：2、3、4、5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规则来源：通用规则 + 项目自定义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301828d7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301828d7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11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规则定义好了，但 AI 真的会认真执行吗？这就引出了我们要解决的核心问题：AI 偷懒。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301828d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301828d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11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分析一下 AI 偷懒的根本原因。</a:t>
            </a:r>
            <a:endParaRPr sz="1200">
              <a:solidFill>
                <a:srgbClr val="1133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301828d7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301828d7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11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基于这个结论，我们设计了防偷懒的架构。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301828d73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b301828d73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让 AI 不偷懒是第一步，但怎么验证 AI 没偷懒？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34a1e959c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b34a1e959c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这些策略的效果如何？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af406411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af406411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这些策略的效果如何？</a:t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301828d7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301828d7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301828d7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301828d7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301828d7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301828d7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本地卡点</a:t>
            </a:r>
            <a:r>
              <a:rPr lang="zh-CN">
                <a:solidFill>
                  <a:srgbClr val="113366"/>
                </a:solidFill>
              </a:rPr>
              <a:t>：提交代码前，触发 pre-push 钩子。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113366"/>
                </a:solidFill>
              </a:rPr>
              <a:t>"右边是实际截图，执行 git push 后，IBS CLI 自动启动 CR Shift-Left 工作流。"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13366"/>
                </a:solidFill>
              </a:rPr>
              <a:t>"</a:t>
            </a:r>
            <a:r>
              <a:rPr b="1" lang="zh-CN">
                <a:solidFill>
                  <a:srgbClr val="113366"/>
                </a:solidFill>
              </a:rPr>
              <a:t>远端卡点</a:t>
            </a:r>
            <a:r>
              <a:rPr lang="zh-CN">
                <a:solidFill>
                  <a:srgbClr val="113366"/>
                </a:solidFill>
              </a:rPr>
              <a:t>：创建 MR 时，提供 AI CR 覆盖情况。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11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"远端卡点，只显示覆盖情况，由合码角色决策。如果不合入，通知开发先完成 AI CR 后再合入；如果允许合入，代码合入，流程继续。"</a:t>
            </a:r>
            <a:endParaRPr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3366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34a1e959c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b34a1e959c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34a1e959c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b34a1e959c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301828d73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301828d7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34a1e959c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b34a1e959c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b34a1e959c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b34a1e959c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301828d73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b301828d73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b34a1e959c_0_5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b34a1e959c_0_5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5786" y="-5761"/>
            <a:ext cx="9198000" cy="51624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531700" y="3550998"/>
            <a:ext cx="3043200" cy="37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None/>
              <a:defRPr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Clr>
                <a:srgbClr val="FFFFFF"/>
              </a:buClr>
              <a:buSzPts val="2200"/>
              <a:buFont typeface="Open Sans"/>
              <a:buNone/>
              <a:defRPr b="1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526000" y="1900050"/>
            <a:ext cx="5733600" cy="15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Open Sans"/>
              <a:buNone/>
              <a:defRPr b="1" sz="5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Image"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346" y="503253"/>
            <a:ext cx="1026730" cy="48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2210" y="-9506"/>
            <a:ext cx="3345643" cy="516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Photo - Horizontal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3586275" y="4927472"/>
            <a:ext cx="19713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rPr lang="zh-CN" sz="7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Private &amp; Confidential</a:t>
            </a:r>
            <a:endParaRPr sz="7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79725" y="379375"/>
            <a:ext cx="5077800" cy="8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000"/>
              <a:buFont typeface="Open Sans"/>
              <a:buNone/>
              <a:defRPr b="1" sz="40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65" name="Google Shape;6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2356" y="459216"/>
            <a:ext cx="653862" cy="619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875" y="0"/>
            <a:ext cx="2858674" cy="514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72950" y="1254225"/>
            <a:ext cx="6751800" cy="3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Photo - Vertical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3586275" y="4927472"/>
            <a:ext cx="19713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rPr lang="zh-CN" sz="7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Private &amp; Confidential</a:t>
            </a:r>
            <a:endParaRPr sz="7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526000" y="1900050"/>
            <a:ext cx="5733600" cy="15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b="1"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300"/>
              <a:buFont typeface="Open Sans"/>
              <a:buNone/>
              <a:defRPr sz="43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cxnSp>
        <p:nvCxnSpPr>
          <p:cNvPr id="71" name="Google Shape;71;p16"/>
          <p:cNvCxnSpPr/>
          <p:nvPr/>
        </p:nvCxnSpPr>
        <p:spPr>
          <a:xfrm flipH="1" rot="10800000">
            <a:off x="633618" y="3407487"/>
            <a:ext cx="734700" cy="600"/>
          </a:xfrm>
          <a:prstGeom prst="straightConnector1">
            <a:avLst/>
          </a:prstGeom>
          <a:noFill/>
          <a:ln cap="flat" cmpd="sng" w="228600">
            <a:solidFill>
              <a:srgbClr val="113366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2" name="Google Shape;7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811" y="0"/>
            <a:ext cx="2733399" cy="5143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06" y="450084"/>
            <a:ext cx="653862" cy="619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tw.piliapp.com/symbol/tick/" TargetMode="External"/><Relationship Id="rId10" Type="http://schemas.openxmlformats.org/officeDocument/2006/relationships/hyperlink" Target="https://tw.piliapp.com/symbol/tick/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.garena.com/shopee/bg-logistics/b2c/retail-fe/scm-execution/-/merge_requests/1410" TargetMode="External"/><Relationship Id="rId4" Type="http://schemas.openxmlformats.org/officeDocument/2006/relationships/image" Target="../media/image17.png"/><Relationship Id="rId9" Type="http://schemas.openxmlformats.org/officeDocument/2006/relationships/hyperlink" Target="https://tw.piliapp.com/symbol/tick/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hyperlink" Target="https://tw.piliapp.com/symbol/tick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TQ0_DUW_qjyEJejmBfTuNGYSqC07zVu8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tw.piliapp.com/symbol/tick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tw.piliapp.com/symbol/tick/" TargetMode="External"/><Relationship Id="rId4" Type="http://schemas.openxmlformats.org/officeDocument/2006/relationships/hyperlink" Target="https://tw.piliapp.com/symbol/tick/" TargetMode="External"/><Relationship Id="rId5" Type="http://schemas.openxmlformats.org/officeDocument/2006/relationships/hyperlink" Target="https://tw.piliapp.com/symbol/tick/" TargetMode="External"/><Relationship Id="rId6" Type="http://schemas.openxmlformats.org/officeDocument/2006/relationships/hyperlink" Target="https://tw.piliapp.com/symbol/tick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531700" y="3550998"/>
            <a:ext cx="3043200" cy="37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zh-CN" sz="1900">
                <a:solidFill>
                  <a:schemeClr val="lt1"/>
                </a:solidFill>
              </a:rPr>
              <a:t>2025-12-25 / GuoHua.Liang</a:t>
            </a:r>
            <a:endParaRPr/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526000" y="1900050"/>
            <a:ext cx="5733600" cy="15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lt1"/>
                </a:solidFill>
              </a:rPr>
              <a:t>IBS AI CR 分享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目录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6298700" y="1185638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01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2490075" y="1185638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为什么需要 AI CR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490075" y="1851447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IBS AI CR 是什么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6298700" y="1851447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02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2490075" y="251725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核心实现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6298700" y="251725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03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2490075" y="318306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推广运营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6298700" y="318306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04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2490075" y="3848875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未来规划</a:t>
            </a:r>
            <a:endParaRPr b="1" sz="20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298700" y="3848875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05</a:t>
            </a:r>
            <a:endParaRPr b="1" sz="2000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2159550" y="1145437"/>
            <a:ext cx="4939200" cy="6198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目录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6298700" y="1185638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01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2490075" y="1185638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为什么需要 </a:t>
            </a:r>
            <a:r>
              <a:rPr b="1" lang="zh-CN" sz="2000">
                <a:solidFill>
                  <a:schemeClr val="lt1"/>
                </a:solidFill>
              </a:rPr>
              <a:t>AI</a:t>
            </a:r>
            <a:r>
              <a:rPr b="1" lang="zh-CN" sz="2000">
                <a:solidFill>
                  <a:schemeClr val="lt1"/>
                </a:solidFill>
              </a:rPr>
              <a:t> CR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D9D9"/>
                </a:solidFill>
              </a:rPr>
              <a:t>从真实案例出发，理解 AI CR 的价值</a:t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490075" y="1851447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IBS AI CR 是什么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6298700" y="1851447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02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2490075" y="251725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核心实现</a:t>
            </a:r>
            <a:endParaRPr b="1" sz="20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6298700" y="251725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03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2490075" y="318306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推广运营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6298700" y="318306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04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490075" y="3848875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未来规划</a:t>
            </a:r>
            <a:endParaRPr b="1" sz="20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298700" y="3848875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05</a:t>
            </a:r>
            <a:endParaRPr b="1" sz="2000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在开始之前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666666"/>
                </a:solidFill>
              </a:rPr>
              <a:t>“如果你有过这些经历，那么今天的分享可能会对你有帮助”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923800" y="1203188"/>
            <a:ext cx="378000" cy="378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1366400" y="1183225"/>
            <a:ext cx="685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有没有被 QA 同学问过：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EE4D2D"/>
                </a:solidFill>
              </a:rPr>
              <a:t>“这个问题你自己没有测过吗？”</a:t>
            </a:r>
            <a:endParaRPr b="1" sz="1600">
              <a:solidFill>
                <a:srgbClr val="EE4D2D"/>
              </a:solidFill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923800" y="2057330"/>
            <a:ext cx="378000" cy="378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1366400" y="2037368"/>
            <a:ext cx="685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有没有因为一个很低级的 Bug 被要求复盘</a:t>
            </a:r>
            <a:r>
              <a:rPr lang="zh-CN" sz="1600">
                <a:solidFill>
                  <a:schemeClr val="dk2"/>
                </a:solidFill>
              </a:rPr>
              <a:t>：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EE4D2D"/>
                </a:solidFill>
              </a:rPr>
              <a:t>“</a:t>
            </a:r>
            <a:r>
              <a:rPr b="1" lang="zh-CN" sz="1600">
                <a:solidFill>
                  <a:srgbClr val="EE4D2D"/>
                </a:solidFill>
              </a:rPr>
              <a:t>事后复盘找不到真正有效的改进措施，只能要求自己下次细心一点～</a:t>
            </a:r>
            <a:r>
              <a:rPr b="1" lang="zh-CN" sz="1600">
                <a:solidFill>
                  <a:srgbClr val="EE4D2D"/>
                </a:solidFill>
              </a:rPr>
              <a:t>”</a:t>
            </a:r>
            <a:endParaRPr b="1" sz="1600">
              <a:solidFill>
                <a:srgbClr val="EE4D2D"/>
              </a:solidFill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923800" y="4086813"/>
            <a:ext cx="378000" cy="378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1366400" y="4066850"/>
            <a:ext cx="685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给新人 CR 的时候有没有想过：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“</a:t>
            </a:r>
            <a:r>
              <a:rPr b="1" lang="zh-CN" sz="1600">
                <a:solidFill>
                  <a:srgbClr val="EE4D2D"/>
                </a:solidFill>
              </a:rPr>
              <a:t>这些问题我已经说过很多遍了～</a:t>
            </a:r>
            <a:r>
              <a:rPr lang="zh-CN" sz="1600">
                <a:solidFill>
                  <a:schemeClr val="dk2"/>
                </a:solidFill>
              </a:rPr>
              <a:t>”</a:t>
            </a:r>
            <a:endParaRPr b="1" sz="1600">
              <a:solidFill>
                <a:srgbClr val="EE4D2D"/>
              </a:solidFill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923800" y="3097238"/>
            <a:ext cx="378000" cy="378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1366400" y="3077275"/>
            <a:ext cx="685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开发 No-Need-QA 的需求时有没有想过：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2"/>
                </a:solidFill>
              </a:rPr>
              <a:t>“</a:t>
            </a:r>
            <a:r>
              <a:rPr b="1" lang="zh-CN" sz="1600">
                <a:solidFill>
                  <a:srgbClr val="EE4D2D"/>
                </a:solidFill>
              </a:rPr>
              <a:t>没有 QA 来帮自己兜底，会不会有什么 Bug 没注意到？</a:t>
            </a:r>
            <a:r>
              <a:rPr lang="zh-CN" sz="1600">
                <a:solidFill>
                  <a:schemeClr val="dk2"/>
                </a:solidFill>
              </a:rPr>
              <a:t>”</a:t>
            </a:r>
            <a:endParaRPr b="1" sz="1600">
              <a:solidFill>
                <a:srgbClr val="EE4D2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6183600" y="2685023"/>
            <a:ext cx="2728500" cy="1196400"/>
          </a:xfrm>
          <a:prstGeom prst="roundRect">
            <a:avLst>
              <a:gd fmla="val 1793" name="adj"/>
            </a:avLst>
          </a:prstGeom>
          <a:solidFill>
            <a:srgbClr val="F0F9ED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67C23A"/>
                </a:solidFill>
              </a:rPr>
              <a:t>💡 </a:t>
            </a:r>
            <a:r>
              <a:rPr b="1" lang="zh-CN" sz="1000">
                <a:solidFill>
                  <a:srgbClr val="67C23A"/>
                </a:solidFill>
              </a:rPr>
              <a:t>CR 发现问题</a:t>
            </a:r>
            <a:endParaRPr b="1" sz="1000">
              <a:solidFill>
                <a:srgbClr val="67C23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问题：</a:t>
            </a:r>
            <a:r>
              <a:rPr lang="zh-CN" sz="1000">
                <a:solidFill>
                  <a:schemeClr val="dk1"/>
                </a:solidFill>
              </a:rPr>
              <a:t>数组索引作为 key，可能导致渲染异常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危险等级：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建议修复：</a:t>
            </a:r>
            <a:r>
              <a:rPr lang="zh-CN" sz="1000">
                <a:solidFill>
                  <a:schemeClr val="dk1"/>
                </a:solidFill>
              </a:rPr>
              <a:t>使用唯一值 item.id 作为 key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3207750" y="2685023"/>
            <a:ext cx="2728500" cy="1196400"/>
          </a:xfrm>
          <a:prstGeom prst="roundRect">
            <a:avLst>
              <a:gd fmla="val 1793" name="adj"/>
            </a:avLst>
          </a:prstGeom>
          <a:solidFill>
            <a:srgbClr val="F0F9ED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67C23A"/>
                </a:solidFill>
              </a:rPr>
              <a:t>💡 </a:t>
            </a:r>
            <a:r>
              <a:rPr b="1" lang="zh-CN" sz="1000">
                <a:solidFill>
                  <a:srgbClr val="67C23A"/>
                </a:solidFill>
              </a:rPr>
              <a:t>CR 发现问题</a:t>
            </a:r>
            <a:endParaRPr b="1" sz="1000">
              <a:solidFill>
                <a:srgbClr val="67C23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问题：</a:t>
            </a:r>
            <a:r>
              <a:rPr lang="zh-CN" sz="1000">
                <a:solidFill>
                  <a:schemeClr val="dk1"/>
                </a:solidFill>
              </a:rPr>
              <a:t>Number(null) 可能导致逻辑错误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危险等级：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建议修复：</a:t>
            </a:r>
            <a:r>
              <a:rPr lang="zh-CN" sz="1000">
                <a:solidFill>
                  <a:schemeClr val="dk1"/>
                </a:solidFill>
              </a:rPr>
              <a:t>添加 null 检查或使用默认值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0" y="1313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发生在我们身边的 Live Bug</a:t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131" name="Google Shape;131;p21"/>
          <p:cNvGrpSpPr/>
          <p:nvPr/>
        </p:nvGrpSpPr>
        <p:grpSpPr>
          <a:xfrm>
            <a:off x="231910" y="869191"/>
            <a:ext cx="2728475" cy="1548158"/>
            <a:chOff x="306400" y="1320525"/>
            <a:chExt cx="2867250" cy="1626900"/>
          </a:xfrm>
        </p:grpSpPr>
        <p:sp>
          <p:nvSpPr>
            <p:cNvPr id="132" name="Google Shape;132;p21"/>
            <p:cNvSpPr/>
            <p:nvPr/>
          </p:nvSpPr>
          <p:spPr>
            <a:xfrm>
              <a:off x="306400" y="1320525"/>
              <a:ext cx="2867100" cy="1626900"/>
            </a:xfrm>
            <a:prstGeom prst="roundRect">
              <a:avLst>
                <a:gd fmla="val 1793" name="adj"/>
              </a:avLst>
            </a:prstGeom>
            <a:solidFill>
              <a:srgbClr val="FFEDEA"/>
            </a:solidFill>
            <a:ln cap="flat" cmpd="sng" w="907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7000" lIns="87000" spcFirstLastPara="1" rIns="87000" wrap="square" tIns="8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EE4D2D"/>
                  </a:solidFill>
                </a:rPr>
                <a:t>1: 代码冲突问题</a:t>
              </a:r>
              <a:endParaRPr b="1" sz="1000">
                <a:solidFill>
                  <a:srgbClr val="EE4D2D"/>
                </a:solidFill>
              </a:endParaRPr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386650" y="1685325"/>
              <a:ext cx="2728500" cy="744000"/>
            </a:xfrm>
            <a:prstGeom prst="roundRect">
              <a:avLst>
                <a:gd fmla="val 3925" name="adj"/>
              </a:avLst>
            </a:prstGeom>
            <a:solidFill>
              <a:srgbClr val="2A2A2A"/>
            </a:solidFill>
            <a:ln cap="flat" cmpd="sng" w="90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000" lIns="87000" spcFirstLastPara="1" rIns="87000" wrap="square" tIns="8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chemeClr val="lt1"/>
                  </a:solidFill>
                </a:rPr>
                <a:t>// </a:t>
              </a:r>
              <a:r>
                <a:rPr lang="zh-CN" sz="1000">
                  <a:solidFill>
                    <a:schemeClr val="lt1"/>
                  </a:solidFill>
                </a:rPr>
                <a:t>合并后的代码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rgbClr val="EE4D2D"/>
                  </a:solidFill>
                </a:rPr>
                <a:t>const data = fetchData();</a:t>
              </a:r>
              <a:endParaRPr sz="1000">
                <a:solidFill>
                  <a:srgbClr val="EE4D2D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rgbClr val="EE4D2D"/>
                  </a:solidFill>
                </a:rPr>
                <a:t>const data = fetchData();</a:t>
              </a:r>
              <a:endParaRPr sz="1000">
                <a:solidFill>
                  <a:srgbClr val="EE4D2D"/>
                </a:solidFill>
              </a:endParaRPr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306550" y="2454825"/>
              <a:ext cx="2867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000" lIns="87000" spcFirstLastPara="1" rIns="87000" wrap="square" tIns="870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952">
                  <a:solidFill>
                    <a:schemeClr val="dk1"/>
                  </a:solidFill>
                </a:rPr>
                <a:t>问题解释：</a:t>
              </a:r>
              <a:r>
                <a:rPr lang="zh-CN" sz="952">
                  <a:solidFill>
                    <a:schemeClr val="dk1"/>
                  </a:solidFill>
                </a:rPr>
                <a:t>处理冲突时，保留了一模一样的两行代码，直接上了 Live 环境</a:t>
              </a:r>
              <a:endParaRPr sz="952">
                <a:solidFill>
                  <a:schemeClr val="dk1"/>
                </a:solidFill>
              </a:endParaRPr>
            </a:p>
          </p:txBody>
        </p:sp>
      </p:grpSp>
      <p:grpSp>
        <p:nvGrpSpPr>
          <p:cNvPr id="135" name="Google Shape;135;p21"/>
          <p:cNvGrpSpPr/>
          <p:nvPr/>
        </p:nvGrpSpPr>
        <p:grpSpPr>
          <a:xfrm>
            <a:off x="3207760" y="869191"/>
            <a:ext cx="2728475" cy="1548158"/>
            <a:chOff x="306400" y="1320525"/>
            <a:chExt cx="2867250" cy="1626900"/>
          </a:xfrm>
        </p:grpSpPr>
        <p:sp>
          <p:nvSpPr>
            <p:cNvPr id="136" name="Google Shape;136;p21"/>
            <p:cNvSpPr/>
            <p:nvPr/>
          </p:nvSpPr>
          <p:spPr>
            <a:xfrm>
              <a:off x="306400" y="1320525"/>
              <a:ext cx="2867100" cy="1626900"/>
            </a:xfrm>
            <a:prstGeom prst="roundRect">
              <a:avLst>
                <a:gd fmla="val 1793" name="adj"/>
              </a:avLst>
            </a:prstGeom>
            <a:solidFill>
              <a:srgbClr val="FFEDEA"/>
            </a:solidFill>
            <a:ln cap="flat" cmpd="sng" w="907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7000" lIns="87000" spcFirstLastPara="1" rIns="87000" wrap="square" tIns="8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EE4D2D"/>
                  </a:solidFill>
                </a:rPr>
                <a:t>2: </a:t>
              </a:r>
              <a:r>
                <a:rPr b="1" lang="zh-CN" sz="1000">
                  <a:solidFill>
                    <a:srgbClr val="EE4D2D"/>
                  </a:solidFill>
                </a:rPr>
                <a:t>数据边界问题</a:t>
              </a:r>
              <a:endParaRPr b="1" sz="1000">
                <a:solidFill>
                  <a:srgbClr val="EE4D2D"/>
                </a:solidFill>
              </a:endParaRPr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386650" y="1685325"/>
              <a:ext cx="2728500" cy="744000"/>
            </a:xfrm>
            <a:prstGeom prst="roundRect">
              <a:avLst>
                <a:gd fmla="val 3925" name="adj"/>
              </a:avLst>
            </a:prstGeom>
            <a:solidFill>
              <a:srgbClr val="2A2A2A"/>
            </a:solidFill>
            <a:ln cap="flat" cmpd="sng" w="90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000" lIns="87000" spcFirstLastPara="1" rIns="87000" wrap="square" tIns="8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chemeClr val="lt1"/>
                  </a:solidFill>
                </a:rPr>
                <a:t>// 危险的类型转换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rgbClr val="EE4D2D"/>
                  </a:solidFill>
                </a:rPr>
                <a:t>const value = Number(data);</a:t>
              </a:r>
              <a:endParaRPr sz="1000">
                <a:solidFill>
                  <a:srgbClr val="EE4D2D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rgbClr val="F1C232"/>
                  </a:solidFill>
                </a:rPr>
                <a:t>// data 可能是 null</a:t>
              </a:r>
              <a:endParaRPr sz="1000">
                <a:solidFill>
                  <a:srgbClr val="F1C232"/>
                </a:solidFill>
              </a:endParaRPr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306550" y="2454825"/>
              <a:ext cx="2867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000" lIns="87000" spcFirstLastPara="1" rIns="87000" wrap="square" tIns="870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952">
                  <a:solidFill>
                    <a:schemeClr val="dk1"/>
                  </a:solidFill>
                </a:rPr>
                <a:t>问题解释：</a:t>
              </a:r>
              <a:r>
                <a:rPr lang="zh-CN" sz="952">
                  <a:solidFill>
                    <a:schemeClr val="dk1"/>
                  </a:solidFill>
                </a:rPr>
                <a:t>Number(null) 返回 0，导致表单提交报错</a:t>
              </a:r>
              <a:endParaRPr sz="952">
                <a:solidFill>
                  <a:schemeClr val="dk1"/>
                </a:solidFill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6183610" y="869191"/>
            <a:ext cx="2728475" cy="1548158"/>
            <a:chOff x="306400" y="1320525"/>
            <a:chExt cx="2867250" cy="1626900"/>
          </a:xfrm>
        </p:grpSpPr>
        <p:sp>
          <p:nvSpPr>
            <p:cNvPr id="140" name="Google Shape;140;p21"/>
            <p:cNvSpPr/>
            <p:nvPr/>
          </p:nvSpPr>
          <p:spPr>
            <a:xfrm>
              <a:off x="306400" y="1320525"/>
              <a:ext cx="2867100" cy="1626900"/>
            </a:xfrm>
            <a:prstGeom prst="roundRect">
              <a:avLst>
                <a:gd fmla="val 1793" name="adj"/>
              </a:avLst>
            </a:prstGeom>
            <a:solidFill>
              <a:srgbClr val="FFEDEA"/>
            </a:solidFill>
            <a:ln cap="flat" cmpd="sng" w="907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7000" lIns="87000" spcFirstLastPara="1" rIns="87000" wrap="square" tIns="8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EE4D2D"/>
                  </a:solidFill>
                </a:rPr>
                <a:t>3: </a:t>
              </a:r>
              <a:r>
                <a:rPr b="1" lang="zh-CN" sz="1000">
                  <a:solidFill>
                    <a:srgbClr val="EE4D2D"/>
                  </a:solidFill>
                </a:rPr>
                <a:t>列表渲染问题</a:t>
              </a:r>
              <a:endParaRPr b="1" sz="1000">
                <a:solidFill>
                  <a:srgbClr val="EE4D2D"/>
                </a:solidFill>
              </a:endParaRPr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386650" y="1685325"/>
              <a:ext cx="2728500" cy="744000"/>
            </a:xfrm>
            <a:prstGeom prst="roundRect">
              <a:avLst>
                <a:gd fmla="val 3925" name="adj"/>
              </a:avLst>
            </a:prstGeom>
            <a:solidFill>
              <a:srgbClr val="2A2A2A"/>
            </a:solidFill>
            <a:ln cap="flat" cmpd="sng" w="90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000" lIns="87000" spcFirstLastPara="1" rIns="87000" wrap="square" tIns="8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chemeClr val="lt1"/>
                  </a:solidFill>
                </a:rPr>
                <a:t>// 缺少唯一 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rgbClr val="EE4D2D"/>
                  </a:solidFill>
                </a:rPr>
                <a:t>key{list.map((item, idx) =&gt;&lt;Row key={idx} /&gt;)}</a:t>
              </a:r>
              <a:endParaRPr sz="1000">
                <a:solidFill>
                  <a:srgbClr val="EE4D2D"/>
                </a:solidFill>
              </a:endParaRPr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306550" y="2454825"/>
              <a:ext cx="2867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000" lIns="87000" spcFirstLastPara="1" rIns="87000" wrap="square" tIns="870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952">
                  <a:solidFill>
                    <a:schemeClr val="dk1"/>
                  </a:solidFill>
                </a:rPr>
                <a:t>问题解释：</a:t>
              </a:r>
              <a:r>
                <a:rPr lang="zh-CN" sz="952">
                  <a:solidFill>
                    <a:schemeClr val="dk1"/>
                  </a:solidFill>
                </a:rPr>
                <a:t>未添加唯一 key，导致渲染刷新问题。用户看到的是旧数据</a:t>
              </a:r>
              <a:endParaRPr sz="952">
                <a:solidFill>
                  <a:schemeClr val="dk1"/>
                </a:solidFill>
              </a:endParaRPr>
            </a:p>
          </p:txBody>
        </p:sp>
      </p:grpSp>
      <p:sp>
        <p:nvSpPr>
          <p:cNvPr id="143" name="Google Shape;143;p21"/>
          <p:cNvSpPr/>
          <p:nvPr/>
        </p:nvSpPr>
        <p:spPr>
          <a:xfrm>
            <a:off x="231900" y="2685023"/>
            <a:ext cx="2728500" cy="1196400"/>
          </a:xfrm>
          <a:prstGeom prst="roundRect">
            <a:avLst>
              <a:gd fmla="val 1793" name="adj"/>
            </a:avLst>
          </a:prstGeom>
          <a:solidFill>
            <a:srgbClr val="F0F9ED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67C23A"/>
                </a:solidFill>
              </a:rPr>
              <a:t>💡 </a:t>
            </a:r>
            <a:r>
              <a:rPr b="1" lang="zh-CN" sz="1000">
                <a:solidFill>
                  <a:srgbClr val="67C23A"/>
                </a:solidFill>
              </a:rPr>
              <a:t>CR 发现问题</a:t>
            </a:r>
            <a:endParaRPr b="1" sz="1000">
              <a:solidFill>
                <a:srgbClr val="67C23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问题：检测到重复的变量声明 const data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危险等级：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建议修复：删除重复的声明语句</a:t>
            </a:r>
            <a:endParaRPr b="1" sz="1000">
              <a:solidFill>
                <a:srgbClr val="EE4D2D"/>
              </a:solidFill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919275" y="3304475"/>
            <a:ext cx="472500" cy="161700"/>
          </a:xfrm>
          <a:prstGeom prst="roundRect">
            <a:avLst>
              <a:gd fmla="val 16667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严重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45" name="Google Shape;145;p21"/>
          <p:cNvCxnSpPr>
            <a:stCxn id="134" idx="2"/>
            <a:endCxn id="143" idx="0"/>
          </p:cNvCxnSpPr>
          <p:nvPr/>
        </p:nvCxnSpPr>
        <p:spPr>
          <a:xfrm>
            <a:off x="1596219" y="2417349"/>
            <a:ext cx="0" cy="26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1"/>
          <p:cNvSpPr/>
          <p:nvPr/>
        </p:nvSpPr>
        <p:spPr>
          <a:xfrm>
            <a:off x="3953475" y="3304475"/>
            <a:ext cx="472500" cy="161700"/>
          </a:xfrm>
          <a:prstGeom prst="roundRect">
            <a:avLst>
              <a:gd fmla="val 16667" name="adj"/>
            </a:avLst>
          </a:prstGeom>
          <a:solidFill>
            <a:srgbClr val="BF900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中等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6914725" y="3304475"/>
            <a:ext cx="472500" cy="161700"/>
          </a:xfrm>
          <a:prstGeom prst="roundRect">
            <a:avLst>
              <a:gd fmla="val 16667" name="adj"/>
            </a:avLst>
          </a:prstGeom>
          <a:solidFill>
            <a:srgbClr val="BF900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中等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48" name="Google Shape;148;p21"/>
          <p:cNvCxnSpPr/>
          <p:nvPr/>
        </p:nvCxnSpPr>
        <p:spPr>
          <a:xfrm flipH="1" rot="10800000">
            <a:off x="335600" y="2998638"/>
            <a:ext cx="2524200" cy="7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1"/>
          <p:cNvCxnSpPr/>
          <p:nvPr/>
        </p:nvCxnSpPr>
        <p:spPr>
          <a:xfrm flipH="1" rot="10800000">
            <a:off x="3309900" y="2998638"/>
            <a:ext cx="2524200" cy="7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1"/>
          <p:cNvCxnSpPr/>
          <p:nvPr/>
        </p:nvCxnSpPr>
        <p:spPr>
          <a:xfrm flipH="1" rot="10800000">
            <a:off x="6285750" y="2998638"/>
            <a:ext cx="2524200" cy="7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1"/>
          <p:cNvCxnSpPr>
            <a:stCxn id="136" idx="2"/>
            <a:endCxn id="129" idx="0"/>
          </p:cNvCxnSpPr>
          <p:nvPr/>
        </p:nvCxnSpPr>
        <p:spPr>
          <a:xfrm>
            <a:off x="4571926" y="2417349"/>
            <a:ext cx="0" cy="26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1"/>
          <p:cNvCxnSpPr>
            <a:stCxn id="142" idx="2"/>
            <a:endCxn id="128" idx="0"/>
          </p:cNvCxnSpPr>
          <p:nvPr/>
        </p:nvCxnSpPr>
        <p:spPr>
          <a:xfrm>
            <a:off x="7547919" y="2417349"/>
            <a:ext cx="0" cy="26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1"/>
          <p:cNvSpPr/>
          <p:nvPr/>
        </p:nvSpPr>
        <p:spPr>
          <a:xfrm>
            <a:off x="2349750" y="4326975"/>
            <a:ext cx="234000" cy="234000"/>
          </a:xfrm>
          <a:prstGeom prst="ellipse">
            <a:avLst/>
          </a:prstGeom>
          <a:solidFill>
            <a:srgbClr val="11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</a:rPr>
              <a:t>1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2583750" y="4326975"/>
            <a:ext cx="14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113366"/>
                </a:solidFill>
              </a:rPr>
              <a:t>低级错误</a:t>
            </a:r>
            <a:endParaRPr b="1" sz="12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不涉及复杂业务逻辑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55" name="Google Shape;155;p21"/>
          <p:cNvCxnSpPr/>
          <p:nvPr/>
        </p:nvCxnSpPr>
        <p:spPr>
          <a:xfrm flipH="1" rot="10800000">
            <a:off x="240750" y="3998152"/>
            <a:ext cx="8682000" cy="291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1"/>
          <p:cNvSpPr txBox="1"/>
          <p:nvPr/>
        </p:nvSpPr>
        <p:spPr>
          <a:xfrm>
            <a:off x="240750" y="4243875"/>
            <a:ext cx="187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这些问题的共同特点</a:t>
            </a:r>
            <a:endParaRPr b="1">
              <a:solidFill>
                <a:srgbClr val="113366"/>
              </a:solidFill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4150375" y="4326975"/>
            <a:ext cx="234000" cy="234000"/>
          </a:xfrm>
          <a:prstGeom prst="ellipse">
            <a:avLst/>
          </a:prstGeom>
          <a:solidFill>
            <a:srgbClr val="11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</a:rPr>
              <a:t>2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4384375" y="4326975"/>
            <a:ext cx="14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113366"/>
                </a:solidFill>
              </a:rPr>
              <a:t>易忽略</a:t>
            </a:r>
            <a:endParaRPr b="1" sz="12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类似的问题反复发生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185000" y="4326975"/>
            <a:ext cx="234000" cy="234000"/>
          </a:xfrm>
          <a:prstGeom prst="ellipse">
            <a:avLst/>
          </a:prstGeom>
          <a:solidFill>
            <a:srgbClr val="11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</a:rPr>
              <a:t>3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6419000" y="4326975"/>
            <a:ext cx="14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113366"/>
                </a:solidFill>
              </a:rPr>
              <a:t>易发现</a:t>
            </a:r>
            <a:endParaRPr b="1" sz="12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代码审查一定能发现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0" y="1459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给新人 Code Review 的真实写照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666666"/>
                </a:solidFill>
              </a:rPr>
              <a:t>给新人的一个 </a:t>
            </a:r>
            <a:r>
              <a:rPr lang="zh-CN" u="sng">
                <a:solidFill>
                  <a:schemeClr val="hlink"/>
                </a:solidFill>
                <a:hlinkClick r:id="rId3"/>
              </a:rPr>
              <a:t>MR</a:t>
            </a:r>
            <a:r>
              <a:rPr lang="zh-CN">
                <a:solidFill>
                  <a:srgbClr val="666666"/>
                </a:solidFill>
              </a:rPr>
              <a:t> 提了 50+ 条评论，85% 的问题可以被 AI 识别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65375"/>
            <a:ext cx="4188575" cy="96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28648"/>
            <a:ext cx="4186802" cy="90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2931130"/>
            <a:ext cx="4186801" cy="107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275" y="4008199"/>
            <a:ext cx="4186802" cy="67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1750975" y="1316175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EE4D2D"/>
                </a:solidFill>
              </a:rPr>
              <a:t>使用太多魔法数字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1866900" y="2530925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EE4D2D"/>
                </a:solidFill>
              </a:rPr>
              <a:t>文案漏了国际化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2604575" y="4440775"/>
            <a:ext cx="15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EE4D2D"/>
                </a:solidFill>
              </a:rPr>
              <a:t>代码风格较差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1575875" y="3463975"/>
            <a:ext cx="245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EE4D2D"/>
                </a:solidFill>
              </a:rPr>
              <a:t>复制了大量冗余代码</a:t>
            </a:r>
            <a:endParaRPr b="1">
              <a:solidFill>
                <a:srgbClr val="EE4D2D"/>
              </a:solidFill>
            </a:endParaRPr>
          </a:p>
        </p:txBody>
      </p:sp>
      <p:graphicFrame>
        <p:nvGraphicFramePr>
          <p:cNvPr id="174" name="Google Shape;174;p22"/>
          <p:cNvGraphicFramePr/>
          <p:nvPr/>
        </p:nvGraphicFramePr>
        <p:xfrm>
          <a:off x="4390238" y="130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{F69C24D2-3EEB-49A2-8AAC-4C06B76EBC5C}</a:tableStyleId>
              </a:tblPr>
              <a:tblGrid>
                <a:gridCol w="766400"/>
                <a:gridCol w="875850"/>
                <a:gridCol w="656950"/>
                <a:gridCol w="766400"/>
                <a:gridCol w="766400"/>
                <a:gridCol w="766400"/>
              </a:tblGrid>
              <a:tr h="263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>
                          <a:solidFill>
                            <a:srgbClr val="FFFFFF"/>
                          </a:solidFill>
                        </a:rPr>
                        <a:t>问题类别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>
                          <a:solidFill>
                            <a:srgbClr val="FFFFFF"/>
                          </a:solidFill>
                        </a:rPr>
                        <a:t>问题描述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>
                          <a:solidFill>
                            <a:srgbClr val="FFFFFF"/>
                          </a:solidFill>
                        </a:rPr>
                        <a:t>出现次数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>
                          <a:solidFill>
                            <a:srgbClr val="FFFFFF"/>
                          </a:solidFill>
                        </a:rPr>
                        <a:t>占比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>
                          <a:solidFill>
                            <a:srgbClr val="FFFFFF"/>
                          </a:solidFill>
                        </a:rPr>
                        <a:t>AI 是否可识别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>
                          <a:solidFill>
                            <a:srgbClr val="FFFFFF"/>
                          </a:solidFill>
                        </a:rPr>
                        <a:t>危险程度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366"/>
                    </a:solidFill>
                  </a:tcPr>
                </a:tc>
              </a:tr>
              <a:tr h="24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规范问题</a:t>
                      </a:r>
                      <a:endParaRPr b="1" sz="600">
                        <a:solidFill>
                          <a:srgbClr val="000000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i18n缺失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代码格式混乱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console.log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19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56%</a:t>
                      </a:r>
                      <a:endParaRPr b="1" sz="600">
                        <a:solidFill>
                          <a:srgbClr val="000000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67C23A"/>
                          </a:solidFill>
                          <a:uFill>
                            <a:noFill/>
                          </a:u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✓</a:t>
                      </a:r>
                      <a:endParaRPr b="1" sz="600">
                        <a:solidFill>
                          <a:srgbClr val="67C23A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严重</a:t>
                      </a:r>
                      <a:endParaRPr b="1" sz="600">
                        <a:solidFill>
                          <a:srgbClr val="000000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4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可维护性问题</a:t>
                      </a:r>
                      <a:endParaRPr b="1" sz="8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代码重复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组件抽离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逻辑臃肿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10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29%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67C23A"/>
                          </a:solidFill>
                          <a:uFill>
                            <a:noFill/>
                          </a:u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✓</a:t>
                      </a:r>
                      <a:endParaRPr sz="12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严重</a:t>
                      </a:r>
                      <a:endParaRPr b="1" sz="8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4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健壮性问题</a:t>
                      </a:r>
                      <a:endParaRPr b="1" sz="8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错误提示不友好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边界处理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9%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67C23A"/>
                          </a:solidFill>
                          <a:uFill>
                            <a:noFill/>
                          </a:u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✓</a:t>
                      </a:r>
                      <a:endParaRPr sz="12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中等</a:t>
                      </a:r>
                      <a:endParaRPr b="1" sz="8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4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可扩展性问题</a:t>
                      </a:r>
                      <a:endParaRPr b="1" sz="8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设计模式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8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代码风格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>
                          <a:solidFill>
                            <a:schemeClr val="dk1"/>
                          </a:solidFill>
                        </a:rPr>
                        <a:t>6%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200">
                          <a:solidFill>
                            <a:srgbClr val="67C23A"/>
                          </a:solidFill>
                          <a:uFill>
                            <a:noFill/>
                          </a:u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✓</a:t>
                      </a:r>
                      <a:endParaRPr sz="12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800"/>
                        <a:t>中等</a:t>
                      </a:r>
                      <a:endParaRPr b="1" sz="800"/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2"/>
          <p:cNvSpPr/>
          <p:nvPr/>
        </p:nvSpPr>
        <p:spPr>
          <a:xfrm>
            <a:off x="4390250" y="3468875"/>
            <a:ext cx="4598400" cy="722100"/>
          </a:xfrm>
          <a:prstGeom prst="roundRect">
            <a:avLst>
              <a:gd fmla="val 1793" name="adj"/>
            </a:avLst>
          </a:prstGeom>
          <a:solidFill>
            <a:srgbClr val="FFEDEA"/>
          </a:solidFill>
          <a:ln cap="flat" cmpd="sng" w="9075">
            <a:solidFill>
              <a:srgbClr val="EE4D2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EE4D2D"/>
                </a:solidFill>
              </a:rPr>
              <a:t>85%+</a:t>
            </a:r>
            <a:r>
              <a:rPr b="1" lang="zh-CN" sz="800">
                <a:solidFill>
                  <a:srgbClr val="113366"/>
                </a:solidFill>
              </a:rPr>
              <a:t> 的问题是可以被 AI 识别出来，例如：模式匹配类（i18n、console.log）、规范检查类（格式化）、语义理解类（魔法数字）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重复的 CR 问题较多：出现了 </a:t>
            </a:r>
            <a:r>
              <a:rPr b="1" lang="zh-CN">
                <a:solidFill>
                  <a:srgbClr val="EE4D2D"/>
                </a:solidFill>
              </a:rPr>
              <a:t>10</a:t>
            </a:r>
            <a:r>
              <a:rPr b="1" lang="zh-CN" sz="800">
                <a:solidFill>
                  <a:srgbClr val="113366"/>
                </a:solidFill>
              </a:rPr>
              <a:t> 次国际化缺失、</a:t>
            </a:r>
            <a:r>
              <a:rPr b="1" lang="zh-CN">
                <a:solidFill>
                  <a:srgbClr val="EE4D2D"/>
                </a:solidFill>
              </a:rPr>
              <a:t>5</a:t>
            </a:r>
            <a:r>
              <a:rPr b="1" lang="zh-CN" sz="800">
                <a:solidFill>
                  <a:srgbClr val="113366"/>
                </a:solidFill>
              </a:rPr>
              <a:t> 次代码重复、</a:t>
            </a:r>
            <a:r>
              <a:rPr b="1" lang="zh-CN">
                <a:solidFill>
                  <a:srgbClr val="EE4D2D"/>
                </a:solidFill>
              </a:rPr>
              <a:t>3</a:t>
            </a:r>
            <a:r>
              <a:rPr b="1" lang="zh-CN" sz="800">
                <a:solidFill>
                  <a:srgbClr val="113366"/>
                </a:solidFill>
              </a:rPr>
              <a:t> 次格式化问题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4390250" y="4256425"/>
            <a:ext cx="4598400" cy="670200"/>
          </a:xfrm>
          <a:prstGeom prst="roundRect">
            <a:avLst>
              <a:gd fmla="val 1793" name="adj"/>
            </a:avLst>
          </a:prstGeom>
          <a:solidFill>
            <a:srgbClr val="FFEDEA"/>
          </a:solidFill>
          <a:ln cap="flat" cmpd="sng" w="9075">
            <a:solidFill>
              <a:srgbClr val="1133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这些问题的共同特点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EE4D2D"/>
                </a:solidFill>
              </a:rPr>
              <a:t>低级，高频，重复，</a:t>
            </a:r>
            <a:r>
              <a:rPr b="1" lang="zh-CN" sz="1000">
                <a:solidFill>
                  <a:srgbClr val="EE4D2D"/>
                </a:solidFill>
              </a:rPr>
              <a:t>如果人来做需要 0.5～1天。。</a:t>
            </a:r>
            <a:r>
              <a:rPr b="1" lang="zh-CN" sz="1000">
                <a:solidFill>
                  <a:srgbClr val="EE4D2D"/>
                </a:solidFill>
              </a:rPr>
              <a:t>。</a:t>
            </a:r>
            <a:endParaRPr b="1" sz="1000">
              <a:solidFill>
                <a:srgbClr val="EE4D2D"/>
              </a:solidFill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4390250" y="952525"/>
            <a:ext cx="42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基于真实 MR 的有效评论进行分析</a:t>
            </a:r>
            <a:endParaRPr b="1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2152250" y="1789311"/>
            <a:ext cx="4939200" cy="6198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目录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6298700" y="1185638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01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2490075" y="1185638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为什么需要 AI CR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2490075" y="1851447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IBS AI CR 是什么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D9D9"/>
                </a:solidFill>
              </a:rPr>
              <a:t>Demo 演示，项目介绍、演进之路</a:t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6298700" y="1851447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02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2490075" y="251725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核心实现</a:t>
            </a:r>
            <a:endParaRPr b="1" sz="20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6298700" y="251725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03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490075" y="318306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推广运营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6298700" y="318306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04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2490075" y="3848875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未来规划</a:t>
            </a:r>
            <a:endParaRPr b="1" sz="20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6298700" y="3848875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05</a:t>
            </a:r>
            <a:endParaRPr b="1" sz="2000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IBS AI CR </a:t>
            </a:r>
            <a:r>
              <a:rPr b="1" lang="zh-CN" sz="3000">
                <a:solidFill>
                  <a:srgbClr val="113366"/>
                </a:solidFill>
              </a:rPr>
              <a:t>Demo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315900" y="3677050"/>
            <a:ext cx="8512200" cy="1101600"/>
          </a:xfrm>
          <a:prstGeom prst="roundRect">
            <a:avLst>
              <a:gd fmla="val 3925" name="adj"/>
            </a:avLst>
          </a:prstGeom>
          <a:solidFill>
            <a:srgbClr val="2A2A2A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67C23A"/>
                </a:solidFill>
              </a:rPr>
              <a:t># 常用命令</a:t>
            </a:r>
            <a:endParaRPr sz="1000">
              <a:solidFill>
                <a:srgbClr val="67C2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$ ibs cr								</a:t>
            </a:r>
            <a:r>
              <a:rPr lang="zh-CN" sz="900">
                <a:solidFill>
                  <a:schemeClr val="lt1"/>
                </a:solidFill>
              </a:rPr>
              <a:t># 对比 git add 后存放在暂存区的代码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$ ibs cr uat feature/xxx					</a:t>
            </a:r>
            <a:r>
              <a:rPr lang="zh-CN" sz="900">
                <a:solidFill>
                  <a:schemeClr val="lt1"/>
                </a:solidFill>
              </a:rPr>
              <a:t># 对比当前分支与 release 分支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$ ibs cr https://git.xxx.com/.../merge_requests/123 		</a:t>
            </a:r>
            <a:r>
              <a:rPr lang="zh-CN" sz="900">
                <a:solidFill>
                  <a:schemeClr val="lt1"/>
                </a:solidFill>
              </a:rPr>
              <a:t># MR 模式审查，审查建议直接评论到 mr 上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$ ibs cr --no-fix						</a:t>
            </a:r>
            <a:r>
              <a:rPr lang="zh-CN" sz="900">
                <a:solidFill>
                  <a:schemeClr val="lt1"/>
                </a:solidFill>
              </a:rPr>
              <a:t># 默认开启自动修复，通过参数 –no-fix 只建议不修复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200" name="Google Shape;200;p24" title="12月24日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4625" y="937525"/>
            <a:ext cx="3449501" cy="258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Why Not CAT/</a:t>
            </a:r>
            <a:r>
              <a:rPr b="1" lang="zh-CN" sz="3000">
                <a:solidFill>
                  <a:srgbClr val="113366"/>
                </a:solidFill>
              </a:rPr>
              <a:t>Skynet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3515847" y="1765154"/>
            <a:ext cx="2112291" cy="2112246"/>
          </a:xfrm>
          <a:custGeom>
            <a:rect b="b" l="l" r="r" t="t"/>
            <a:pathLst>
              <a:path extrusionOk="0" h="2708008" w="2708066">
                <a:moveTo>
                  <a:pt x="0" y="1354004"/>
                </a:moveTo>
                <a:cubicBezTo>
                  <a:pt x="0" y="606208"/>
                  <a:pt x="606221" y="0"/>
                  <a:pt x="1354033" y="0"/>
                </a:cubicBezTo>
                <a:cubicBezTo>
                  <a:pt x="2101845" y="0"/>
                  <a:pt x="2708066" y="606208"/>
                  <a:pt x="2708066" y="1354004"/>
                </a:cubicBezTo>
                <a:cubicBezTo>
                  <a:pt x="2708066" y="2101800"/>
                  <a:pt x="2101845" y="2708008"/>
                  <a:pt x="1354033" y="2708008"/>
                </a:cubicBezTo>
                <a:cubicBezTo>
                  <a:pt x="606221" y="2708008"/>
                  <a:pt x="0" y="2101800"/>
                  <a:pt x="0" y="1354004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ctr" bIns="594675" lIns="594700" spcFirstLastPara="1" rIns="594700" wrap="square" tIns="5946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0" i="0" sz="5200" u="none" cap="none" strike="noStrike">
              <a:solidFill>
                <a:srgbClr val="BDBD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4220846" y="2313365"/>
            <a:ext cx="702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zh-CN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3000">
                <a:solidFill>
                  <a:srgbClr val="113366"/>
                </a:solidFill>
              </a:rPr>
              <a:t>Why Not CAT/Skynet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3068200" y="3226375"/>
            <a:ext cx="1315200" cy="19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457821" y="908025"/>
            <a:ext cx="4043100" cy="365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/>
              <a:t>主要优势：</a:t>
            </a:r>
            <a:endParaRPr b="1" sz="900"/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zh-CN" sz="1000"/>
              <a:t>CAT 具备先发优势，基础功能已基本提供完备</a:t>
            </a:r>
            <a:endParaRPr sz="10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lphaLcPeriod"/>
            </a:pPr>
            <a:r>
              <a:rPr lang="zh-CN" sz="800"/>
              <a:t>管理平台已支持 Go 的 CR 规则配置，基础使用数据的查看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lphaLcPeriod"/>
            </a:pPr>
            <a:r>
              <a:rPr lang="zh-CN" sz="800"/>
              <a:t>支持本地（Cursor MCP）和远端 CR （Gitlab webhook）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lphaLcPeriod"/>
            </a:pPr>
            <a:r>
              <a:rPr lang="zh-CN" sz="800"/>
              <a:t>支持 Seatalk 触发和通知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lphaLcPeriod"/>
            </a:pPr>
            <a:r>
              <a:rPr lang="zh-CN" sz="800"/>
              <a:t>支持行内评论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lphaLcPeriod"/>
            </a:pPr>
            <a:r>
              <a:rPr lang="zh-CN" sz="800"/>
              <a:t>Light review 模式（暂时关闭）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lphaLcPeriod"/>
            </a:pPr>
            <a:r>
              <a:rPr lang="zh-CN" sz="800"/>
              <a:t>数据采集和评论优化，产品自闭环</a:t>
            </a:r>
            <a:endParaRPr sz="8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zh-CN" sz="1000">
                <a:solidFill>
                  <a:srgbClr val="000000"/>
                </a:solidFill>
              </a:rPr>
              <a:t>CAT 规划中的功能也是我们所需要的</a:t>
            </a:r>
            <a:endParaRPr sz="10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MCP 将会支持 confluence 文档和 Domain Bot (via SMART) 做上下文支持</a:t>
            </a:r>
            <a:endParaRPr sz="8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平台将会支持多类个性化配置</a:t>
            </a:r>
            <a:endParaRPr sz="8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CAT 将支持建议型评论</a:t>
            </a:r>
            <a:endParaRPr sz="8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215" name="Google Shape;215;p26"/>
          <p:cNvSpPr txBox="1"/>
          <p:nvPr/>
        </p:nvSpPr>
        <p:spPr>
          <a:xfrm>
            <a:off x="4643071" y="908025"/>
            <a:ext cx="4043100" cy="3651300"/>
          </a:xfrm>
          <a:prstGeom prst="rect">
            <a:avLst/>
          </a:prstGeom>
          <a:solidFill>
            <a:srgbClr val="FFEDEA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/>
              <a:t>主要限制：</a:t>
            </a:r>
            <a:endParaRPr b="1" sz="900"/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b="1" lang="zh-CN" sz="1000"/>
              <a:t>CAT 对前端代码审查的精确不高</a:t>
            </a:r>
            <a:endParaRPr b="1" sz="1000"/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不支持 JavaScript &amp; Java 审查规则</a:t>
            </a:r>
            <a:endParaRPr sz="8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暂无法支持供应链的业务知识</a:t>
            </a:r>
            <a:endParaRPr sz="8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CAT 资源受限，模型选用较为落后</a:t>
            </a:r>
            <a:endParaRPr sz="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b="1" lang="zh-CN" sz="1000"/>
              <a:t>CAT 无法有效结合工作流程</a:t>
            </a:r>
            <a:endParaRPr b="1" sz="1000"/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CR 左移不完全支持，CAT 的本地模式和预想不符</a:t>
            </a:r>
            <a:endParaRPr sz="8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无法适配供应链的研发规范，造成 AI 资源浪费</a:t>
            </a:r>
            <a:endParaRPr sz="8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数据化建设薄弱，无法结合到 </a:t>
            </a:r>
            <a:r>
              <a:rPr lang="zh-CN" sz="800"/>
              <a:t>SSC 研发</a:t>
            </a:r>
            <a:r>
              <a:rPr lang="zh-CN" sz="800">
                <a:solidFill>
                  <a:srgbClr val="000000"/>
                </a:solidFill>
              </a:rPr>
              <a:t>流程中</a:t>
            </a:r>
            <a:endParaRPr sz="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1" lang="zh-CN" sz="1000">
                <a:solidFill>
                  <a:srgbClr val="000000"/>
                </a:solidFill>
              </a:rPr>
              <a:t>体验不佳</a:t>
            </a:r>
            <a:endParaRPr b="1" sz="10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仅支持 5 comments/MR，大 MR 完全不够用</a:t>
            </a:r>
            <a:endParaRPr sz="800">
              <a:solidFill>
                <a:srgbClr val="000000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>
                <a:solidFill>
                  <a:srgbClr val="000000"/>
                </a:solidFill>
              </a:rPr>
              <a:t>CAT MCP 使用效果不佳，</a:t>
            </a:r>
            <a:r>
              <a:rPr lang="zh-CN" sz="800">
                <a:solidFill>
                  <a:srgbClr val="000000"/>
                </a:solidFill>
              </a:rPr>
              <a:t>前置要求多</a:t>
            </a:r>
            <a:r>
              <a:rPr lang="zh-CN" sz="800">
                <a:solidFill>
                  <a:srgbClr val="000000"/>
                </a:solidFill>
              </a:rPr>
              <a:t>，且 CR 完成度差</a:t>
            </a:r>
            <a:endParaRPr sz="800"/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AutoNum type="alphaLcPeriod"/>
            </a:pPr>
            <a:r>
              <a:rPr lang="zh-CN" sz="800"/>
              <a:t>审查大任务需要消耗更多的成本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Why Not 远端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446750" y="2177188"/>
            <a:ext cx="3855900" cy="2834100"/>
          </a:xfrm>
          <a:prstGeom prst="roundRect">
            <a:avLst>
              <a:gd fmla="val 950" name="adj"/>
            </a:avLst>
          </a:prstGeom>
          <a:solidFill>
            <a:srgbClr val="FFFFFF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4517" r="2727" t="0"/>
          <a:stretch/>
        </p:blipFill>
        <p:spPr>
          <a:xfrm>
            <a:off x="593750" y="2319413"/>
            <a:ext cx="3561900" cy="2591700"/>
          </a:xfrm>
          <a:prstGeom prst="roundRect">
            <a:avLst>
              <a:gd fmla="val 1722" name="adj"/>
            </a:avLst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3" name="Google Shape;223;p27"/>
          <p:cNvSpPr txBox="1"/>
          <p:nvPr/>
        </p:nvSpPr>
        <p:spPr>
          <a:xfrm>
            <a:off x="2585475" y="2732700"/>
            <a:ext cx="1437900" cy="3387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FFFFFF"/>
                </a:solidFill>
              </a:rPr>
              <a:t>未发现问题！！！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4413025" y="2177200"/>
            <a:ext cx="4284300" cy="2834100"/>
          </a:xfrm>
          <a:prstGeom prst="roundRect">
            <a:avLst>
              <a:gd fmla="val 950" name="adj"/>
            </a:avLst>
          </a:prstGeom>
          <a:solidFill>
            <a:srgbClr val="FFFFFF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4">
            <a:alphaModFix/>
          </a:blip>
          <a:srcRect b="19238" l="0" r="10442" t="0"/>
          <a:stretch/>
        </p:blipFill>
        <p:spPr>
          <a:xfrm>
            <a:off x="4485475" y="2732700"/>
            <a:ext cx="4139400" cy="2174100"/>
          </a:xfrm>
          <a:prstGeom prst="roundRect">
            <a:avLst>
              <a:gd fmla="val 1854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6" name="Google Shape;226;p27"/>
          <p:cNvSpPr txBox="1"/>
          <p:nvPr/>
        </p:nvSpPr>
        <p:spPr>
          <a:xfrm>
            <a:off x="6938293" y="3281275"/>
            <a:ext cx="1615200" cy="10866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FFFFFF"/>
                </a:solidFill>
              </a:rPr>
              <a:t>发现问题！！！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FFFFFF"/>
                </a:solidFill>
              </a:rPr>
              <a:t>危险程度：5分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FFFFFF"/>
                </a:solidFill>
              </a:rPr>
              <a:t>问题类型：由于变量定义冲突，导致逻辑错误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FFFFFF"/>
                </a:solidFill>
              </a:rPr>
              <a:t>修复建议：修改变量名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446750" y="1889200"/>
            <a:ext cx="3855900" cy="2880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FFFFFF"/>
                </a:solidFill>
              </a:rPr>
              <a:t>远端 CR 问题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4413025" y="1889200"/>
            <a:ext cx="4284300" cy="2880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FFFFFF"/>
                </a:solidFill>
              </a:rPr>
              <a:t>本地 CR 优势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446675" y="873038"/>
            <a:ext cx="8250600" cy="797700"/>
          </a:xfrm>
          <a:prstGeom prst="roundRect">
            <a:avLst>
              <a:gd fmla="val 3510" name="adj"/>
            </a:avLst>
          </a:prstGeom>
          <a:solidFill>
            <a:srgbClr val="FFF2CC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36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CN" sz="800">
                <a:solidFill>
                  <a:srgbClr val="000000"/>
                </a:solidFill>
              </a:rPr>
              <a:t>同一个 Merge Request 的对比结果分析</a:t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593675" y="1107888"/>
            <a:ext cx="3561900" cy="510900"/>
          </a:xfrm>
          <a:prstGeom prst="roundRect">
            <a:avLst>
              <a:gd fmla="val 9586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CN" sz="700">
                <a:solidFill>
                  <a:srgbClr val="EE4D2D"/>
                </a:solidFill>
              </a:rPr>
              <a:t>远端 CR 结果</a:t>
            </a:r>
            <a:br>
              <a:rPr b="1" lang="zh-CN" sz="700">
                <a:solidFill>
                  <a:srgbClr val="EE4D2D"/>
                </a:solidFill>
              </a:rPr>
            </a:br>
            <a:r>
              <a:rPr b="1" lang="zh-CN" sz="700">
                <a:solidFill>
                  <a:srgbClr val="EE4D2D"/>
                </a:solidFill>
              </a:rPr>
              <a:t>远端 CR 缺乏代码上下文的关联性，只会分析 Diff</a:t>
            </a:r>
            <a:br>
              <a:rPr lang="zh-CN" sz="700">
                <a:solidFill>
                  <a:srgbClr val="000000"/>
                </a:solidFill>
              </a:rPr>
            </a:br>
            <a:r>
              <a:rPr lang="zh-CN" sz="700">
                <a:solidFill>
                  <a:srgbClr val="000000"/>
                </a:solidFill>
              </a:rPr>
              <a:t>仅检查修改的代码片段，无法理解完整的业务逻辑和变量作用域</a:t>
            </a:r>
            <a:endParaRPr sz="700">
              <a:solidFill>
                <a:srgbClr val="000000"/>
              </a:solidFill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4591800" y="1107888"/>
            <a:ext cx="3894000" cy="510900"/>
          </a:xfrm>
          <a:prstGeom prst="roundRect">
            <a:avLst>
              <a:gd fmla="val 9586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CN" sz="700">
                <a:solidFill>
                  <a:srgbClr val="113366"/>
                </a:solidFill>
              </a:rPr>
              <a:t>本地 CR 结果</a:t>
            </a:r>
            <a:br>
              <a:rPr b="1" lang="zh-CN" sz="700">
                <a:solidFill>
                  <a:srgbClr val="113366"/>
                </a:solidFill>
              </a:rPr>
            </a:br>
            <a:r>
              <a:rPr b="1" lang="zh-CN" sz="700">
                <a:solidFill>
                  <a:srgbClr val="113366"/>
                </a:solidFill>
              </a:rPr>
              <a:t>本地 CR 可以结合上下文以及更有优秀的大模型</a:t>
            </a:r>
            <a:br>
              <a:rPr lang="zh-CN" sz="700">
                <a:solidFill>
                  <a:srgbClr val="212121"/>
                </a:solidFill>
              </a:rPr>
            </a:br>
            <a:r>
              <a:rPr lang="zh-CN" sz="700">
                <a:solidFill>
                  <a:srgbClr val="000000"/>
                </a:solidFill>
              </a:rPr>
              <a:t>结合完整项目上下文，能够识别变量冲突、逻辑错误等复杂问题</a:t>
            </a:r>
            <a:endParaRPr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IBS AI CR </a:t>
            </a:r>
            <a:r>
              <a:rPr b="1" lang="zh-CN" sz="3000">
                <a:solidFill>
                  <a:srgbClr val="113366"/>
                </a:solidFill>
              </a:rPr>
              <a:t>演进之路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666666"/>
                </a:solidFill>
              </a:rPr>
              <a:t>从</a:t>
            </a:r>
            <a:r>
              <a:rPr lang="zh-CN">
                <a:solidFill>
                  <a:srgbClr val="666666"/>
                </a:solidFill>
              </a:rPr>
              <a:t>远端</a:t>
            </a:r>
            <a:r>
              <a:rPr lang="zh-CN">
                <a:solidFill>
                  <a:srgbClr val="666666"/>
                </a:solidFill>
              </a:rPr>
              <a:t>到</a:t>
            </a:r>
            <a:r>
              <a:rPr lang="zh-CN">
                <a:solidFill>
                  <a:srgbClr val="666666"/>
                </a:solidFill>
              </a:rPr>
              <a:t>本地的转变</a:t>
            </a:r>
            <a:r>
              <a:rPr lang="zh-CN">
                <a:solidFill>
                  <a:srgbClr val="666666"/>
                </a:solidFill>
              </a:rPr>
              <a:t>，CR 左移让问题发现更早、更准</a:t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237" name="Google Shape;237;p28"/>
          <p:cNvGrpSpPr/>
          <p:nvPr/>
        </p:nvGrpSpPr>
        <p:grpSpPr>
          <a:xfrm>
            <a:off x="489600" y="2588463"/>
            <a:ext cx="2043300" cy="401811"/>
            <a:chOff x="467701" y="3014140"/>
            <a:chExt cx="2043300" cy="518734"/>
          </a:xfrm>
        </p:grpSpPr>
        <p:sp>
          <p:nvSpPr>
            <p:cNvPr id="238" name="Google Shape;238;p28"/>
            <p:cNvSpPr/>
            <p:nvPr/>
          </p:nvSpPr>
          <p:spPr>
            <a:xfrm>
              <a:off x="467701" y="3014140"/>
              <a:ext cx="2043300" cy="488100"/>
            </a:xfrm>
            <a:prstGeom prst="rect">
              <a:avLst/>
            </a:prstGeom>
            <a:solidFill>
              <a:srgbClr val="D2D2D2"/>
            </a:solidFill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45700" spcFirstLastPara="1" rIns="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8"/>
                <a:buFont typeface="Arial"/>
                <a:buNone/>
              </a:pPr>
              <a:r>
                <a:t/>
              </a:r>
              <a:endParaRPr i="0" sz="368" u="none" cap="none" strike="noStrike">
                <a:solidFill>
                  <a:srgbClr val="FFFFFF"/>
                </a:solidFill>
              </a:endParaRPr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467701" y="3014140"/>
              <a:ext cx="448800" cy="4881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i="0" sz="1350" u="none" cap="none" strike="noStrike">
                <a:solidFill>
                  <a:srgbClr val="FFFFFF"/>
                </a:solidFill>
              </a:endParaRPr>
            </a:p>
          </p:txBody>
        </p:sp>
        <p:sp>
          <p:nvSpPr>
            <p:cNvPr id="240" name="Google Shape;240;p28"/>
            <p:cNvSpPr txBox="1"/>
            <p:nvPr/>
          </p:nvSpPr>
          <p:spPr>
            <a:xfrm>
              <a:off x="918633" y="3095774"/>
              <a:ext cx="10023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zh-CN" sz="1600" u="none" cap="none" strike="noStrike">
                  <a:solidFill>
                    <a:srgbClr val="FCFCFC"/>
                  </a:solidFill>
                </a:rPr>
                <a:t>STEP 01</a:t>
              </a:r>
              <a:endParaRPr i="0" sz="14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241" name="Google Shape;241;p28"/>
          <p:cNvGrpSpPr/>
          <p:nvPr/>
        </p:nvGrpSpPr>
        <p:grpSpPr>
          <a:xfrm>
            <a:off x="5373348" y="1192874"/>
            <a:ext cx="448825" cy="541902"/>
            <a:chOff x="1751482" y="2957524"/>
            <a:chExt cx="1247775" cy="1506538"/>
          </a:xfrm>
        </p:grpSpPr>
        <p:sp>
          <p:nvSpPr>
            <p:cNvPr id="242" name="Google Shape;242;p28"/>
            <p:cNvSpPr/>
            <p:nvPr/>
          </p:nvSpPr>
          <p:spPr>
            <a:xfrm>
              <a:off x="2459507" y="2957524"/>
              <a:ext cx="339725" cy="336550"/>
            </a:xfrm>
            <a:custGeom>
              <a:rect b="b" l="l" r="r" t="t"/>
              <a:pathLst>
                <a:path extrusionOk="0" h="89" w="90">
                  <a:moveTo>
                    <a:pt x="90" y="45"/>
                  </a:moveTo>
                  <a:cubicBezTo>
                    <a:pt x="90" y="69"/>
                    <a:pt x="70" y="89"/>
                    <a:pt x="45" y="89"/>
                  </a:cubicBezTo>
                  <a:cubicBezTo>
                    <a:pt x="20" y="89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21875" lIns="43775" spcFirstLastPara="1" rIns="43775" wrap="square" tIns="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2"/>
                <a:buFont typeface="Arial"/>
                <a:buNone/>
              </a:pPr>
              <a:r>
                <a:t/>
              </a:r>
              <a:endParaRPr i="0" sz="862" u="none" cap="none" strike="noStrike">
                <a:solidFill>
                  <a:srgbClr val="5C5C5C"/>
                </a:solidFill>
              </a:endParaRPr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1751482" y="3271849"/>
              <a:ext cx="1247775" cy="1192213"/>
            </a:xfrm>
            <a:custGeom>
              <a:rect b="b" l="l" r="r" t="t"/>
              <a:pathLst>
                <a:path extrusionOk="0" h="316" w="330">
                  <a:moveTo>
                    <a:pt x="324" y="47"/>
                  </a:moveTo>
                  <a:cubicBezTo>
                    <a:pt x="317" y="40"/>
                    <a:pt x="306" y="39"/>
                    <a:pt x="299" y="45"/>
                  </a:cubicBezTo>
                  <a:cubicBezTo>
                    <a:pt x="291" y="52"/>
                    <a:pt x="275" y="54"/>
                    <a:pt x="261" y="50"/>
                  </a:cubicBezTo>
                  <a:cubicBezTo>
                    <a:pt x="249" y="47"/>
                    <a:pt x="240" y="40"/>
                    <a:pt x="237" y="32"/>
                  </a:cubicBezTo>
                  <a:cubicBezTo>
                    <a:pt x="237" y="32"/>
                    <a:pt x="237" y="31"/>
                    <a:pt x="237" y="30"/>
                  </a:cubicBezTo>
                  <a:cubicBezTo>
                    <a:pt x="234" y="21"/>
                    <a:pt x="226" y="13"/>
                    <a:pt x="218" y="8"/>
                  </a:cubicBezTo>
                  <a:cubicBezTo>
                    <a:pt x="217" y="6"/>
                    <a:pt x="214" y="5"/>
                    <a:pt x="212" y="4"/>
                  </a:cubicBezTo>
                  <a:cubicBezTo>
                    <a:pt x="211" y="4"/>
                    <a:pt x="210" y="3"/>
                    <a:pt x="209" y="3"/>
                  </a:cubicBezTo>
                  <a:cubicBezTo>
                    <a:pt x="204" y="1"/>
                    <a:pt x="199" y="1"/>
                    <a:pt x="199" y="1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6" y="1"/>
                    <a:pt x="194" y="1"/>
                    <a:pt x="191" y="1"/>
                  </a:cubicBezTo>
                  <a:cubicBezTo>
                    <a:pt x="170" y="0"/>
                    <a:pt x="145" y="6"/>
                    <a:pt x="124" y="18"/>
                  </a:cubicBezTo>
                  <a:cubicBezTo>
                    <a:pt x="100" y="32"/>
                    <a:pt x="83" y="52"/>
                    <a:pt x="77" y="74"/>
                  </a:cubicBezTo>
                  <a:cubicBezTo>
                    <a:pt x="77" y="75"/>
                    <a:pt x="77" y="75"/>
                    <a:pt x="76" y="75"/>
                  </a:cubicBezTo>
                  <a:cubicBezTo>
                    <a:pt x="75" y="75"/>
                    <a:pt x="73" y="75"/>
                    <a:pt x="71" y="7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48" y="61"/>
                    <a:pt x="48" y="61"/>
                    <a:pt x="48" y="6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1" y="172"/>
                    <a:pt x="61" y="172"/>
                    <a:pt x="61" y="172"/>
                  </a:cubicBezTo>
                  <a:cubicBezTo>
                    <a:pt x="110" y="127"/>
                    <a:pt x="110" y="127"/>
                    <a:pt x="110" y="127"/>
                  </a:cubicBezTo>
                  <a:cubicBezTo>
                    <a:pt x="91" y="107"/>
                    <a:pt x="91" y="107"/>
                    <a:pt x="91" y="107"/>
                  </a:cubicBezTo>
                  <a:cubicBezTo>
                    <a:pt x="96" y="103"/>
                    <a:pt x="96" y="103"/>
                    <a:pt x="96" y="103"/>
                  </a:cubicBezTo>
                  <a:cubicBezTo>
                    <a:pt x="98" y="101"/>
                    <a:pt x="98" y="98"/>
                    <a:pt x="97" y="96"/>
                  </a:cubicBezTo>
                  <a:cubicBezTo>
                    <a:pt x="103" y="95"/>
                    <a:pt x="109" y="90"/>
                    <a:pt x="110" y="83"/>
                  </a:cubicBezTo>
                  <a:cubicBezTo>
                    <a:pt x="114" y="70"/>
                    <a:pt x="125" y="58"/>
                    <a:pt x="141" y="48"/>
                  </a:cubicBezTo>
                  <a:cubicBezTo>
                    <a:pt x="145" y="46"/>
                    <a:pt x="148" y="45"/>
                    <a:pt x="152" y="43"/>
                  </a:cubicBezTo>
                  <a:cubicBezTo>
                    <a:pt x="128" y="118"/>
                    <a:pt x="128" y="118"/>
                    <a:pt x="128" y="118"/>
                  </a:cubicBezTo>
                  <a:cubicBezTo>
                    <a:pt x="127" y="123"/>
                    <a:pt x="126" y="128"/>
                    <a:pt x="127" y="132"/>
                  </a:cubicBezTo>
                  <a:cubicBezTo>
                    <a:pt x="110" y="177"/>
                    <a:pt x="110" y="177"/>
                    <a:pt x="110" y="177"/>
                  </a:cubicBezTo>
                  <a:cubicBezTo>
                    <a:pt x="57" y="180"/>
                    <a:pt x="57" y="180"/>
                    <a:pt x="57" y="180"/>
                  </a:cubicBezTo>
                  <a:cubicBezTo>
                    <a:pt x="46" y="180"/>
                    <a:pt x="37" y="190"/>
                    <a:pt x="38" y="201"/>
                  </a:cubicBezTo>
                  <a:cubicBezTo>
                    <a:pt x="38" y="212"/>
                    <a:pt x="47" y="221"/>
                    <a:pt x="58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126" y="217"/>
                    <a:pt x="126" y="217"/>
                    <a:pt x="126" y="217"/>
                  </a:cubicBezTo>
                  <a:cubicBezTo>
                    <a:pt x="134" y="217"/>
                    <a:pt x="141" y="212"/>
                    <a:pt x="144" y="204"/>
                  </a:cubicBezTo>
                  <a:cubicBezTo>
                    <a:pt x="159" y="165"/>
                    <a:pt x="159" y="165"/>
                    <a:pt x="159" y="165"/>
                  </a:cubicBezTo>
                  <a:cubicBezTo>
                    <a:pt x="160" y="165"/>
                    <a:pt x="162" y="166"/>
                    <a:pt x="164" y="166"/>
                  </a:cubicBezTo>
                  <a:cubicBezTo>
                    <a:pt x="191" y="205"/>
                    <a:pt x="191" y="205"/>
                    <a:pt x="191" y="205"/>
                  </a:cubicBezTo>
                  <a:cubicBezTo>
                    <a:pt x="168" y="290"/>
                    <a:pt x="168" y="290"/>
                    <a:pt x="168" y="290"/>
                  </a:cubicBezTo>
                  <a:cubicBezTo>
                    <a:pt x="165" y="301"/>
                    <a:pt x="171" y="313"/>
                    <a:pt x="182" y="316"/>
                  </a:cubicBezTo>
                  <a:cubicBezTo>
                    <a:pt x="184" y="316"/>
                    <a:pt x="186" y="316"/>
                    <a:pt x="188" y="316"/>
                  </a:cubicBezTo>
                  <a:cubicBezTo>
                    <a:pt x="197" y="316"/>
                    <a:pt x="205" y="310"/>
                    <a:pt x="208" y="301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5" y="200"/>
                    <a:pt x="234" y="194"/>
                    <a:pt x="230" y="189"/>
                  </a:cubicBezTo>
                  <a:cubicBezTo>
                    <a:pt x="203" y="150"/>
                    <a:pt x="203" y="150"/>
                    <a:pt x="203" y="150"/>
                  </a:cubicBezTo>
                  <a:cubicBezTo>
                    <a:pt x="205" y="148"/>
                    <a:pt x="206" y="146"/>
                    <a:pt x="206" y="144"/>
                  </a:cubicBezTo>
                  <a:cubicBezTo>
                    <a:pt x="229" y="74"/>
                    <a:pt x="229" y="74"/>
                    <a:pt x="229" y="74"/>
                  </a:cubicBezTo>
                  <a:cubicBezTo>
                    <a:pt x="235" y="78"/>
                    <a:pt x="243" y="81"/>
                    <a:pt x="251" y="84"/>
                  </a:cubicBezTo>
                  <a:cubicBezTo>
                    <a:pt x="259" y="86"/>
                    <a:pt x="267" y="87"/>
                    <a:pt x="275" y="87"/>
                  </a:cubicBezTo>
                  <a:cubicBezTo>
                    <a:pt x="293" y="87"/>
                    <a:pt x="310" y="82"/>
                    <a:pt x="322" y="72"/>
                  </a:cubicBezTo>
                  <a:cubicBezTo>
                    <a:pt x="329" y="65"/>
                    <a:pt x="330" y="54"/>
                    <a:pt x="324" y="47"/>
                  </a:cubicBezTo>
                  <a:close/>
                  <a:moveTo>
                    <a:pt x="93" y="100"/>
                  </a:moveTo>
                  <a:cubicBezTo>
                    <a:pt x="88" y="104"/>
                    <a:pt x="88" y="104"/>
                    <a:pt x="88" y="104"/>
                  </a:cubicBezTo>
                  <a:cubicBezTo>
                    <a:pt x="70" y="84"/>
                    <a:pt x="70" y="84"/>
                    <a:pt x="70" y="84"/>
                  </a:cubicBezTo>
                  <a:cubicBezTo>
                    <a:pt x="74" y="80"/>
                    <a:pt x="74" y="80"/>
                    <a:pt x="74" y="80"/>
                  </a:cubicBezTo>
                  <a:cubicBezTo>
                    <a:pt x="75" y="80"/>
                    <a:pt x="75" y="80"/>
                    <a:pt x="76" y="80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7" y="88"/>
                    <a:pt x="82" y="94"/>
                    <a:pt x="89" y="96"/>
                  </a:cubicBezTo>
                  <a:cubicBezTo>
                    <a:pt x="89" y="96"/>
                    <a:pt x="90" y="96"/>
                    <a:pt x="91" y="96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3" y="98"/>
                    <a:pt x="93" y="98"/>
                    <a:pt x="93" y="98"/>
                  </a:cubicBezTo>
                  <a:cubicBezTo>
                    <a:pt x="93" y="99"/>
                    <a:pt x="93" y="99"/>
                    <a:pt x="93" y="100"/>
                  </a:cubicBezTo>
                  <a:close/>
                  <a:moveTo>
                    <a:pt x="93" y="100"/>
                  </a:moveTo>
                  <a:cubicBezTo>
                    <a:pt x="93" y="100"/>
                    <a:pt x="93" y="100"/>
                    <a:pt x="93" y="10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21875" lIns="43775" spcFirstLastPara="1" rIns="43775" wrap="square" tIns="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2"/>
                <a:buFont typeface="Arial"/>
                <a:buNone/>
              </a:pPr>
              <a:r>
                <a:t/>
              </a:r>
              <a:endParaRPr i="0" sz="862" u="none" cap="none" strike="noStrike">
                <a:solidFill>
                  <a:srgbClr val="5C5C5C"/>
                </a:solidFill>
              </a:endParaRPr>
            </a:p>
          </p:txBody>
        </p:sp>
      </p:grpSp>
      <p:sp>
        <p:nvSpPr>
          <p:cNvPr id="244" name="Google Shape;244;p28"/>
          <p:cNvSpPr/>
          <p:nvPr/>
        </p:nvSpPr>
        <p:spPr>
          <a:xfrm rot="-8100000">
            <a:off x="5927538" y="1007684"/>
            <a:ext cx="912592" cy="912592"/>
          </a:xfrm>
          <a:prstGeom prst="arc">
            <a:avLst>
              <a:gd fmla="val 16200000" name="adj1"/>
              <a:gd fmla="val 7096491" name="adj2"/>
            </a:avLst>
          </a:prstGeom>
          <a:noFill/>
          <a:ln cap="flat" cmpd="sng" w="22225">
            <a:solidFill>
              <a:srgbClr val="F4F4F4"/>
            </a:solidFill>
            <a:prstDash val="dot"/>
            <a:round/>
            <a:headEnd len="med" w="med" type="stealth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i="0" sz="1350" u="none" cap="none" strike="noStrike">
              <a:solidFill>
                <a:srgbClr val="5C5C5C"/>
              </a:solidFill>
            </a:endParaRPr>
          </a:p>
        </p:txBody>
      </p:sp>
      <p:grpSp>
        <p:nvGrpSpPr>
          <p:cNvPr id="245" name="Google Shape;245;p28"/>
          <p:cNvGrpSpPr/>
          <p:nvPr/>
        </p:nvGrpSpPr>
        <p:grpSpPr>
          <a:xfrm>
            <a:off x="2532900" y="2182694"/>
            <a:ext cx="2043300" cy="405783"/>
            <a:chOff x="2511113" y="2526167"/>
            <a:chExt cx="2043300" cy="492934"/>
          </a:xfrm>
        </p:grpSpPr>
        <p:sp>
          <p:nvSpPr>
            <p:cNvPr id="246" name="Google Shape;246;p28"/>
            <p:cNvSpPr/>
            <p:nvPr/>
          </p:nvSpPr>
          <p:spPr>
            <a:xfrm>
              <a:off x="2511113" y="2526167"/>
              <a:ext cx="2043300" cy="488100"/>
            </a:xfrm>
            <a:prstGeom prst="rect">
              <a:avLst/>
            </a:pr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i="0" sz="1350" u="none" cap="none" strike="noStrike">
                <a:solidFill>
                  <a:srgbClr val="FFFFFF"/>
                </a:solidFill>
              </a:endParaRPr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2511113" y="2526167"/>
              <a:ext cx="448800" cy="4881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i="0" sz="1350" u="none" cap="none" strike="noStrike">
                <a:solidFill>
                  <a:srgbClr val="FFFFFF"/>
                </a:solidFill>
              </a:endParaRPr>
            </a:p>
          </p:txBody>
        </p:sp>
        <p:sp>
          <p:nvSpPr>
            <p:cNvPr id="248" name="Google Shape;248;p28"/>
            <p:cNvSpPr txBox="1"/>
            <p:nvPr/>
          </p:nvSpPr>
          <p:spPr>
            <a:xfrm>
              <a:off x="2944442" y="2607801"/>
              <a:ext cx="10023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zh-CN" sz="1600" u="none" cap="none" strike="noStrike">
                  <a:solidFill>
                    <a:srgbClr val="FCFCFC"/>
                  </a:solidFill>
                </a:rPr>
                <a:t>STEP 02</a:t>
              </a:r>
              <a:endParaRPr b="1" i="0" sz="1600" u="none" cap="none" strike="noStrike">
                <a:solidFill>
                  <a:srgbClr val="FCFCFC"/>
                </a:solidFill>
              </a:endParaRPr>
            </a:p>
          </p:txBody>
        </p:sp>
      </p:grpSp>
      <p:grpSp>
        <p:nvGrpSpPr>
          <p:cNvPr id="249" name="Google Shape;249;p28"/>
          <p:cNvGrpSpPr/>
          <p:nvPr/>
        </p:nvGrpSpPr>
        <p:grpSpPr>
          <a:xfrm>
            <a:off x="4576200" y="1776176"/>
            <a:ext cx="2043300" cy="406534"/>
            <a:chOff x="4554525" y="2038195"/>
            <a:chExt cx="2043300" cy="489034"/>
          </a:xfrm>
        </p:grpSpPr>
        <p:sp>
          <p:nvSpPr>
            <p:cNvPr id="250" name="Google Shape;250;p28"/>
            <p:cNvSpPr/>
            <p:nvPr/>
          </p:nvSpPr>
          <p:spPr>
            <a:xfrm>
              <a:off x="4554525" y="2038195"/>
              <a:ext cx="2043300" cy="488100"/>
            </a:xfrm>
            <a:prstGeom prst="rect">
              <a:avLst/>
            </a:prstGeom>
            <a:solidFill>
              <a:srgbClr val="67C23A"/>
            </a:solidFill>
            <a:ln>
              <a:noFill/>
            </a:ln>
          </p:spPr>
          <p:txBody>
            <a:bodyPr anchorCtr="0" anchor="t" bIns="0" lIns="45700" spcFirstLastPara="1" rIns="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8"/>
                <a:buFont typeface="Arial"/>
                <a:buNone/>
              </a:pPr>
              <a:r>
                <a:t/>
              </a:r>
              <a:endParaRPr i="0" sz="368" u="none" cap="none" strike="noStrike">
                <a:solidFill>
                  <a:srgbClr val="F8F8F8"/>
                </a:solidFill>
              </a:endParaRPr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4554525" y="2038195"/>
              <a:ext cx="448800" cy="4881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i="0" sz="1350" u="none" cap="none" strike="noStrike">
                <a:solidFill>
                  <a:srgbClr val="FFFFFF"/>
                </a:solidFill>
              </a:endParaRPr>
            </a:p>
          </p:txBody>
        </p:sp>
        <p:sp>
          <p:nvSpPr>
            <p:cNvPr id="252" name="Google Shape;252;p28"/>
            <p:cNvSpPr txBox="1"/>
            <p:nvPr/>
          </p:nvSpPr>
          <p:spPr>
            <a:xfrm>
              <a:off x="5019719" y="2119829"/>
              <a:ext cx="1002300" cy="4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zh-CN" sz="1600" u="none" cap="none" strike="noStrike">
                  <a:solidFill>
                    <a:srgbClr val="FCFCFC"/>
                  </a:solidFill>
                </a:rPr>
                <a:t>STEP 03</a:t>
              </a:r>
              <a:endParaRPr b="1" i="0" sz="1600" u="none" cap="none" strike="noStrike">
                <a:solidFill>
                  <a:srgbClr val="FCFCFC"/>
                </a:solidFill>
              </a:endParaRPr>
            </a:p>
          </p:txBody>
        </p:sp>
      </p:grpSp>
      <p:grpSp>
        <p:nvGrpSpPr>
          <p:cNvPr id="253" name="Google Shape;253;p28"/>
          <p:cNvGrpSpPr/>
          <p:nvPr/>
        </p:nvGrpSpPr>
        <p:grpSpPr>
          <a:xfrm>
            <a:off x="6619500" y="1369617"/>
            <a:ext cx="2043300" cy="406567"/>
            <a:chOff x="6597937" y="1550222"/>
            <a:chExt cx="2043300" cy="488134"/>
          </a:xfrm>
        </p:grpSpPr>
        <p:sp>
          <p:nvSpPr>
            <p:cNvPr id="254" name="Google Shape;254;p28"/>
            <p:cNvSpPr/>
            <p:nvPr/>
          </p:nvSpPr>
          <p:spPr>
            <a:xfrm>
              <a:off x="6597937" y="1550222"/>
              <a:ext cx="2043300" cy="488100"/>
            </a:xfrm>
            <a:prstGeom prst="rect">
              <a:avLst/>
            </a:prstGeom>
            <a:solidFill>
              <a:srgbClr val="113366"/>
            </a:solidFill>
            <a:ln>
              <a:noFill/>
            </a:ln>
          </p:spPr>
          <p:txBody>
            <a:bodyPr anchorCtr="0" anchor="t" bIns="0" lIns="45700" spcFirstLastPara="1" rIns="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8"/>
                <a:buFont typeface="Arial"/>
                <a:buNone/>
              </a:pPr>
              <a:r>
                <a:t/>
              </a:r>
              <a:endParaRPr i="0" sz="368" u="none" cap="none" strike="noStrike">
                <a:solidFill>
                  <a:srgbClr val="292929"/>
                </a:solidFill>
              </a:endParaRPr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6597937" y="1550222"/>
              <a:ext cx="448800" cy="4881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i="0" sz="1350" u="none" cap="none" strike="noStrike">
                <a:solidFill>
                  <a:srgbClr val="FFFFFF"/>
                </a:solidFill>
              </a:endParaRPr>
            </a:p>
          </p:txBody>
        </p:sp>
        <p:sp>
          <p:nvSpPr>
            <p:cNvPr id="256" name="Google Shape;256;p28"/>
            <p:cNvSpPr txBox="1"/>
            <p:nvPr/>
          </p:nvSpPr>
          <p:spPr>
            <a:xfrm>
              <a:off x="7043852" y="1631856"/>
              <a:ext cx="10023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zh-CN" sz="1600" u="none" cap="none" strike="noStrike">
                  <a:solidFill>
                    <a:srgbClr val="FCFCFC"/>
                  </a:solidFill>
                </a:rPr>
                <a:t>STEP 04</a:t>
              </a:r>
              <a:endParaRPr b="1" i="0" sz="1600" u="none" cap="none" strike="noStrike">
                <a:solidFill>
                  <a:srgbClr val="FCFCFC"/>
                </a:solidFill>
              </a:endParaRPr>
            </a:p>
          </p:txBody>
        </p:sp>
      </p:grpSp>
      <p:sp>
        <p:nvSpPr>
          <p:cNvPr id="257" name="Google Shape;257;p28"/>
          <p:cNvSpPr/>
          <p:nvPr/>
        </p:nvSpPr>
        <p:spPr>
          <a:xfrm>
            <a:off x="481525" y="3166700"/>
            <a:ext cx="2033100" cy="1694100"/>
          </a:xfrm>
          <a:prstGeom prst="roundRect">
            <a:avLst>
              <a:gd fmla="val 1793" name="adj"/>
            </a:avLst>
          </a:prstGeom>
          <a:solidFill>
            <a:srgbClr val="F3F3F3"/>
          </a:solidFill>
          <a:ln cap="flat" cmpd="sng" w="84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775" lIns="80775" spcFirstLastPara="1" rIns="80775" wrap="square" tIns="8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28">
                <a:solidFill>
                  <a:schemeClr val="dk2"/>
                </a:solidFill>
              </a:rPr>
              <a:t>远端 CR / 2025-Q2</a:t>
            </a:r>
            <a:endParaRPr b="1" sz="928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使用方式</a:t>
            </a:r>
            <a:r>
              <a:rPr b="1" lang="zh-CN" sz="828">
                <a:solidFill>
                  <a:srgbClr val="113366"/>
                </a:solidFill>
              </a:rPr>
              <a:t>』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28">
                <a:solidFill>
                  <a:srgbClr val="113366"/>
                </a:solidFill>
              </a:rPr>
              <a:t>把 </a:t>
            </a:r>
            <a:r>
              <a:rPr lang="zh-CN" sz="828">
                <a:solidFill>
                  <a:srgbClr val="113366"/>
                </a:solidFill>
              </a:rPr>
              <a:t>AI </a:t>
            </a:r>
            <a:r>
              <a:rPr lang="zh-CN" sz="828">
                <a:solidFill>
                  <a:srgbClr val="113366"/>
                </a:solidFill>
              </a:rPr>
              <a:t>审查建议评论到 MR 上</a:t>
            </a:r>
            <a:endParaRPr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特点』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28">
                <a:solidFill>
                  <a:srgbClr val="EE4D2D"/>
                </a:solidFill>
              </a:rPr>
              <a:t>✗ 审查建议与上下文割裂</a:t>
            </a:r>
            <a:endParaRPr b="1" sz="828">
              <a:solidFill>
                <a:srgbClr val="EE4D2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EE4D2D"/>
                </a:solidFill>
              </a:rPr>
              <a:t>✗ 问题发现太晚（已提 MR）</a:t>
            </a:r>
            <a:endParaRPr b="1" sz="828">
              <a:solidFill>
                <a:srgbClr val="EE4D2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采纳率』</a:t>
            </a:r>
            <a:r>
              <a:rPr b="1" lang="zh-CN" sz="828">
                <a:solidFill>
                  <a:srgbClr val="E6A23C"/>
                </a:solidFill>
              </a:rPr>
              <a:t>~10%，较差</a:t>
            </a:r>
            <a:endParaRPr b="1" sz="828">
              <a:solidFill>
                <a:srgbClr val="E6A23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rgbClr val="EE4D2D"/>
              </a:solidFill>
            </a:endParaRPr>
          </a:p>
        </p:txBody>
      </p:sp>
      <p:cxnSp>
        <p:nvCxnSpPr>
          <p:cNvPr id="258" name="Google Shape;258;p28"/>
          <p:cNvCxnSpPr/>
          <p:nvPr/>
        </p:nvCxnSpPr>
        <p:spPr>
          <a:xfrm>
            <a:off x="581963" y="3463169"/>
            <a:ext cx="1832100" cy="6300"/>
          </a:xfrm>
          <a:prstGeom prst="straightConnector1">
            <a:avLst/>
          </a:prstGeom>
          <a:noFill/>
          <a:ln cap="flat" cmpd="sng" w="88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8"/>
          <p:cNvSpPr/>
          <p:nvPr/>
        </p:nvSpPr>
        <p:spPr>
          <a:xfrm>
            <a:off x="2621250" y="2752275"/>
            <a:ext cx="1920300" cy="2108700"/>
          </a:xfrm>
          <a:prstGeom prst="roundRect">
            <a:avLst>
              <a:gd fmla="val 1793" name="adj"/>
            </a:avLst>
          </a:prstGeom>
          <a:solidFill>
            <a:srgbClr val="F3F3F3"/>
          </a:solidFill>
          <a:ln cap="flat" cmpd="sng" w="84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775" lIns="80775" spcFirstLastPara="1" rIns="80775" wrap="square" tIns="8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28">
                <a:solidFill>
                  <a:schemeClr val="dk2"/>
                </a:solidFill>
              </a:rPr>
              <a:t>本地 CR / 2025-Q3</a:t>
            </a:r>
            <a:endParaRPr b="1" sz="928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『使用方式</a:t>
            </a:r>
            <a:r>
              <a:rPr b="1" lang="zh-CN" sz="828">
                <a:solidFill>
                  <a:srgbClr val="113366"/>
                </a:solidFill>
              </a:rPr>
              <a:t>』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28">
                <a:solidFill>
                  <a:srgbClr val="113366"/>
                </a:solidFill>
              </a:rPr>
              <a:t>在 Cursor IDE 审查代码，建议直接输出到对话中，支持自动修复</a:t>
            </a:r>
            <a:endParaRPr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特点』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28">
                <a:solidFill>
                  <a:srgbClr val="113366"/>
                </a:solidFill>
              </a:rPr>
              <a:t>✓ 结合本地工程代码上下文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✓ 提交前发现问题并修复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FF5722"/>
                </a:solidFill>
              </a:rPr>
              <a:t> ✗ 不支持大任务，采纳率低</a:t>
            </a:r>
            <a:endParaRPr b="1" sz="828">
              <a:solidFill>
                <a:srgbClr val="FF57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28">
                <a:solidFill>
                  <a:srgbClr val="FF5722"/>
                </a:solidFill>
              </a:rPr>
              <a:t> ✗ 没有卡点机制，需求覆盖率低</a:t>
            </a:r>
            <a:endParaRPr b="1" sz="828">
              <a:solidFill>
                <a:srgbClr val="FF57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采纳率』</a:t>
            </a:r>
            <a:r>
              <a:rPr b="1" lang="zh-CN" sz="828">
                <a:solidFill>
                  <a:srgbClr val="E6A23C"/>
                </a:solidFill>
              </a:rPr>
              <a:t>~30%</a:t>
            </a:r>
            <a:r>
              <a:rPr b="1" lang="zh-CN" sz="800">
                <a:solidFill>
                  <a:srgbClr val="E6A23C"/>
                </a:solidFill>
              </a:rPr>
              <a:t> ↑</a:t>
            </a:r>
            <a:r>
              <a:rPr lang="zh-CN" sz="800">
                <a:solidFill>
                  <a:srgbClr val="113366"/>
                </a:solidFill>
              </a:rPr>
              <a:t> </a:t>
            </a:r>
            <a:r>
              <a:rPr b="1" lang="zh-CN" sz="828">
                <a:solidFill>
                  <a:srgbClr val="E6A23C"/>
                </a:solidFill>
              </a:rPr>
              <a:t>，有点准</a:t>
            </a:r>
            <a:endParaRPr b="1" sz="828">
              <a:solidFill>
                <a:srgbClr val="E6A23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rgbClr val="EE4D2D"/>
              </a:solidFill>
            </a:endParaRPr>
          </a:p>
        </p:txBody>
      </p:sp>
      <p:cxnSp>
        <p:nvCxnSpPr>
          <p:cNvPr id="260" name="Google Shape;260;p28"/>
          <p:cNvCxnSpPr/>
          <p:nvPr/>
        </p:nvCxnSpPr>
        <p:spPr>
          <a:xfrm>
            <a:off x="2716191" y="3048744"/>
            <a:ext cx="1730400" cy="6300"/>
          </a:xfrm>
          <a:prstGeom prst="straightConnector1">
            <a:avLst/>
          </a:prstGeom>
          <a:noFill/>
          <a:ln cap="flat" cmpd="sng" w="88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8"/>
          <p:cNvSpPr/>
          <p:nvPr/>
        </p:nvSpPr>
        <p:spPr>
          <a:xfrm>
            <a:off x="4660350" y="2360075"/>
            <a:ext cx="1920300" cy="25008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84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775" lIns="80775" spcFirstLastPara="1" rIns="80775" wrap="square" tIns="8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28">
                <a:solidFill>
                  <a:srgbClr val="67C23A"/>
                </a:solidFill>
              </a:rPr>
              <a:t>工程化+流程化 / 2025-Q4</a:t>
            </a:r>
            <a:endParaRPr b="1" sz="928">
              <a:solidFill>
                <a:srgbClr val="67C23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使用方式</a:t>
            </a:r>
            <a:r>
              <a:rPr b="1" lang="zh-CN" sz="828">
                <a:solidFill>
                  <a:srgbClr val="113366"/>
                </a:solidFill>
              </a:rPr>
              <a:t>』</a:t>
            </a:r>
            <a:endParaRPr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28">
                <a:solidFill>
                  <a:srgbClr val="113366"/>
                </a:solidFill>
              </a:rPr>
              <a:t>通过 CLI 自动触发 CR，可以使用 IDE 修复代码、把建议评论到 MR 上</a:t>
            </a:r>
            <a:endParaRPr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特点』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✓ 架构可靠性设计：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任务编排、链式提示词、质检、数据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✓ 流程卡点设计：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本地卡点、远端卡点、周报邮件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28">
                <a:solidFill>
                  <a:srgbClr val="FF5722"/>
                </a:solidFill>
              </a:rPr>
              <a:t> </a:t>
            </a:r>
            <a:r>
              <a:rPr b="1" lang="zh-CN" sz="828">
                <a:solidFill>
                  <a:srgbClr val="FF5722"/>
                </a:solidFill>
              </a:rPr>
              <a:t>✗ 缺乏指标收集机制</a:t>
            </a:r>
            <a:endParaRPr b="1" sz="828">
              <a:solidFill>
                <a:srgbClr val="FF57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28">
                <a:solidFill>
                  <a:srgbClr val="FF5722"/>
                </a:solidFill>
              </a:rPr>
              <a:t> ✗ 缺乏数据回流 + 测试集</a:t>
            </a:r>
            <a:endParaRPr b="1" sz="828">
              <a:solidFill>
                <a:srgbClr val="FF57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采纳率』</a:t>
            </a:r>
            <a:r>
              <a:rPr b="1" lang="zh-CN" sz="828">
                <a:solidFill>
                  <a:srgbClr val="E6A23C"/>
                </a:solidFill>
              </a:rPr>
              <a:t>～60%</a:t>
            </a:r>
            <a:r>
              <a:rPr b="1" lang="zh-CN" sz="828">
                <a:solidFill>
                  <a:srgbClr val="FFAB40"/>
                </a:solidFill>
              </a:rPr>
              <a:t> </a:t>
            </a:r>
            <a:r>
              <a:rPr b="1" lang="zh-CN" sz="800">
                <a:solidFill>
                  <a:srgbClr val="FFAB40"/>
                </a:solidFill>
              </a:rPr>
              <a:t>↑ </a:t>
            </a:r>
            <a:r>
              <a:rPr b="1" lang="zh-CN" sz="828">
                <a:solidFill>
                  <a:srgbClr val="E6A23C"/>
                </a:solidFill>
              </a:rPr>
              <a:t>，比较准</a:t>
            </a:r>
            <a:endParaRPr b="1" sz="928">
              <a:solidFill>
                <a:srgbClr val="E6A23C"/>
              </a:solidFill>
            </a:endParaRPr>
          </a:p>
        </p:txBody>
      </p:sp>
      <p:cxnSp>
        <p:nvCxnSpPr>
          <p:cNvPr id="262" name="Google Shape;262;p28"/>
          <p:cNvCxnSpPr/>
          <p:nvPr/>
        </p:nvCxnSpPr>
        <p:spPr>
          <a:xfrm>
            <a:off x="4755278" y="2650244"/>
            <a:ext cx="1730400" cy="6300"/>
          </a:xfrm>
          <a:prstGeom prst="straightConnector1">
            <a:avLst/>
          </a:prstGeom>
          <a:noFill/>
          <a:ln cap="flat" cmpd="sng" w="88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8"/>
          <p:cNvSpPr/>
          <p:nvPr/>
        </p:nvSpPr>
        <p:spPr>
          <a:xfrm>
            <a:off x="6699450" y="1939175"/>
            <a:ext cx="1920300" cy="2921700"/>
          </a:xfrm>
          <a:prstGeom prst="roundRect">
            <a:avLst>
              <a:gd fmla="val 1793" name="adj"/>
            </a:avLst>
          </a:prstGeom>
          <a:solidFill>
            <a:srgbClr val="E3E8EA"/>
          </a:solidFill>
          <a:ln cap="flat" cmpd="sng" w="84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775" lIns="80775" spcFirstLastPara="1" rIns="80775" wrap="square" tIns="8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28">
                <a:solidFill>
                  <a:srgbClr val="113366"/>
                </a:solidFill>
              </a:rPr>
              <a:t>数据驱动进化 / 2026～</a:t>
            </a:r>
            <a:endParaRPr b="1" sz="928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使用方式</a:t>
            </a:r>
            <a:r>
              <a:rPr b="1" lang="zh-CN" sz="828">
                <a:solidFill>
                  <a:srgbClr val="113366"/>
                </a:solidFill>
              </a:rPr>
              <a:t>』</a:t>
            </a:r>
            <a:endParaRPr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28">
                <a:solidFill>
                  <a:srgbClr val="113366"/>
                </a:solidFill>
              </a:rPr>
              <a:t>本地模式 + 远端模式</a:t>
            </a:r>
            <a:endParaRPr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『特点』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✓ </a:t>
            </a:r>
            <a:r>
              <a:rPr b="1" lang="zh-CN" sz="828">
                <a:solidFill>
                  <a:srgbClr val="113366"/>
                </a:solidFill>
              </a:rPr>
              <a:t>指标自动收集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✓ </a:t>
            </a:r>
            <a:r>
              <a:rPr b="1" lang="zh-CN" sz="828">
                <a:solidFill>
                  <a:srgbClr val="113366"/>
                </a:solidFill>
              </a:rPr>
              <a:t>建设基准测试集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✓ </a:t>
            </a:r>
            <a:r>
              <a:rPr b="1" lang="zh-CN" sz="828">
                <a:solidFill>
                  <a:srgbClr val="113366"/>
                </a:solidFill>
              </a:rPr>
              <a:t>建设动态测试集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✓ </a:t>
            </a:r>
            <a:r>
              <a:rPr b="1" lang="zh-CN" sz="828">
                <a:solidFill>
                  <a:srgbClr val="113366"/>
                </a:solidFill>
              </a:rPr>
              <a:t>评估 + 数据回流</a:t>
            </a:r>
            <a:endParaRPr b="1"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</a:t>
            </a:r>
            <a:r>
              <a:rPr b="1" lang="zh-CN" sz="828">
                <a:solidFill>
                  <a:srgbClr val="113366"/>
                </a:solidFill>
              </a:rPr>
              <a:t>采纳率』</a:t>
            </a:r>
            <a:r>
              <a:rPr b="1" lang="zh-CN" sz="828">
                <a:solidFill>
                  <a:srgbClr val="E6A23C"/>
                </a:solidFill>
              </a:rPr>
              <a:t>～80</a:t>
            </a:r>
            <a:r>
              <a:rPr b="1" lang="zh-CN" sz="800">
                <a:solidFill>
                  <a:srgbClr val="E6A23C"/>
                </a:solidFill>
              </a:rPr>
              <a:t>% </a:t>
            </a:r>
            <a:r>
              <a:rPr b="1" lang="zh-CN" sz="800">
                <a:solidFill>
                  <a:srgbClr val="E6A23C"/>
                </a:solidFill>
              </a:rPr>
              <a:t>↑</a:t>
            </a:r>
            <a:endParaRPr sz="828">
              <a:solidFill>
                <a:srgbClr val="E6A23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28">
                <a:solidFill>
                  <a:srgbClr val="113366"/>
                </a:solidFill>
              </a:rPr>
              <a:t>『召回率』</a:t>
            </a:r>
            <a:r>
              <a:rPr b="1" lang="zh-CN" sz="828">
                <a:solidFill>
                  <a:srgbClr val="E6A23C"/>
                </a:solidFill>
              </a:rPr>
              <a:t>～60% </a:t>
            </a:r>
            <a:r>
              <a:rPr b="1" lang="zh-CN" sz="800">
                <a:solidFill>
                  <a:srgbClr val="E6A23C"/>
                </a:solidFill>
              </a:rPr>
              <a:t>↑</a:t>
            </a:r>
            <a:endParaRPr sz="828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28">
              <a:solidFill>
                <a:schemeClr val="dk1"/>
              </a:solidFill>
            </a:endParaRPr>
          </a:p>
        </p:txBody>
      </p:sp>
      <p:cxnSp>
        <p:nvCxnSpPr>
          <p:cNvPr id="264" name="Google Shape;264;p28"/>
          <p:cNvCxnSpPr/>
          <p:nvPr/>
        </p:nvCxnSpPr>
        <p:spPr>
          <a:xfrm>
            <a:off x="6794391" y="2223044"/>
            <a:ext cx="1730400" cy="6300"/>
          </a:xfrm>
          <a:prstGeom prst="straightConnector1">
            <a:avLst/>
          </a:prstGeom>
          <a:noFill/>
          <a:ln cap="flat" cmpd="sng" w="88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5" name="Google Shape;2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25" y="2645375"/>
            <a:ext cx="329125" cy="2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975" y="1415338"/>
            <a:ext cx="360143" cy="31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289" y="1821879"/>
            <a:ext cx="360150" cy="315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3950" y="2228024"/>
            <a:ext cx="360150" cy="315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/>
          <p:nvPr/>
        </p:nvSpPr>
        <p:spPr>
          <a:xfrm>
            <a:off x="2137675" y="2464324"/>
            <a:ext cx="4939200" cy="6198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目录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6298700" y="1185638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01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2490075" y="1185638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为什么需要 AI CR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2490075" y="1851447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IBS AI CR 是什么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6298700" y="1851447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02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2490075" y="251725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核心实现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D9D9"/>
                </a:solidFill>
              </a:rPr>
              <a:t>整体设计、审查规则设计、AI 可控架构设计</a:t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6298700" y="251725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03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2490075" y="318306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推广运营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6298700" y="318306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04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2490075" y="3848875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未来规划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6298700" y="3848875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05</a:t>
            </a:r>
            <a:endParaRPr b="1" sz="2000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整体流程图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90" name="Google Shape;290;p30"/>
          <p:cNvSpPr txBox="1"/>
          <p:nvPr/>
        </p:nvSpPr>
        <p:spPr>
          <a:xfrm>
            <a:off x="6906600" y="1526150"/>
            <a:ext cx="21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91" name="Google Shape;291;p30"/>
          <p:cNvGrpSpPr/>
          <p:nvPr/>
        </p:nvGrpSpPr>
        <p:grpSpPr>
          <a:xfrm>
            <a:off x="6987005" y="785125"/>
            <a:ext cx="2042700" cy="1785600"/>
            <a:chOff x="6917638" y="1234575"/>
            <a:chExt cx="2042700" cy="1785600"/>
          </a:xfrm>
        </p:grpSpPr>
        <p:sp>
          <p:nvSpPr>
            <p:cNvPr id="292" name="Google Shape;292;p30"/>
            <p:cNvSpPr txBox="1"/>
            <p:nvPr/>
          </p:nvSpPr>
          <p:spPr>
            <a:xfrm>
              <a:off x="6917638" y="1234575"/>
              <a:ext cx="2042700" cy="1785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zh-CN" sz="1000">
                  <a:solidFill>
                    <a:srgbClr val="EE4D2D"/>
                  </a:solidFill>
                </a:rPr>
                <a:t>审查规则设计</a:t>
              </a:r>
              <a:endParaRPr b="1" sz="1000">
                <a:solidFill>
                  <a:srgbClr val="EE4D2D"/>
                </a:solidFill>
              </a:endParaRPr>
            </a:p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800">
                  <a:solidFill>
                    <a:schemeClr val="dk2"/>
                  </a:solidFill>
                </a:rPr>
                <a:t>通用规则 + 自定规则 + 分类 + 评分</a:t>
              </a:r>
              <a:endParaRPr sz="800">
                <a:solidFill>
                  <a:schemeClr val="dk2"/>
                </a:solidFill>
              </a:endParaRPr>
            </a:p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zh-CN" sz="1000">
                  <a:solidFill>
                    <a:srgbClr val="EE4D2D"/>
                  </a:solidFill>
                </a:rPr>
                <a:t>架构可靠性</a:t>
              </a:r>
              <a:r>
                <a:rPr b="1" lang="zh-CN" sz="1000">
                  <a:solidFill>
                    <a:srgbClr val="EE4D2D"/>
                  </a:solidFill>
                </a:rPr>
                <a:t>设计</a:t>
              </a:r>
              <a:endParaRPr b="1" sz="1000">
                <a:solidFill>
                  <a:srgbClr val="EE4D2D"/>
                </a:solidFill>
              </a:endParaRPr>
            </a:p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800">
                  <a:solidFill>
                    <a:schemeClr val="dk2"/>
                  </a:solidFill>
                </a:rPr>
                <a:t>任务编排 + 流程控制 + 质量检查</a:t>
              </a:r>
              <a:endParaRPr sz="800">
                <a:solidFill>
                  <a:schemeClr val="dk2"/>
                </a:solidFill>
              </a:endParaRPr>
            </a:p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EE4D2D"/>
                  </a:solidFill>
                </a:rPr>
                <a:t>流程卡点设计</a:t>
              </a:r>
              <a:endParaRPr b="1" sz="1000">
                <a:solidFill>
                  <a:srgbClr val="EE4D2D"/>
                </a:solidFill>
              </a:endParaRPr>
            </a:p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800">
                  <a:solidFill>
                    <a:schemeClr val="dk2"/>
                  </a:solidFill>
                </a:rPr>
                <a:t>本地卡点 + 远端卡点 + 周报</a:t>
              </a:r>
              <a:endParaRPr b="1" sz="800">
                <a:solidFill>
                  <a:srgbClr val="EE4D2D"/>
                </a:solidFill>
              </a:endParaRPr>
            </a:p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EE4D2D"/>
                  </a:solidFill>
                </a:rPr>
                <a:t>数据回流设计</a:t>
              </a:r>
              <a:endParaRPr b="1" sz="1000">
                <a:solidFill>
                  <a:srgbClr val="EE4D2D"/>
                </a:solidFill>
              </a:endParaRPr>
            </a:p>
            <a:p>
              <a:pPr indent="0" lvl="0" marL="2880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800">
                  <a:solidFill>
                    <a:schemeClr val="dk2"/>
                  </a:solidFill>
                </a:rPr>
                <a:t>Benchmark/测试集 + 自迭代</a:t>
              </a:r>
              <a:endParaRPr b="1" sz="800">
                <a:solidFill>
                  <a:srgbClr val="EE4D2D"/>
                </a:solidFill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7033100" y="1298667"/>
              <a:ext cx="198000" cy="198000"/>
            </a:xfrm>
            <a:prstGeom prst="ellipse">
              <a:avLst/>
            </a:prstGeom>
            <a:solidFill>
              <a:srgbClr val="EE4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chemeClr val="lt1"/>
                  </a:solidFill>
                </a:rPr>
                <a:t>一</a:t>
              </a:r>
              <a:endParaRPr sz="1000">
                <a:solidFill>
                  <a:schemeClr val="lt1"/>
                </a:solidFill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7033100" y="1721021"/>
              <a:ext cx="198000" cy="198000"/>
            </a:xfrm>
            <a:prstGeom prst="ellipse">
              <a:avLst/>
            </a:prstGeom>
            <a:solidFill>
              <a:srgbClr val="EE4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chemeClr val="lt1"/>
                  </a:solidFill>
                </a:rPr>
                <a:t>二</a:t>
              </a:r>
              <a:endParaRPr sz="1000">
                <a:solidFill>
                  <a:schemeClr val="lt1"/>
                </a:solidFill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7033100" y="2105096"/>
              <a:ext cx="198000" cy="198000"/>
            </a:xfrm>
            <a:prstGeom prst="ellipse">
              <a:avLst/>
            </a:prstGeom>
            <a:solidFill>
              <a:srgbClr val="EE4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chemeClr val="lt1"/>
                  </a:solidFill>
                </a:rPr>
                <a:t>三</a:t>
              </a:r>
              <a:endParaRPr sz="1000">
                <a:solidFill>
                  <a:schemeClr val="lt1"/>
                </a:solidFill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7033100" y="2527421"/>
              <a:ext cx="198000" cy="198000"/>
            </a:xfrm>
            <a:prstGeom prst="ellipse">
              <a:avLst/>
            </a:prstGeom>
            <a:solidFill>
              <a:srgbClr val="EE4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00">
                  <a:solidFill>
                    <a:schemeClr val="lt1"/>
                  </a:solidFill>
                </a:rPr>
                <a:t>四</a:t>
              </a:r>
              <a:endParaRPr sz="1000">
                <a:solidFill>
                  <a:schemeClr val="lt1"/>
                </a:solidFill>
              </a:endParaRPr>
            </a:p>
          </p:txBody>
        </p:sp>
      </p:grpSp>
      <p:sp>
        <p:nvSpPr>
          <p:cNvPr id="297" name="Google Shape;297;p30"/>
          <p:cNvSpPr/>
          <p:nvPr/>
        </p:nvSpPr>
        <p:spPr>
          <a:xfrm>
            <a:off x="3528750" y="802588"/>
            <a:ext cx="1335000" cy="14091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IBS CLI 层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D9D9D9"/>
                </a:solidFill>
              </a:rPr>
              <a:t>Planner 角色</a:t>
            </a:r>
            <a:endParaRPr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999999"/>
                </a:solidFill>
              </a:rPr>
              <a:t>━━━━━━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lt1"/>
                </a:solidFill>
              </a:rPr>
              <a:t>• 调起 Cursor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• 收集 Git Diff 变更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• 收集 CR Cursor Rules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• 调用 Setup API 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5505100" y="2815300"/>
            <a:ext cx="1218300" cy="15255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FFFFFF"/>
                </a:solidFill>
              </a:rPr>
              <a:t>MCP 层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D9D9D9"/>
                </a:solidFill>
              </a:rPr>
              <a:t>AI Bridge</a:t>
            </a:r>
            <a:endParaRPr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999999"/>
                </a:solidFill>
              </a:rPr>
              <a:t>━━━━━━</a:t>
            </a:r>
            <a:endParaRPr sz="12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FFFFFF"/>
                </a:solidFill>
              </a:rPr>
              <a:t>• 请求透传</a:t>
            </a:r>
            <a:endParaRPr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FFFFFF"/>
                </a:solidFill>
              </a:rPr>
              <a:t>• 结果透传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3528750" y="2815388"/>
            <a:ext cx="1335000" cy="15255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chemeClr val="lt1"/>
                </a:solidFill>
              </a:rPr>
              <a:t>Server 层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D9D9D9"/>
                </a:solidFill>
              </a:rPr>
              <a:t>TL 角色</a:t>
            </a:r>
            <a:endParaRPr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999999"/>
                </a:solidFill>
              </a:rPr>
              <a:t>━━━━━━</a:t>
            </a:r>
            <a:endParaRPr sz="12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lt1"/>
                </a:solidFill>
              </a:rPr>
              <a:t>• 任务拆分编排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lt1"/>
                </a:solidFill>
              </a:rPr>
              <a:t>• 链式提示词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lt1"/>
                </a:solidFill>
              </a:rPr>
              <a:t>• 多维质检机制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• 数据持久化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• 配置化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5505100" y="802600"/>
            <a:ext cx="1218300" cy="14091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Cursor AI 层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D9D9D9"/>
                </a:solidFill>
              </a:rPr>
              <a:t>Cursor Agent</a:t>
            </a:r>
            <a:endParaRPr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999999"/>
                </a:solidFill>
              </a:rPr>
              <a:t>━━━━━━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rgbClr val="FFFFFF"/>
                </a:solidFill>
              </a:rPr>
              <a:t>• 专注执行审查</a:t>
            </a:r>
            <a:endParaRPr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FFFFFF"/>
                </a:solidFill>
              </a:rPr>
              <a:t>• 输出结构化建议</a:t>
            </a:r>
            <a:endParaRPr sz="800">
              <a:solidFill>
                <a:srgbClr val="D9D9D9"/>
              </a:solidFill>
            </a:endParaRPr>
          </a:p>
        </p:txBody>
      </p:sp>
      <p:cxnSp>
        <p:nvCxnSpPr>
          <p:cNvPr id="301" name="Google Shape;301;p30"/>
          <p:cNvCxnSpPr>
            <a:stCxn id="297" idx="2"/>
            <a:endCxn id="299" idx="0"/>
          </p:cNvCxnSpPr>
          <p:nvPr/>
        </p:nvCxnSpPr>
        <p:spPr>
          <a:xfrm flipH="1" rot="-5400000">
            <a:off x="3894750" y="2513188"/>
            <a:ext cx="6036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302" name="Google Shape;302;p30"/>
          <p:cNvCxnSpPr>
            <a:stCxn id="297" idx="3"/>
            <a:endCxn id="300" idx="1"/>
          </p:cNvCxnSpPr>
          <p:nvPr/>
        </p:nvCxnSpPr>
        <p:spPr>
          <a:xfrm>
            <a:off x="4863750" y="1507138"/>
            <a:ext cx="641400" cy="6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03" name="Google Shape;303;p30"/>
          <p:cNvCxnSpPr>
            <a:stCxn id="300" idx="2"/>
            <a:endCxn id="298" idx="0"/>
          </p:cNvCxnSpPr>
          <p:nvPr/>
        </p:nvCxnSpPr>
        <p:spPr>
          <a:xfrm flipH="1" rot="-5400000">
            <a:off x="5812750" y="2513200"/>
            <a:ext cx="6036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304" name="Google Shape;304;p30"/>
          <p:cNvCxnSpPr>
            <a:stCxn id="298" idx="1"/>
            <a:endCxn id="299" idx="3"/>
          </p:cNvCxnSpPr>
          <p:nvPr/>
        </p:nvCxnSpPr>
        <p:spPr>
          <a:xfrm flipH="1">
            <a:off x="4863700" y="3578050"/>
            <a:ext cx="641400" cy="6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stealth"/>
            <a:tailEnd len="med" w="med" type="stealth"/>
          </a:ln>
        </p:spPr>
      </p:cxnSp>
      <p:pic>
        <p:nvPicPr>
          <p:cNvPr id="305" name="Google Shape;3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88" y="230500"/>
            <a:ext cx="3278174" cy="470038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0"/>
          <p:cNvSpPr txBox="1"/>
          <p:nvPr/>
        </p:nvSpPr>
        <p:spPr>
          <a:xfrm>
            <a:off x="134785" y="4930875"/>
            <a:ext cx="3143400" cy="1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zh-CN" sz="600">
                <a:solidFill>
                  <a:srgbClr val="113366"/>
                </a:solidFill>
              </a:rPr>
              <a:t>用户发起 IBS CR，背后发生的全流程...</a:t>
            </a:r>
            <a:endParaRPr b="1" i="1" sz="600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整体架构设计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7033100" y="1364300"/>
            <a:ext cx="21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13" name="Google Shape;3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950" y="998600"/>
            <a:ext cx="6942103" cy="30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950" y="4233425"/>
            <a:ext cx="6942100" cy="324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/>
          <p:nvPr/>
        </p:nvSpPr>
        <p:spPr>
          <a:xfrm>
            <a:off x="5564300" y="1007825"/>
            <a:ext cx="2728500" cy="1335000"/>
          </a:xfrm>
          <a:prstGeom prst="roundRect">
            <a:avLst>
              <a:gd fmla="val 1793" name="adj"/>
            </a:avLst>
          </a:prstGeom>
          <a:solidFill>
            <a:srgbClr val="FFEDEA"/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这会带来什么后果？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为什么需要自定义审查规则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1136600" y="1007825"/>
            <a:ext cx="2728500" cy="1335000"/>
          </a:xfrm>
          <a:prstGeom prst="roundRect">
            <a:avLst>
              <a:gd fmla="val 1793" name="adj"/>
            </a:avLst>
          </a:prstGeom>
          <a:solidFill>
            <a:srgbClr val="EE4D2D">
              <a:alpha val="10000"/>
            </a:srgbClr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dk1"/>
                </a:solidFill>
              </a:rPr>
              <a:t>项目之间差异大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dk1"/>
                </a:solidFill>
              </a:rPr>
              <a:t>审查标准不一</a:t>
            </a:r>
            <a:endParaRPr b="1" sz="800">
              <a:solidFill>
                <a:schemeClr val="dk2"/>
              </a:solidFill>
            </a:endParaRPr>
          </a:p>
        </p:txBody>
      </p:sp>
      <p:cxnSp>
        <p:nvCxnSpPr>
          <p:cNvPr id="322" name="Google Shape;322;p32"/>
          <p:cNvCxnSpPr/>
          <p:nvPr/>
        </p:nvCxnSpPr>
        <p:spPr>
          <a:xfrm>
            <a:off x="4122100" y="1612350"/>
            <a:ext cx="12039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32"/>
          <p:cNvSpPr txBox="1"/>
          <p:nvPr/>
        </p:nvSpPr>
        <p:spPr>
          <a:xfrm>
            <a:off x="5564300" y="1285650"/>
            <a:ext cx="272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00">
                <a:solidFill>
                  <a:srgbClr val="EE4D2D"/>
                </a:solidFill>
              </a:rPr>
              <a:t>结果不准</a:t>
            </a:r>
            <a:endParaRPr b="1" sz="800">
              <a:solidFill>
                <a:srgbClr val="EE4D2D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dk2"/>
                </a:solidFill>
              </a:rPr>
              <a:t>没有自定义规则，普遍采纳率低</a:t>
            </a:r>
            <a:endParaRPr sz="800">
              <a:solidFill>
                <a:schemeClr val="dk2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00">
                <a:solidFill>
                  <a:srgbClr val="EE4D2D"/>
                </a:solidFill>
              </a:rPr>
              <a:t>无法利用团队审查规范</a:t>
            </a:r>
            <a:endParaRPr b="1" sz="800">
              <a:solidFill>
                <a:srgbClr val="EE4D2D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dk2"/>
                </a:solidFill>
              </a:rPr>
              <a:t>缺乏团队视角的编码约定</a:t>
            </a:r>
            <a:endParaRPr sz="800">
              <a:solidFill>
                <a:schemeClr val="dk2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EE4D2D"/>
                </a:solidFill>
              </a:rPr>
              <a:t>开发者不信任工具的审查结果</a:t>
            </a:r>
            <a:endParaRPr b="1" sz="800">
              <a:solidFill>
                <a:srgbClr val="EE4D2D"/>
              </a:solidFill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5713725" y="1386242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7C23A"/>
              </a:solidFill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5713725" y="1742359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7C23A"/>
              </a:solidFill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5713725" y="2105759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7C23A"/>
              </a:solidFill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1136600" y="2728800"/>
            <a:ext cx="7156200" cy="7806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如果不解决这个问题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D9D9D9"/>
                </a:solidFill>
              </a:rPr>
              <a:t>团队积累的审查经验无法沉淀、经典坑点无法利用起来</a:t>
            </a:r>
            <a:endParaRPr sz="10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审查规则设计</a:t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333" name="Google Shape;333;p33"/>
          <p:cNvGrpSpPr/>
          <p:nvPr/>
        </p:nvGrpSpPr>
        <p:grpSpPr>
          <a:xfrm>
            <a:off x="3765218" y="1363629"/>
            <a:ext cx="1640122" cy="1652902"/>
            <a:chOff x="9134879" y="1164239"/>
            <a:chExt cx="3055938" cy="3079750"/>
          </a:xfrm>
        </p:grpSpPr>
        <p:sp>
          <p:nvSpPr>
            <p:cNvPr id="334" name="Google Shape;334;p33"/>
            <p:cNvSpPr/>
            <p:nvPr/>
          </p:nvSpPr>
          <p:spPr>
            <a:xfrm>
              <a:off x="9134879" y="1175351"/>
              <a:ext cx="30354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9134879" y="1164239"/>
              <a:ext cx="3055938" cy="2982913"/>
            </a:xfrm>
            <a:custGeom>
              <a:rect b="b" l="l" r="r" t="t"/>
              <a:pathLst>
                <a:path extrusionOk="0" h="280" w="287">
                  <a:moveTo>
                    <a:pt x="277" y="130"/>
                  </a:moveTo>
                  <a:cubicBezTo>
                    <a:pt x="281" y="122"/>
                    <a:pt x="281" y="112"/>
                    <a:pt x="278" y="103"/>
                  </a:cubicBezTo>
                  <a:cubicBezTo>
                    <a:pt x="275" y="93"/>
                    <a:pt x="269" y="85"/>
                    <a:pt x="261" y="81"/>
                  </a:cubicBezTo>
                  <a:cubicBezTo>
                    <a:pt x="262" y="73"/>
                    <a:pt x="261" y="64"/>
                    <a:pt x="256" y="57"/>
                  </a:cubicBezTo>
                  <a:cubicBezTo>
                    <a:pt x="252" y="51"/>
                    <a:pt x="246" y="46"/>
                    <a:pt x="239" y="44"/>
                  </a:cubicBezTo>
                  <a:cubicBezTo>
                    <a:pt x="238" y="38"/>
                    <a:pt x="235" y="33"/>
                    <a:pt x="231" y="29"/>
                  </a:cubicBezTo>
                  <a:cubicBezTo>
                    <a:pt x="225" y="22"/>
                    <a:pt x="217" y="19"/>
                    <a:pt x="209" y="18"/>
                  </a:cubicBezTo>
                  <a:cubicBezTo>
                    <a:pt x="201" y="7"/>
                    <a:pt x="187" y="0"/>
                    <a:pt x="171" y="0"/>
                  </a:cubicBezTo>
                  <a:cubicBezTo>
                    <a:pt x="164" y="0"/>
                    <a:pt x="158" y="1"/>
                    <a:pt x="152" y="4"/>
                  </a:cubicBezTo>
                  <a:cubicBezTo>
                    <a:pt x="146" y="7"/>
                    <a:pt x="142" y="10"/>
                    <a:pt x="139" y="14"/>
                  </a:cubicBezTo>
                  <a:cubicBezTo>
                    <a:pt x="137" y="12"/>
                    <a:pt x="135" y="11"/>
                    <a:pt x="133" y="9"/>
                  </a:cubicBezTo>
                  <a:cubicBezTo>
                    <a:pt x="127" y="4"/>
                    <a:pt x="120" y="2"/>
                    <a:pt x="112" y="2"/>
                  </a:cubicBezTo>
                  <a:cubicBezTo>
                    <a:pt x="100" y="2"/>
                    <a:pt x="89" y="8"/>
                    <a:pt x="79" y="18"/>
                  </a:cubicBezTo>
                  <a:cubicBezTo>
                    <a:pt x="71" y="18"/>
                    <a:pt x="62" y="22"/>
                    <a:pt x="56" y="29"/>
                  </a:cubicBezTo>
                  <a:cubicBezTo>
                    <a:pt x="52" y="33"/>
                    <a:pt x="49" y="38"/>
                    <a:pt x="47" y="44"/>
                  </a:cubicBezTo>
                  <a:cubicBezTo>
                    <a:pt x="40" y="46"/>
                    <a:pt x="34" y="51"/>
                    <a:pt x="30" y="57"/>
                  </a:cubicBezTo>
                  <a:cubicBezTo>
                    <a:pt x="26" y="64"/>
                    <a:pt x="24" y="73"/>
                    <a:pt x="25" y="81"/>
                  </a:cubicBezTo>
                  <a:cubicBezTo>
                    <a:pt x="17" y="85"/>
                    <a:pt x="11" y="93"/>
                    <a:pt x="8" y="103"/>
                  </a:cubicBezTo>
                  <a:cubicBezTo>
                    <a:pt x="5" y="112"/>
                    <a:pt x="6" y="122"/>
                    <a:pt x="9" y="130"/>
                  </a:cubicBezTo>
                  <a:cubicBezTo>
                    <a:pt x="0" y="143"/>
                    <a:pt x="0" y="161"/>
                    <a:pt x="1" y="167"/>
                  </a:cubicBezTo>
                  <a:cubicBezTo>
                    <a:pt x="2" y="185"/>
                    <a:pt x="10" y="199"/>
                    <a:pt x="22" y="207"/>
                  </a:cubicBezTo>
                  <a:cubicBezTo>
                    <a:pt x="21" y="216"/>
                    <a:pt x="24" y="225"/>
                    <a:pt x="29" y="233"/>
                  </a:cubicBezTo>
                  <a:cubicBezTo>
                    <a:pt x="35" y="240"/>
                    <a:pt x="42" y="245"/>
                    <a:pt x="50" y="246"/>
                  </a:cubicBezTo>
                  <a:cubicBezTo>
                    <a:pt x="51" y="252"/>
                    <a:pt x="54" y="258"/>
                    <a:pt x="58" y="262"/>
                  </a:cubicBezTo>
                  <a:cubicBezTo>
                    <a:pt x="65" y="269"/>
                    <a:pt x="74" y="273"/>
                    <a:pt x="84" y="273"/>
                  </a:cubicBezTo>
                  <a:cubicBezTo>
                    <a:pt x="86" y="273"/>
                    <a:pt x="88" y="273"/>
                    <a:pt x="90" y="272"/>
                  </a:cubicBezTo>
                  <a:cubicBezTo>
                    <a:pt x="98" y="278"/>
                    <a:pt x="106" y="280"/>
                    <a:pt x="114" y="280"/>
                  </a:cubicBezTo>
                  <a:cubicBezTo>
                    <a:pt x="127" y="280"/>
                    <a:pt x="139" y="273"/>
                    <a:pt x="146" y="260"/>
                  </a:cubicBezTo>
                  <a:cubicBezTo>
                    <a:pt x="149" y="266"/>
                    <a:pt x="153" y="271"/>
                    <a:pt x="159" y="274"/>
                  </a:cubicBezTo>
                  <a:cubicBezTo>
                    <a:pt x="164" y="277"/>
                    <a:pt x="169" y="279"/>
                    <a:pt x="175" y="279"/>
                  </a:cubicBezTo>
                  <a:cubicBezTo>
                    <a:pt x="183" y="279"/>
                    <a:pt x="190" y="277"/>
                    <a:pt x="196" y="272"/>
                  </a:cubicBezTo>
                  <a:cubicBezTo>
                    <a:pt x="198" y="273"/>
                    <a:pt x="201" y="273"/>
                    <a:pt x="203" y="273"/>
                  </a:cubicBezTo>
                  <a:cubicBezTo>
                    <a:pt x="211" y="273"/>
                    <a:pt x="219" y="270"/>
                    <a:pt x="225" y="265"/>
                  </a:cubicBezTo>
                  <a:cubicBezTo>
                    <a:pt x="231" y="260"/>
                    <a:pt x="235" y="254"/>
                    <a:pt x="237" y="246"/>
                  </a:cubicBezTo>
                  <a:cubicBezTo>
                    <a:pt x="245" y="245"/>
                    <a:pt x="252" y="240"/>
                    <a:pt x="257" y="233"/>
                  </a:cubicBezTo>
                  <a:cubicBezTo>
                    <a:pt x="263" y="225"/>
                    <a:pt x="265" y="216"/>
                    <a:pt x="265" y="207"/>
                  </a:cubicBezTo>
                  <a:cubicBezTo>
                    <a:pt x="276" y="199"/>
                    <a:pt x="284" y="185"/>
                    <a:pt x="286" y="167"/>
                  </a:cubicBezTo>
                  <a:cubicBezTo>
                    <a:pt x="287" y="156"/>
                    <a:pt x="285" y="141"/>
                    <a:pt x="277" y="130"/>
                  </a:cubicBezTo>
                  <a:close/>
                </a:path>
              </a:pathLst>
            </a:custGeom>
            <a:solidFill>
              <a:srgbClr val="FF5722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9230129" y="1218214"/>
              <a:ext cx="2865438" cy="3025775"/>
            </a:xfrm>
            <a:custGeom>
              <a:rect b="b" l="l" r="r" t="t"/>
              <a:pathLst>
                <a:path extrusionOk="0" h="284" w="269">
                  <a:moveTo>
                    <a:pt x="74" y="23"/>
                  </a:moveTo>
                  <a:cubicBezTo>
                    <a:pt x="85" y="9"/>
                    <a:pt x="103" y="0"/>
                    <a:pt x="119" y="12"/>
                  </a:cubicBezTo>
                  <a:cubicBezTo>
                    <a:pt x="136" y="25"/>
                    <a:pt x="135" y="50"/>
                    <a:pt x="124" y="67"/>
                  </a:cubicBezTo>
                  <a:cubicBezTo>
                    <a:pt x="135" y="81"/>
                    <a:pt x="134" y="105"/>
                    <a:pt x="121" y="117"/>
                  </a:cubicBezTo>
                  <a:cubicBezTo>
                    <a:pt x="132" y="130"/>
                    <a:pt x="133" y="153"/>
                    <a:pt x="123" y="167"/>
                  </a:cubicBezTo>
                  <a:cubicBezTo>
                    <a:pt x="135" y="179"/>
                    <a:pt x="135" y="200"/>
                    <a:pt x="124" y="212"/>
                  </a:cubicBezTo>
                  <a:cubicBezTo>
                    <a:pt x="149" y="245"/>
                    <a:pt x="113" y="284"/>
                    <a:pt x="84" y="257"/>
                  </a:cubicBezTo>
                  <a:cubicBezTo>
                    <a:pt x="67" y="263"/>
                    <a:pt x="49" y="251"/>
                    <a:pt x="49" y="233"/>
                  </a:cubicBezTo>
                  <a:cubicBezTo>
                    <a:pt x="31" y="233"/>
                    <a:pt x="18" y="215"/>
                    <a:pt x="23" y="197"/>
                  </a:cubicBezTo>
                  <a:cubicBezTo>
                    <a:pt x="9" y="191"/>
                    <a:pt x="2" y="176"/>
                    <a:pt x="1" y="161"/>
                  </a:cubicBezTo>
                  <a:cubicBezTo>
                    <a:pt x="0" y="149"/>
                    <a:pt x="3" y="134"/>
                    <a:pt x="12" y="126"/>
                  </a:cubicBezTo>
                  <a:cubicBezTo>
                    <a:pt x="0" y="111"/>
                    <a:pt x="9" y="86"/>
                    <a:pt x="27" y="81"/>
                  </a:cubicBezTo>
                  <a:cubicBezTo>
                    <a:pt x="21" y="66"/>
                    <a:pt x="30" y="47"/>
                    <a:pt x="47" y="46"/>
                  </a:cubicBezTo>
                  <a:cubicBezTo>
                    <a:pt x="46" y="33"/>
                    <a:pt x="61" y="20"/>
                    <a:pt x="74" y="23"/>
                  </a:cubicBezTo>
                  <a:close/>
                  <a:moveTo>
                    <a:pt x="150" y="13"/>
                  </a:moveTo>
                  <a:cubicBezTo>
                    <a:pt x="132" y="21"/>
                    <a:pt x="147" y="40"/>
                    <a:pt x="155" y="49"/>
                  </a:cubicBezTo>
                  <a:cubicBezTo>
                    <a:pt x="135" y="59"/>
                    <a:pt x="137" y="80"/>
                    <a:pt x="156" y="91"/>
                  </a:cubicBezTo>
                  <a:cubicBezTo>
                    <a:pt x="140" y="101"/>
                    <a:pt x="133" y="124"/>
                    <a:pt x="151" y="135"/>
                  </a:cubicBezTo>
                  <a:cubicBezTo>
                    <a:pt x="155" y="133"/>
                    <a:pt x="160" y="132"/>
                    <a:pt x="164" y="132"/>
                  </a:cubicBezTo>
                  <a:cubicBezTo>
                    <a:pt x="164" y="120"/>
                    <a:pt x="171" y="111"/>
                    <a:pt x="183" y="108"/>
                  </a:cubicBezTo>
                  <a:cubicBezTo>
                    <a:pt x="181" y="101"/>
                    <a:pt x="183" y="94"/>
                    <a:pt x="187" y="88"/>
                  </a:cubicBezTo>
                  <a:cubicBezTo>
                    <a:pt x="182" y="87"/>
                    <a:pt x="177" y="84"/>
                    <a:pt x="173" y="78"/>
                  </a:cubicBezTo>
                  <a:cubicBezTo>
                    <a:pt x="168" y="81"/>
                    <a:pt x="162" y="81"/>
                    <a:pt x="157" y="78"/>
                  </a:cubicBezTo>
                  <a:cubicBezTo>
                    <a:pt x="160" y="72"/>
                    <a:pt x="160" y="72"/>
                    <a:pt x="160" y="72"/>
                  </a:cubicBezTo>
                  <a:cubicBezTo>
                    <a:pt x="167" y="77"/>
                    <a:pt x="180" y="69"/>
                    <a:pt x="179" y="60"/>
                  </a:cubicBezTo>
                  <a:cubicBezTo>
                    <a:pt x="185" y="59"/>
                    <a:pt x="185" y="59"/>
                    <a:pt x="185" y="59"/>
                  </a:cubicBezTo>
                  <a:cubicBezTo>
                    <a:pt x="186" y="65"/>
                    <a:pt x="183" y="71"/>
                    <a:pt x="178" y="75"/>
                  </a:cubicBezTo>
                  <a:cubicBezTo>
                    <a:pt x="188" y="88"/>
                    <a:pt x="211" y="82"/>
                    <a:pt x="204" y="59"/>
                  </a:cubicBezTo>
                  <a:cubicBezTo>
                    <a:pt x="229" y="47"/>
                    <a:pt x="206" y="22"/>
                    <a:pt x="191" y="32"/>
                  </a:cubicBezTo>
                  <a:cubicBezTo>
                    <a:pt x="189" y="15"/>
                    <a:pt x="166" y="6"/>
                    <a:pt x="150" y="13"/>
                  </a:cubicBezTo>
                  <a:close/>
                  <a:moveTo>
                    <a:pt x="155" y="192"/>
                  </a:moveTo>
                  <a:cubicBezTo>
                    <a:pt x="136" y="197"/>
                    <a:pt x="135" y="223"/>
                    <a:pt x="151" y="231"/>
                  </a:cubicBezTo>
                  <a:cubicBezTo>
                    <a:pt x="148" y="241"/>
                    <a:pt x="149" y="250"/>
                    <a:pt x="158" y="255"/>
                  </a:cubicBezTo>
                  <a:cubicBezTo>
                    <a:pt x="168" y="261"/>
                    <a:pt x="176" y="256"/>
                    <a:pt x="183" y="249"/>
                  </a:cubicBezTo>
                  <a:cubicBezTo>
                    <a:pt x="191" y="253"/>
                    <a:pt x="199" y="253"/>
                    <a:pt x="206" y="248"/>
                  </a:cubicBezTo>
                  <a:cubicBezTo>
                    <a:pt x="214" y="241"/>
                    <a:pt x="213" y="234"/>
                    <a:pt x="211" y="225"/>
                  </a:cubicBezTo>
                  <a:cubicBezTo>
                    <a:pt x="230" y="232"/>
                    <a:pt x="246" y="212"/>
                    <a:pt x="237" y="194"/>
                  </a:cubicBezTo>
                  <a:cubicBezTo>
                    <a:pt x="253" y="188"/>
                    <a:pt x="259" y="177"/>
                    <a:pt x="261" y="161"/>
                  </a:cubicBezTo>
                  <a:cubicBezTo>
                    <a:pt x="262" y="151"/>
                    <a:pt x="260" y="137"/>
                    <a:pt x="252" y="131"/>
                  </a:cubicBezTo>
                  <a:cubicBezTo>
                    <a:pt x="248" y="133"/>
                    <a:pt x="245" y="134"/>
                    <a:pt x="241" y="135"/>
                  </a:cubicBezTo>
                  <a:cubicBezTo>
                    <a:pt x="236" y="144"/>
                    <a:pt x="228" y="150"/>
                    <a:pt x="218" y="149"/>
                  </a:cubicBezTo>
                  <a:cubicBezTo>
                    <a:pt x="216" y="154"/>
                    <a:pt x="217" y="161"/>
                    <a:pt x="220" y="166"/>
                  </a:cubicBezTo>
                  <a:cubicBezTo>
                    <a:pt x="226" y="163"/>
                    <a:pt x="234" y="165"/>
                    <a:pt x="241" y="169"/>
                  </a:cubicBezTo>
                  <a:cubicBezTo>
                    <a:pt x="237" y="174"/>
                    <a:pt x="237" y="174"/>
                    <a:pt x="237" y="174"/>
                  </a:cubicBezTo>
                  <a:cubicBezTo>
                    <a:pt x="224" y="166"/>
                    <a:pt x="212" y="176"/>
                    <a:pt x="214" y="192"/>
                  </a:cubicBezTo>
                  <a:cubicBezTo>
                    <a:pt x="208" y="192"/>
                    <a:pt x="208" y="192"/>
                    <a:pt x="208" y="192"/>
                  </a:cubicBezTo>
                  <a:cubicBezTo>
                    <a:pt x="207" y="184"/>
                    <a:pt x="208" y="176"/>
                    <a:pt x="214" y="170"/>
                  </a:cubicBezTo>
                  <a:cubicBezTo>
                    <a:pt x="210" y="163"/>
                    <a:pt x="210" y="154"/>
                    <a:pt x="211" y="147"/>
                  </a:cubicBezTo>
                  <a:cubicBezTo>
                    <a:pt x="202" y="143"/>
                    <a:pt x="197" y="134"/>
                    <a:pt x="198" y="124"/>
                  </a:cubicBezTo>
                  <a:cubicBezTo>
                    <a:pt x="192" y="123"/>
                    <a:pt x="188" y="119"/>
                    <a:pt x="185" y="114"/>
                  </a:cubicBezTo>
                  <a:cubicBezTo>
                    <a:pt x="175" y="116"/>
                    <a:pt x="170" y="124"/>
                    <a:pt x="171" y="133"/>
                  </a:cubicBezTo>
                  <a:cubicBezTo>
                    <a:pt x="189" y="140"/>
                    <a:pt x="193" y="161"/>
                    <a:pt x="182" y="176"/>
                  </a:cubicBezTo>
                  <a:cubicBezTo>
                    <a:pt x="195" y="186"/>
                    <a:pt x="195" y="206"/>
                    <a:pt x="184" y="218"/>
                  </a:cubicBezTo>
                  <a:cubicBezTo>
                    <a:pt x="189" y="223"/>
                    <a:pt x="190" y="230"/>
                    <a:pt x="188" y="236"/>
                  </a:cubicBezTo>
                  <a:cubicBezTo>
                    <a:pt x="182" y="234"/>
                    <a:pt x="182" y="234"/>
                    <a:pt x="182" y="234"/>
                  </a:cubicBezTo>
                  <a:cubicBezTo>
                    <a:pt x="185" y="221"/>
                    <a:pt x="173" y="216"/>
                    <a:pt x="163" y="220"/>
                  </a:cubicBezTo>
                  <a:cubicBezTo>
                    <a:pt x="160" y="214"/>
                    <a:pt x="160" y="214"/>
                    <a:pt x="160" y="214"/>
                  </a:cubicBezTo>
                  <a:cubicBezTo>
                    <a:pt x="166" y="212"/>
                    <a:pt x="173" y="211"/>
                    <a:pt x="179" y="214"/>
                  </a:cubicBezTo>
                  <a:cubicBezTo>
                    <a:pt x="191" y="203"/>
                    <a:pt x="185" y="182"/>
                    <a:pt x="171" y="179"/>
                  </a:cubicBezTo>
                  <a:cubicBezTo>
                    <a:pt x="195" y="157"/>
                    <a:pt x="173" y="131"/>
                    <a:pt x="154" y="141"/>
                  </a:cubicBezTo>
                  <a:cubicBezTo>
                    <a:pt x="135" y="152"/>
                    <a:pt x="139" y="182"/>
                    <a:pt x="155" y="192"/>
                  </a:cubicBezTo>
                  <a:close/>
                  <a:moveTo>
                    <a:pt x="231" y="86"/>
                  </a:moveTo>
                  <a:cubicBezTo>
                    <a:pt x="262" y="88"/>
                    <a:pt x="262" y="128"/>
                    <a:pt x="237" y="128"/>
                  </a:cubicBezTo>
                  <a:cubicBezTo>
                    <a:pt x="227" y="152"/>
                    <a:pt x="202" y="144"/>
                    <a:pt x="204" y="119"/>
                  </a:cubicBezTo>
                  <a:cubicBezTo>
                    <a:pt x="187" y="115"/>
                    <a:pt x="183" y="100"/>
                    <a:pt x="196" y="88"/>
                  </a:cubicBezTo>
                  <a:cubicBezTo>
                    <a:pt x="207" y="85"/>
                    <a:pt x="214" y="74"/>
                    <a:pt x="211" y="63"/>
                  </a:cubicBezTo>
                  <a:cubicBezTo>
                    <a:pt x="215" y="60"/>
                    <a:pt x="218" y="57"/>
                    <a:pt x="220" y="53"/>
                  </a:cubicBezTo>
                  <a:cubicBezTo>
                    <a:pt x="238" y="53"/>
                    <a:pt x="241" y="76"/>
                    <a:pt x="231" y="86"/>
                  </a:cubicBezTo>
                  <a:close/>
                  <a:moveTo>
                    <a:pt x="195" y="23"/>
                  </a:moveTo>
                  <a:cubicBezTo>
                    <a:pt x="188" y="6"/>
                    <a:pt x="163" y="0"/>
                    <a:pt x="147" y="7"/>
                  </a:cubicBezTo>
                  <a:cubicBezTo>
                    <a:pt x="128" y="16"/>
                    <a:pt x="134" y="34"/>
                    <a:pt x="145" y="47"/>
                  </a:cubicBezTo>
                  <a:cubicBezTo>
                    <a:pt x="132" y="57"/>
                    <a:pt x="132" y="80"/>
                    <a:pt x="144" y="91"/>
                  </a:cubicBezTo>
                  <a:cubicBezTo>
                    <a:pt x="131" y="103"/>
                    <a:pt x="131" y="128"/>
                    <a:pt x="145" y="139"/>
                  </a:cubicBezTo>
                  <a:cubicBezTo>
                    <a:pt x="131" y="152"/>
                    <a:pt x="131" y="177"/>
                    <a:pt x="143" y="190"/>
                  </a:cubicBezTo>
                  <a:cubicBezTo>
                    <a:pt x="131" y="200"/>
                    <a:pt x="131" y="225"/>
                    <a:pt x="143" y="234"/>
                  </a:cubicBezTo>
                  <a:cubicBezTo>
                    <a:pt x="141" y="245"/>
                    <a:pt x="145" y="255"/>
                    <a:pt x="154" y="261"/>
                  </a:cubicBezTo>
                  <a:cubicBezTo>
                    <a:pt x="165" y="267"/>
                    <a:pt x="176" y="265"/>
                    <a:pt x="185" y="257"/>
                  </a:cubicBezTo>
                  <a:cubicBezTo>
                    <a:pt x="193" y="260"/>
                    <a:pt x="203" y="259"/>
                    <a:pt x="210" y="253"/>
                  </a:cubicBezTo>
                  <a:cubicBezTo>
                    <a:pt x="216" y="248"/>
                    <a:pt x="219" y="241"/>
                    <a:pt x="219" y="233"/>
                  </a:cubicBezTo>
                  <a:cubicBezTo>
                    <a:pt x="237" y="233"/>
                    <a:pt x="250" y="215"/>
                    <a:pt x="245" y="197"/>
                  </a:cubicBezTo>
                  <a:cubicBezTo>
                    <a:pt x="259" y="191"/>
                    <a:pt x="266" y="176"/>
                    <a:pt x="267" y="161"/>
                  </a:cubicBezTo>
                  <a:cubicBezTo>
                    <a:pt x="268" y="149"/>
                    <a:pt x="266" y="134"/>
                    <a:pt x="256" y="126"/>
                  </a:cubicBezTo>
                  <a:cubicBezTo>
                    <a:pt x="269" y="111"/>
                    <a:pt x="260" y="86"/>
                    <a:pt x="241" y="81"/>
                  </a:cubicBezTo>
                  <a:cubicBezTo>
                    <a:pt x="247" y="66"/>
                    <a:pt x="238" y="47"/>
                    <a:pt x="222" y="46"/>
                  </a:cubicBezTo>
                  <a:cubicBezTo>
                    <a:pt x="222" y="33"/>
                    <a:pt x="208" y="20"/>
                    <a:pt x="195" y="23"/>
                  </a:cubicBezTo>
                  <a:close/>
                  <a:moveTo>
                    <a:pt x="70" y="116"/>
                  </a:moveTo>
                  <a:cubicBezTo>
                    <a:pt x="75" y="124"/>
                    <a:pt x="83" y="125"/>
                    <a:pt x="90" y="120"/>
                  </a:cubicBezTo>
                  <a:cubicBezTo>
                    <a:pt x="89" y="111"/>
                    <a:pt x="93" y="103"/>
                    <a:pt x="100" y="98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99" y="107"/>
                    <a:pt x="96" y="112"/>
                    <a:pt x="96" y="119"/>
                  </a:cubicBezTo>
                  <a:cubicBezTo>
                    <a:pt x="97" y="124"/>
                    <a:pt x="100" y="130"/>
                    <a:pt x="105" y="132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98" y="136"/>
                    <a:pt x="94" y="132"/>
                    <a:pt x="92" y="126"/>
                  </a:cubicBezTo>
                  <a:cubicBezTo>
                    <a:pt x="83" y="132"/>
                    <a:pt x="72" y="130"/>
                    <a:pt x="66" y="122"/>
                  </a:cubicBezTo>
                  <a:cubicBezTo>
                    <a:pt x="61" y="126"/>
                    <a:pt x="55" y="128"/>
                    <a:pt x="49" y="128"/>
                  </a:cubicBezTo>
                  <a:cubicBezTo>
                    <a:pt x="51" y="132"/>
                    <a:pt x="52" y="135"/>
                    <a:pt x="52" y="139"/>
                  </a:cubicBezTo>
                  <a:cubicBezTo>
                    <a:pt x="67" y="136"/>
                    <a:pt x="79" y="143"/>
                    <a:pt x="83" y="159"/>
                  </a:cubicBezTo>
                  <a:cubicBezTo>
                    <a:pt x="88" y="158"/>
                    <a:pt x="94" y="159"/>
                    <a:pt x="98" y="163"/>
                  </a:cubicBezTo>
                  <a:cubicBezTo>
                    <a:pt x="104" y="160"/>
                    <a:pt x="112" y="160"/>
                    <a:pt x="118" y="163"/>
                  </a:cubicBezTo>
                  <a:cubicBezTo>
                    <a:pt x="128" y="148"/>
                    <a:pt x="124" y="129"/>
                    <a:pt x="111" y="117"/>
                  </a:cubicBezTo>
                  <a:cubicBezTo>
                    <a:pt x="127" y="104"/>
                    <a:pt x="130" y="84"/>
                    <a:pt x="116" y="68"/>
                  </a:cubicBezTo>
                  <a:cubicBezTo>
                    <a:pt x="127" y="55"/>
                    <a:pt x="132" y="29"/>
                    <a:pt x="115" y="17"/>
                  </a:cubicBezTo>
                  <a:cubicBezTo>
                    <a:pt x="100" y="6"/>
                    <a:pt x="85" y="19"/>
                    <a:pt x="77" y="31"/>
                  </a:cubicBezTo>
                  <a:cubicBezTo>
                    <a:pt x="62" y="25"/>
                    <a:pt x="48" y="41"/>
                    <a:pt x="57" y="56"/>
                  </a:cubicBezTo>
                  <a:cubicBezTo>
                    <a:pt x="67" y="73"/>
                    <a:pt x="95" y="76"/>
                    <a:pt x="97" y="56"/>
                  </a:cubicBezTo>
                  <a:cubicBezTo>
                    <a:pt x="90" y="55"/>
                    <a:pt x="85" y="52"/>
                    <a:pt x="80" y="47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93" y="52"/>
                    <a:pt x="107" y="52"/>
                    <a:pt x="111" y="40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5" y="48"/>
                    <a:pt x="110" y="53"/>
                    <a:pt x="103" y="55"/>
                  </a:cubicBezTo>
                  <a:cubicBezTo>
                    <a:pt x="103" y="69"/>
                    <a:pt x="92" y="77"/>
                    <a:pt x="79" y="76"/>
                  </a:cubicBezTo>
                  <a:cubicBezTo>
                    <a:pt x="84" y="86"/>
                    <a:pt x="82" y="98"/>
                    <a:pt x="72" y="103"/>
                  </a:cubicBezTo>
                  <a:cubicBezTo>
                    <a:pt x="73" y="107"/>
                    <a:pt x="72" y="112"/>
                    <a:pt x="70" y="116"/>
                  </a:cubicBezTo>
                  <a:close/>
                  <a:moveTo>
                    <a:pt x="98" y="171"/>
                  </a:moveTo>
                  <a:cubicBezTo>
                    <a:pt x="86" y="160"/>
                    <a:pt x="73" y="165"/>
                    <a:pt x="77" y="181"/>
                  </a:cubicBezTo>
                  <a:cubicBezTo>
                    <a:pt x="59" y="189"/>
                    <a:pt x="61" y="209"/>
                    <a:pt x="79" y="211"/>
                  </a:cubicBezTo>
                  <a:cubicBezTo>
                    <a:pt x="81" y="202"/>
                    <a:pt x="88" y="197"/>
                    <a:pt x="97" y="195"/>
                  </a:cubicBezTo>
                  <a:cubicBezTo>
                    <a:pt x="98" y="201"/>
                    <a:pt x="98" y="201"/>
                    <a:pt x="98" y="201"/>
                  </a:cubicBezTo>
                  <a:cubicBezTo>
                    <a:pt x="81" y="205"/>
                    <a:pt x="82" y="225"/>
                    <a:pt x="96" y="231"/>
                  </a:cubicBezTo>
                  <a:cubicBezTo>
                    <a:pt x="94" y="237"/>
                    <a:pt x="94" y="237"/>
                    <a:pt x="94" y="237"/>
                  </a:cubicBezTo>
                  <a:cubicBezTo>
                    <a:pt x="86" y="234"/>
                    <a:pt x="80" y="227"/>
                    <a:pt x="79" y="218"/>
                  </a:cubicBezTo>
                  <a:cubicBezTo>
                    <a:pt x="56" y="215"/>
                    <a:pt x="51" y="189"/>
                    <a:pt x="69" y="177"/>
                  </a:cubicBezTo>
                  <a:cubicBezTo>
                    <a:pt x="69" y="171"/>
                    <a:pt x="72" y="165"/>
                    <a:pt x="77" y="162"/>
                  </a:cubicBezTo>
                  <a:cubicBezTo>
                    <a:pt x="73" y="142"/>
                    <a:pt x="55" y="143"/>
                    <a:pt x="43" y="149"/>
                  </a:cubicBezTo>
                  <a:cubicBezTo>
                    <a:pt x="48" y="139"/>
                    <a:pt x="47" y="126"/>
                    <a:pt x="31" y="125"/>
                  </a:cubicBezTo>
                  <a:cubicBezTo>
                    <a:pt x="13" y="125"/>
                    <a:pt x="6" y="145"/>
                    <a:pt x="8" y="161"/>
                  </a:cubicBezTo>
                  <a:cubicBezTo>
                    <a:pt x="9" y="177"/>
                    <a:pt x="16" y="188"/>
                    <a:pt x="31" y="194"/>
                  </a:cubicBezTo>
                  <a:cubicBezTo>
                    <a:pt x="25" y="214"/>
                    <a:pt x="37" y="230"/>
                    <a:pt x="57" y="225"/>
                  </a:cubicBezTo>
                  <a:cubicBezTo>
                    <a:pt x="54" y="245"/>
                    <a:pt x="67" y="256"/>
                    <a:pt x="85" y="249"/>
                  </a:cubicBezTo>
                  <a:cubicBezTo>
                    <a:pt x="111" y="276"/>
                    <a:pt x="141" y="242"/>
                    <a:pt x="116" y="212"/>
                  </a:cubicBezTo>
                  <a:cubicBezTo>
                    <a:pt x="127" y="202"/>
                    <a:pt x="130" y="184"/>
                    <a:pt x="119" y="172"/>
                  </a:cubicBezTo>
                  <a:cubicBezTo>
                    <a:pt x="113" y="166"/>
                    <a:pt x="104" y="166"/>
                    <a:pt x="98" y="171"/>
                  </a:cubicBezTo>
                  <a:close/>
                  <a:moveTo>
                    <a:pt x="18" y="122"/>
                  </a:moveTo>
                  <a:cubicBezTo>
                    <a:pt x="26" y="118"/>
                    <a:pt x="32" y="118"/>
                    <a:pt x="41" y="121"/>
                  </a:cubicBezTo>
                  <a:cubicBezTo>
                    <a:pt x="54" y="125"/>
                    <a:pt x="75" y="113"/>
                    <a:pt x="62" y="99"/>
                  </a:cubicBezTo>
                  <a:cubicBezTo>
                    <a:pt x="75" y="100"/>
                    <a:pt x="80" y="83"/>
                    <a:pt x="70" y="75"/>
                  </a:cubicBezTo>
                  <a:cubicBezTo>
                    <a:pt x="60" y="72"/>
                    <a:pt x="52" y="63"/>
                    <a:pt x="48" y="53"/>
                  </a:cubicBezTo>
                  <a:cubicBezTo>
                    <a:pt x="30" y="53"/>
                    <a:pt x="28" y="76"/>
                    <a:pt x="38" y="86"/>
                  </a:cubicBezTo>
                  <a:cubicBezTo>
                    <a:pt x="19" y="85"/>
                    <a:pt x="6" y="108"/>
                    <a:pt x="18" y="1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33"/>
          <p:cNvGrpSpPr/>
          <p:nvPr/>
        </p:nvGrpSpPr>
        <p:grpSpPr>
          <a:xfrm>
            <a:off x="5770474" y="1098865"/>
            <a:ext cx="529632" cy="529632"/>
            <a:chOff x="5385173" y="1917525"/>
            <a:chExt cx="1440000" cy="1440000"/>
          </a:xfrm>
        </p:grpSpPr>
        <p:sp>
          <p:nvSpPr>
            <p:cNvPr id="338" name="Google Shape;338;p33"/>
            <p:cNvSpPr/>
            <p:nvPr/>
          </p:nvSpPr>
          <p:spPr>
            <a:xfrm>
              <a:off x="5385173" y="1917525"/>
              <a:ext cx="1440000" cy="1440000"/>
            </a:xfrm>
            <a:prstGeom prst="ellipse">
              <a:avLst/>
            </a:prstGeom>
            <a:solidFill>
              <a:srgbClr val="E3E8EA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5475173" y="2007525"/>
              <a:ext cx="1260000" cy="1260000"/>
            </a:xfrm>
            <a:prstGeom prst="ellipse">
              <a:avLst/>
            </a:prstGeom>
            <a:solidFill>
              <a:srgbClr val="78909C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33"/>
          <p:cNvGrpSpPr/>
          <p:nvPr/>
        </p:nvGrpSpPr>
        <p:grpSpPr>
          <a:xfrm>
            <a:off x="2870867" y="1098865"/>
            <a:ext cx="529632" cy="529632"/>
            <a:chOff x="5385173" y="1917525"/>
            <a:chExt cx="1440000" cy="1440000"/>
          </a:xfrm>
        </p:grpSpPr>
        <p:sp>
          <p:nvSpPr>
            <p:cNvPr id="341" name="Google Shape;341;p33"/>
            <p:cNvSpPr/>
            <p:nvPr/>
          </p:nvSpPr>
          <p:spPr>
            <a:xfrm>
              <a:off x="5385173" y="1917525"/>
              <a:ext cx="1440000" cy="1440000"/>
            </a:xfrm>
            <a:prstGeom prst="ellipse">
              <a:avLst/>
            </a:prstGeom>
            <a:solidFill>
              <a:srgbClr val="FBFBFB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5475173" y="2007525"/>
              <a:ext cx="1260000" cy="126000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33"/>
          <p:cNvGrpSpPr/>
          <p:nvPr/>
        </p:nvGrpSpPr>
        <p:grpSpPr>
          <a:xfrm>
            <a:off x="5770474" y="1839524"/>
            <a:ext cx="529632" cy="529632"/>
            <a:chOff x="5385173" y="1917525"/>
            <a:chExt cx="1440000" cy="1440000"/>
          </a:xfrm>
        </p:grpSpPr>
        <p:sp>
          <p:nvSpPr>
            <p:cNvPr id="344" name="Google Shape;344;p33"/>
            <p:cNvSpPr/>
            <p:nvPr/>
          </p:nvSpPr>
          <p:spPr>
            <a:xfrm>
              <a:off x="5385173" y="1917525"/>
              <a:ext cx="1440000" cy="1440000"/>
            </a:xfrm>
            <a:prstGeom prst="ellipse">
              <a:avLst/>
            </a:prstGeom>
            <a:solidFill>
              <a:srgbClr val="FEEDD8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5475173" y="2007525"/>
              <a:ext cx="1260000" cy="1260000"/>
            </a:xfrm>
            <a:prstGeom prst="ellipse">
              <a:avLst/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33"/>
          <p:cNvGrpSpPr/>
          <p:nvPr/>
        </p:nvGrpSpPr>
        <p:grpSpPr>
          <a:xfrm>
            <a:off x="2870867" y="1839524"/>
            <a:ext cx="529632" cy="529632"/>
            <a:chOff x="5385173" y="1917525"/>
            <a:chExt cx="1440000" cy="1440000"/>
          </a:xfrm>
        </p:grpSpPr>
        <p:sp>
          <p:nvSpPr>
            <p:cNvPr id="347" name="Google Shape;347;p33"/>
            <p:cNvSpPr/>
            <p:nvPr/>
          </p:nvSpPr>
          <p:spPr>
            <a:xfrm>
              <a:off x="5385173" y="1917525"/>
              <a:ext cx="1440000" cy="1440000"/>
            </a:xfrm>
            <a:prstGeom prst="ellipse">
              <a:avLst/>
            </a:prstGeom>
            <a:solidFill>
              <a:srgbClr val="FEEDD8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5475173" y="2007525"/>
              <a:ext cx="1260000" cy="1260000"/>
            </a:xfrm>
            <a:prstGeom prst="ellipse">
              <a:avLst/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33"/>
          <p:cNvGrpSpPr/>
          <p:nvPr/>
        </p:nvGrpSpPr>
        <p:grpSpPr>
          <a:xfrm>
            <a:off x="5770474" y="2579928"/>
            <a:ext cx="529632" cy="529632"/>
            <a:chOff x="5385173" y="1917525"/>
            <a:chExt cx="1440000" cy="1440000"/>
          </a:xfrm>
        </p:grpSpPr>
        <p:sp>
          <p:nvSpPr>
            <p:cNvPr id="350" name="Google Shape;350;p33"/>
            <p:cNvSpPr/>
            <p:nvPr/>
          </p:nvSpPr>
          <p:spPr>
            <a:xfrm>
              <a:off x="5385173" y="1917525"/>
              <a:ext cx="1440000" cy="1440000"/>
            </a:xfrm>
            <a:prstGeom prst="ellipse">
              <a:avLst/>
            </a:prstGeom>
            <a:solidFill>
              <a:srgbClr val="BAF8FF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5475172" y="2007524"/>
              <a:ext cx="1260000" cy="1260000"/>
            </a:xfrm>
            <a:prstGeom prst="ellipse">
              <a:avLst/>
            </a:prstGeom>
            <a:solidFill>
              <a:srgbClr val="00BFA5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33"/>
          <p:cNvGrpSpPr/>
          <p:nvPr/>
        </p:nvGrpSpPr>
        <p:grpSpPr>
          <a:xfrm>
            <a:off x="2870867" y="2579928"/>
            <a:ext cx="529632" cy="529632"/>
            <a:chOff x="5385173" y="1917525"/>
            <a:chExt cx="1440000" cy="1440000"/>
          </a:xfrm>
        </p:grpSpPr>
        <p:sp>
          <p:nvSpPr>
            <p:cNvPr id="353" name="Google Shape;353;p33"/>
            <p:cNvSpPr/>
            <p:nvPr/>
          </p:nvSpPr>
          <p:spPr>
            <a:xfrm>
              <a:off x="5385173" y="1917525"/>
              <a:ext cx="1440000" cy="1440000"/>
            </a:xfrm>
            <a:prstGeom prst="ellipse">
              <a:avLst/>
            </a:prstGeom>
            <a:solidFill>
              <a:srgbClr val="D2D2D2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5475173" y="2007525"/>
              <a:ext cx="1260000" cy="1260000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39175" lIns="78375" spcFirstLastPara="1" rIns="78375" wrap="square" tIns="39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33"/>
          <p:cNvGrpSpPr/>
          <p:nvPr/>
        </p:nvGrpSpPr>
        <p:grpSpPr>
          <a:xfrm>
            <a:off x="2987283" y="1251343"/>
            <a:ext cx="270528" cy="233351"/>
            <a:chOff x="-122237" y="-128588"/>
            <a:chExt cx="4632323" cy="3995738"/>
          </a:xfrm>
        </p:grpSpPr>
        <p:sp>
          <p:nvSpPr>
            <p:cNvPr id="356" name="Google Shape;356;p33"/>
            <p:cNvSpPr/>
            <p:nvPr/>
          </p:nvSpPr>
          <p:spPr>
            <a:xfrm>
              <a:off x="-122237" y="-128588"/>
              <a:ext cx="4632323" cy="3995738"/>
            </a:xfrm>
            <a:custGeom>
              <a:rect b="b" l="l" r="r" t="t"/>
              <a:pathLst>
                <a:path extrusionOk="0" h="1062" w="1232">
                  <a:moveTo>
                    <a:pt x="1096" y="134"/>
                  </a:moveTo>
                  <a:cubicBezTo>
                    <a:pt x="964" y="3"/>
                    <a:pt x="753" y="0"/>
                    <a:pt x="616" y="123"/>
                  </a:cubicBezTo>
                  <a:cubicBezTo>
                    <a:pt x="479" y="0"/>
                    <a:pt x="268" y="3"/>
                    <a:pt x="136" y="134"/>
                  </a:cubicBezTo>
                  <a:cubicBezTo>
                    <a:pt x="0" y="268"/>
                    <a:pt x="0" y="487"/>
                    <a:pt x="136" y="622"/>
                  </a:cubicBezTo>
                  <a:cubicBezTo>
                    <a:pt x="175" y="660"/>
                    <a:pt x="538" y="1020"/>
                    <a:pt x="538" y="1020"/>
                  </a:cubicBezTo>
                  <a:cubicBezTo>
                    <a:pt x="581" y="1062"/>
                    <a:pt x="651" y="1062"/>
                    <a:pt x="694" y="1020"/>
                  </a:cubicBezTo>
                  <a:cubicBezTo>
                    <a:pt x="694" y="1020"/>
                    <a:pt x="1092" y="626"/>
                    <a:pt x="1096" y="622"/>
                  </a:cubicBezTo>
                  <a:cubicBezTo>
                    <a:pt x="1232" y="487"/>
                    <a:pt x="1232" y="268"/>
                    <a:pt x="1096" y="134"/>
                  </a:cubicBezTo>
                  <a:close/>
                  <a:moveTo>
                    <a:pt x="1044" y="570"/>
                  </a:moveTo>
                  <a:cubicBezTo>
                    <a:pt x="642" y="968"/>
                    <a:pt x="642" y="968"/>
                    <a:pt x="642" y="968"/>
                  </a:cubicBezTo>
                  <a:cubicBezTo>
                    <a:pt x="628" y="982"/>
                    <a:pt x="604" y="982"/>
                    <a:pt x="590" y="968"/>
                  </a:cubicBezTo>
                  <a:cubicBezTo>
                    <a:pt x="188" y="570"/>
                    <a:pt x="188" y="570"/>
                    <a:pt x="188" y="570"/>
                  </a:cubicBezTo>
                  <a:cubicBezTo>
                    <a:pt x="81" y="464"/>
                    <a:pt x="81" y="291"/>
                    <a:pt x="188" y="185"/>
                  </a:cubicBezTo>
                  <a:cubicBezTo>
                    <a:pt x="291" y="82"/>
                    <a:pt x="458" y="79"/>
                    <a:pt x="567" y="177"/>
                  </a:cubicBezTo>
                  <a:cubicBezTo>
                    <a:pt x="616" y="221"/>
                    <a:pt x="616" y="221"/>
                    <a:pt x="616" y="221"/>
                  </a:cubicBezTo>
                  <a:cubicBezTo>
                    <a:pt x="665" y="177"/>
                    <a:pt x="665" y="177"/>
                    <a:pt x="665" y="177"/>
                  </a:cubicBezTo>
                  <a:cubicBezTo>
                    <a:pt x="774" y="79"/>
                    <a:pt x="941" y="82"/>
                    <a:pt x="1044" y="185"/>
                  </a:cubicBezTo>
                  <a:cubicBezTo>
                    <a:pt x="1151" y="291"/>
                    <a:pt x="1151" y="464"/>
                    <a:pt x="1044" y="5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7" name="Google Shape;357;p33"/>
            <p:cNvSpPr/>
            <p:nvPr/>
          </p:nvSpPr>
          <p:spPr>
            <a:xfrm>
              <a:off x="688975" y="681038"/>
              <a:ext cx="650875" cy="650875"/>
            </a:xfrm>
            <a:custGeom>
              <a:rect b="b" l="l" r="r" t="t"/>
              <a:pathLst>
                <a:path extrusionOk="0" h="173" w="173">
                  <a:moveTo>
                    <a:pt x="154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69" y="0"/>
                    <a:pt x="0" y="69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5"/>
                    <a:pt x="8" y="173"/>
                    <a:pt x="18" y="173"/>
                  </a:cubicBezTo>
                  <a:cubicBezTo>
                    <a:pt x="28" y="173"/>
                    <a:pt x="36" y="165"/>
                    <a:pt x="36" y="154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36" y="89"/>
                    <a:pt x="89" y="36"/>
                    <a:pt x="154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65" y="36"/>
                    <a:pt x="173" y="28"/>
                    <a:pt x="173" y="18"/>
                  </a:cubicBezTo>
                  <a:cubicBezTo>
                    <a:pt x="173" y="8"/>
                    <a:pt x="165" y="0"/>
                    <a:pt x="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58" name="Google Shape;358;p33"/>
          <p:cNvSpPr/>
          <p:nvPr/>
        </p:nvSpPr>
        <p:spPr>
          <a:xfrm>
            <a:off x="3014923" y="2020072"/>
            <a:ext cx="243267" cy="182587"/>
          </a:xfrm>
          <a:custGeom>
            <a:rect b="b" l="l" r="r" t="t"/>
            <a:pathLst>
              <a:path extrusionOk="0" h="843" w="1124">
                <a:moveTo>
                  <a:pt x="1103" y="199"/>
                </a:moveTo>
                <a:cubicBezTo>
                  <a:pt x="925" y="21"/>
                  <a:pt x="925" y="21"/>
                  <a:pt x="925" y="21"/>
                </a:cubicBezTo>
                <a:cubicBezTo>
                  <a:pt x="912" y="7"/>
                  <a:pt x="894" y="0"/>
                  <a:pt x="875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230" y="0"/>
                  <a:pt x="212" y="7"/>
                  <a:pt x="199" y="21"/>
                </a:cubicBezTo>
                <a:cubicBezTo>
                  <a:pt x="21" y="199"/>
                  <a:pt x="21" y="199"/>
                  <a:pt x="21" y="199"/>
                </a:cubicBezTo>
                <a:cubicBezTo>
                  <a:pt x="7" y="213"/>
                  <a:pt x="0" y="231"/>
                  <a:pt x="0" y="249"/>
                </a:cubicBezTo>
                <a:cubicBezTo>
                  <a:pt x="0" y="266"/>
                  <a:pt x="6" y="282"/>
                  <a:pt x="18" y="295"/>
                </a:cubicBezTo>
                <a:cubicBezTo>
                  <a:pt x="509" y="819"/>
                  <a:pt x="509" y="819"/>
                  <a:pt x="509" y="819"/>
                </a:cubicBezTo>
                <a:cubicBezTo>
                  <a:pt x="523" y="834"/>
                  <a:pt x="542" y="843"/>
                  <a:pt x="562" y="843"/>
                </a:cubicBezTo>
                <a:cubicBezTo>
                  <a:pt x="582" y="843"/>
                  <a:pt x="601" y="834"/>
                  <a:pt x="615" y="819"/>
                </a:cubicBezTo>
                <a:cubicBezTo>
                  <a:pt x="1106" y="295"/>
                  <a:pt x="1106" y="295"/>
                  <a:pt x="1106" y="295"/>
                </a:cubicBezTo>
                <a:cubicBezTo>
                  <a:pt x="1118" y="282"/>
                  <a:pt x="1124" y="265"/>
                  <a:pt x="1124" y="248"/>
                </a:cubicBezTo>
                <a:cubicBezTo>
                  <a:pt x="1124" y="230"/>
                  <a:pt x="1117" y="213"/>
                  <a:pt x="1103" y="199"/>
                </a:cubicBezTo>
                <a:close/>
                <a:moveTo>
                  <a:pt x="640" y="246"/>
                </a:moveTo>
                <a:cubicBezTo>
                  <a:pt x="484" y="246"/>
                  <a:pt x="484" y="246"/>
                  <a:pt x="484" y="246"/>
                </a:cubicBezTo>
                <a:cubicBezTo>
                  <a:pt x="562" y="181"/>
                  <a:pt x="562" y="181"/>
                  <a:pt x="562" y="181"/>
                </a:cubicBezTo>
                <a:lnTo>
                  <a:pt x="640" y="246"/>
                </a:lnTo>
                <a:close/>
                <a:moveTo>
                  <a:pt x="589" y="158"/>
                </a:moveTo>
                <a:cubicBezTo>
                  <a:pt x="685" y="78"/>
                  <a:pt x="685" y="78"/>
                  <a:pt x="685" y="78"/>
                </a:cubicBezTo>
                <a:cubicBezTo>
                  <a:pt x="756" y="149"/>
                  <a:pt x="756" y="149"/>
                  <a:pt x="756" y="149"/>
                </a:cubicBezTo>
                <a:cubicBezTo>
                  <a:pt x="667" y="223"/>
                  <a:pt x="667" y="223"/>
                  <a:pt x="667" y="223"/>
                </a:cubicBezTo>
                <a:lnTo>
                  <a:pt x="589" y="158"/>
                </a:lnTo>
                <a:close/>
                <a:moveTo>
                  <a:pt x="457" y="223"/>
                </a:moveTo>
                <a:cubicBezTo>
                  <a:pt x="368" y="149"/>
                  <a:pt x="368" y="149"/>
                  <a:pt x="368" y="149"/>
                </a:cubicBezTo>
                <a:cubicBezTo>
                  <a:pt x="439" y="78"/>
                  <a:pt x="439" y="78"/>
                  <a:pt x="439" y="78"/>
                </a:cubicBezTo>
                <a:cubicBezTo>
                  <a:pt x="535" y="158"/>
                  <a:pt x="535" y="158"/>
                  <a:pt x="535" y="158"/>
                </a:cubicBezTo>
                <a:lnTo>
                  <a:pt x="457" y="223"/>
                </a:lnTo>
                <a:close/>
                <a:moveTo>
                  <a:pt x="649" y="281"/>
                </a:moveTo>
                <a:cubicBezTo>
                  <a:pt x="562" y="718"/>
                  <a:pt x="562" y="718"/>
                  <a:pt x="562" y="718"/>
                </a:cubicBezTo>
                <a:cubicBezTo>
                  <a:pt x="475" y="281"/>
                  <a:pt x="475" y="281"/>
                  <a:pt x="475" y="281"/>
                </a:cubicBezTo>
                <a:lnTo>
                  <a:pt x="649" y="281"/>
                </a:lnTo>
                <a:close/>
                <a:moveTo>
                  <a:pt x="685" y="281"/>
                </a:moveTo>
                <a:cubicBezTo>
                  <a:pt x="858" y="281"/>
                  <a:pt x="858" y="281"/>
                  <a:pt x="858" y="281"/>
                </a:cubicBezTo>
                <a:cubicBezTo>
                  <a:pt x="599" y="712"/>
                  <a:pt x="599" y="712"/>
                  <a:pt x="599" y="712"/>
                </a:cubicBezTo>
                <a:lnTo>
                  <a:pt x="685" y="281"/>
                </a:lnTo>
                <a:close/>
                <a:moveTo>
                  <a:pt x="695" y="246"/>
                </a:moveTo>
                <a:cubicBezTo>
                  <a:pt x="781" y="174"/>
                  <a:pt x="781" y="174"/>
                  <a:pt x="781" y="174"/>
                </a:cubicBezTo>
                <a:cubicBezTo>
                  <a:pt x="853" y="246"/>
                  <a:pt x="853" y="246"/>
                  <a:pt x="853" y="246"/>
                </a:cubicBezTo>
                <a:lnTo>
                  <a:pt x="695" y="246"/>
                </a:lnTo>
                <a:close/>
                <a:moveTo>
                  <a:pt x="727" y="70"/>
                </a:moveTo>
                <a:cubicBezTo>
                  <a:pt x="851" y="70"/>
                  <a:pt x="851" y="70"/>
                  <a:pt x="851" y="70"/>
                </a:cubicBezTo>
                <a:cubicBezTo>
                  <a:pt x="783" y="126"/>
                  <a:pt x="783" y="126"/>
                  <a:pt x="783" y="126"/>
                </a:cubicBezTo>
                <a:lnTo>
                  <a:pt x="727" y="70"/>
                </a:lnTo>
                <a:close/>
                <a:moveTo>
                  <a:pt x="562" y="135"/>
                </a:moveTo>
                <a:cubicBezTo>
                  <a:pt x="484" y="70"/>
                  <a:pt x="484" y="70"/>
                  <a:pt x="484" y="70"/>
                </a:cubicBezTo>
                <a:cubicBezTo>
                  <a:pt x="640" y="70"/>
                  <a:pt x="640" y="70"/>
                  <a:pt x="640" y="70"/>
                </a:cubicBezTo>
                <a:lnTo>
                  <a:pt x="562" y="135"/>
                </a:lnTo>
                <a:close/>
                <a:moveTo>
                  <a:pt x="341" y="126"/>
                </a:moveTo>
                <a:cubicBezTo>
                  <a:pt x="273" y="70"/>
                  <a:pt x="273" y="70"/>
                  <a:pt x="273" y="70"/>
                </a:cubicBezTo>
                <a:cubicBezTo>
                  <a:pt x="397" y="70"/>
                  <a:pt x="397" y="70"/>
                  <a:pt x="397" y="70"/>
                </a:cubicBezTo>
                <a:lnTo>
                  <a:pt x="341" y="126"/>
                </a:lnTo>
                <a:close/>
                <a:moveTo>
                  <a:pt x="343" y="174"/>
                </a:moveTo>
                <a:cubicBezTo>
                  <a:pt x="429" y="246"/>
                  <a:pt x="429" y="246"/>
                  <a:pt x="429" y="246"/>
                </a:cubicBezTo>
                <a:cubicBezTo>
                  <a:pt x="271" y="246"/>
                  <a:pt x="271" y="246"/>
                  <a:pt x="271" y="246"/>
                </a:cubicBezTo>
                <a:lnTo>
                  <a:pt x="343" y="174"/>
                </a:lnTo>
                <a:close/>
                <a:moveTo>
                  <a:pt x="439" y="281"/>
                </a:moveTo>
                <a:cubicBezTo>
                  <a:pt x="525" y="712"/>
                  <a:pt x="525" y="712"/>
                  <a:pt x="525" y="712"/>
                </a:cubicBezTo>
                <a:cubicBezTo>
                  <a:pt x="266" y="281"/>
                  <a:pt x="266" y="281"/>
                  <a:pt x="266" y="281"/>
                </a:cubicBezTo>
                <a:lnTo>
                  <a:pt x="439" y="281"/>
                </a:lnTo>
                <a:close/>
                <a:moveTo>
                  <a:pt x="446" y="649"/>
                </a:moveTo>
                <a:cubicBezTo>
                  <a:pt x="101" y="281"/>
                  <a:pt x="101" y="281"/>
                  <a:pt x="101" y="281"/>
                </a:cubicBezTo>
                <a:cubicBezTo>
                  <a:pt x="225" y="281"/>
                  <a:pt x="225" y="281"/>
                  <a:pt x="225" y="281"/>
                </a:cubicBezTo>
                <a:lnTo>
                  <a:pt x="446" y="649"/>
                </a:lnTo>
                <a:close/>
                <a:moveTo>
                  <a:pt x="899" y="281"/>
                </a:moveTo>
                <a:cubicBezTo>
                  <a:pt x="1023" y="281"/>
                  <a:pt x="1023" y="281"/>
                  <a:pt x="1023" y="281"/>
                </a:cubicBezTo>
                <a:cubicBezTo>
                  <a:pt x="678" y="649"/>
                  <a:pt x="678" y="649"/>
                  <a:pt x="678" y="649"/>
                </a:cubicBezTo>
                <a:lnTo>
                  <a:pt x="899" y="281"/>
                </a:lnTo>
                <a:close/>
                <a:moveTo>
                  <a:pt x="903" y="246"/>
                </a:moveTo>
                <a:cubicBezTo>
                  <a:pt x="808" y="151"/>
                  <a:pt x="808" y="151"/>
                  <a:pt x="808" y="151"/>
                </a:cubicBezTo>
                <a:cubicBezTo>
                  <a:pt x="889" y="84"/>
                  <a:pt x="889" y="84"/>
                  <a:pt x="889" y="84"/>
                </a:cubicBezTo>
                <a:cubicBezTo>
                  <a:pt x="1051" y="246"/>
                  <a:pt x="1051" y="246"/>
                  <a:pt x="1051" y="246"/>
                </a:cubicBezTo>
                <a:lnTo>
                  <a:pt x="903" y="246"/>
                </a:lnTo>
                <a:close/>
                <a:moveTo>
                  <a:pt x="235" y="84"/>
                </a:moveTo>
                <a:cubicBezTo>
                  <a:pt x="316" y="151"/>
                  <a:pt x="316" y="151"/>
                  <a:pt x="316" y="151"/>
                </a:cubicBezTo>
                <a:cubicBezTo>
                  <a:pt x="221" y="246"/>
                  <a:pt x="221" y="246"/>
                  <a:pt x="221" y="246"/>
                </a:cubicBezTo>
                <a:cubicBezTo>
                  <a:pt x="70" y="246"/>
                  <a:pt x="70" y="246"/>
                  <a:pt x="70" y="246"/>
                </a:cubicBezTo>
                <a:lnTo>
                  <a:pt x="235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9175" lIns="78375" spcFirstLastPara="1" rIns="78375" wrap="square" tIns="39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59" name="Google Shape;359;p33"/>
          <p:cNvGrpSpPr/>
          <p:nvPr/>
        </p:nvGrpSpPr>
        <p:grpSpPr>
          <a:xfrm>
            <a:off x="1352196" y="1126230"/>
            <a:ext cx="1480797" cy="647603"/>
            <a:chOff x="2019206" y="2386142"/>
            <a:chExt cx="1847301" cy="1100430"/>
          </a:xfrm>
        </p:grpSpPr>
        <p:sp>
          <p:nvSpPr>
            <p:cNvPr id="360" name="Google Shape;360;p33"/>
            <p:cNvSpPr txBox="1"/>
            <p:nvPr/>
          </p:nvSpPr>
          <p:spPr>
            <a:xfrm>
              <a:off x="2437007" y="2386142"/>
              <a:ext cx="1429500" cy="4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1"/>
                <a:buFont typeface="Arial"/>
                <a:buNone/>
              </a:pPr>
              <a:r>
                <a:rPr b="1" lang="zh-CN" sz="1371">
                  <a:solidFill>
                    <a:srgbClr val="113366"/>
                  </a:solidFill>
                </a:rPr>
                <a:t>安全问题</a:t>
              </a:r>
              <a:endParaRPr i="0" sz="1200" u="none" cap="none" strike="noStrike">
                <a:solidFill>
                  <a:srgbClr val="113366"/>
                </a:solidFill>
              </a:endParaRPr>
            </a:p>
          </p:txBody>
        </p:sp>
        <p:sp>
          <p:nvSpPr>
            <p:cNvPr id="361" name="Google Shape;361;p33"/>
            <p:cNvSpPr txBox="1"/>
            <p:nvPr/>
          </p:nvSpPr>
          <p:spPr>
            <a:xfrm>
              <a:off x="2019206" y="2679572"/>
              <a:ext cx="1847100" cy="8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硬编码 Token/密钥 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XSS 注入风险 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敏感信息未加密</a:t>
              </a:r>
              <a:endParaRPr b="1" i="0" sz="857" u="none" cap="none" strike="noStrike">
                <a:solidFill>
                  <a:schemeClr val="dk2"/>
                </a:solidFill>
              </a:endParaRPr>
            </a:p>
          </p:txBody>
        </p:sp>
      </p:grpSp>
      <p:grpSp>
        <p:nvGrpSpPr>
          <p:cNvPr id="362" name="Google Shape;362;p33"/>
          <p:cNvGrpSpPr/>
          <p:nvPr/>
        </p:nvGrpSpPr>
        <p:grpSpPr>
          <a:xfrm>
            <a:off x="1352195" y="1857456"/>
            <a:ext cx="1480828" cy="647591"/>
            <a:chOff x="2019206" y="3853738"/>
            <a:chExt cx="1847340" cy="1100409"/>
          </a:xfrm>
        </p:grpSpPr>
        <p:sp>
          <p:nvSpPr>
            <p:cNvPr id="363" name="Google Shape;363;p33"/>
            <p:cNvSpPr txBox="1"/>
            <p:nvPr/>
          </p:nvSpPr>
          <p:spPr>
            <a:xfrm>
              <a:off x="2577446" y="3853738"/>
              <a:ext cx="1289100" cy="4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1"/>
                <a:buFont typeface="Arial"/>
                <a:buNone/>
              </a:pPr>
              <a:r>
                <a:rPr b="1" lang="zh-CN" sz="1371">
                  <a:solidFill>
                    <a:srgbClr val="113366"/>
                  </a:solidFill>
                </a:rPr>
                <a:t>规范问题</a:t>
              </a:r>
              <a:endParaRPr i="0" sz="1200" u="none" cap="none" strike="noStrike">
                <a:solidFill>
                  <a:srgbClr val="113366"/>
                </a:solidFill>
              </a:endParaRPr>
            </a:p>
          </p:txBody>
        </p:sp>
        <p:sp>
          <p:nvSpPr>
            <p:cNvPr id="364" name="Google Shape;364;p33"/>
            <p:cNvSpPr txBox="1"/>
            <p:nvPr/>
          </p:nvSpPr>
          <p:spPr>
            <a:xfrm>
              <a:off x="2019206" y="4147147"/>
              <a:ext cx="1847100" cy="8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变量命名不规范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魔法数字/硬编码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缺少必要 key 属性</a:t>
              </a:r>
              <a:endParaRPr i="0" sz="857" u="none" cap="none" strike="noStrike">
                <a:solidFill>
                  <a:schemeClr val="dk2"/>
                </a:solidFill>
              </a:endParaRPr>
            </a:p>
          </p:txBody>
        </p:sp>
      </p:grpSp>
      <p:grpSp>
        <p:nvGrpSpPr>
          <p:cNvPr id="365" name="Google Shape;365;p33"/>
          <p:cNvGrpSpPr/>
          <p:nvPr/>
        </p:nvGrpSpPr>
        <p:grpSpPr>
          <a:xfrm>
            <a:off x="1352196" y="2583771"/>
            <a:ext cx="1480786" cy="647609"/>
            <a:chOff x="2019206" y="5270785"/>
            <a:chExt cx="1847288" cy="1100441"/>
          </a:xfrm>
        </p:grpSpPr>
        <p:sp>
          <p:nvSpPr>
            <p:cNvPr id="366" name="Google Shape;366;p33"/>
            <p:cNvSpPr txBox="1"/>
            <p:nvPr/>
          </p:nvSpPr>
          <p:spPr>
            <a:xfrm>
              <a:off x="2390194" y="5270785"/>
              <a:ext cx="1476300" cy="4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1"/>
                <a:buFont typeface="Arial"/>
                <a:buNone/>
              </a:pPr>
              <a:r>
                <a:rPr b="1" lang="zh-CN" sz="1371">
                  <a:solidFill>
                    <a:srgbClr val="113366"/>
                  </a:solidFill>
                </a:rPr>
                <a:t>性能问题</a:t>
              </a:r>
              <a:endParaRPr i="0" sz="1200" u="none" cap="none" strike="noStrike">
                <a:solidFill>
                  <a:srgbClr val="113366"/>
                </a:solidFill>
              </a:endParaRPr>
            </a:p>
          </p:txBody>
        </p:sp>
        <p:sp>
          <p:nvSpPr>
            <p:cNvPr id="367" name="Google Shape;367;p33"/>
            <p:cNvSpPr txBox="1"/>
            <p:nvPr/>
          </p:nvSpPr>
          <p:spPr>
            <a:xfrm>
              <a:off x="2019206" y="5564226"/>
              <a:ext cx="1847100" cy="8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不必要的重新渲染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事件未节流/防抖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频繁操作 DOM</a:t>
              </a:r>
              <a:endParaRPr i="0" sz="857" u="none" cap="none" strike="noStrike">
                <a:solidFill>
                  <a:schemeClr val="dk2"/>
                </a:solidFill>
              </a:endParaRPr>
            </a:p>
          </p:txBody>
        </p:sp>
      </p:grpSp>
      <p:grpSp>
        <p:nvGrpSpPr>
          <p:cNvPr id="368" name="Google Shape;368;p33"/>
          <p:cNvGrpSpPr/>
          <p:nvPr/>
        </p:nvGrpSpPr>
        <p:grpSpPr>
          <a:xfrm>
            <a:off x="3003804" y="2697593"/>
            <a:ext cx="266184" cy="265011"/>
            <a:chOff x="-365126" y="-2462213"/>
            <a:chExt cx="4321176" cy="4302127"/>
          </a:xfrm>
        </p:grpSpPr>
        <p:sp>
          <p:nvSpPr>
            <p:cNvPr id="369" name="Google Shape;369;p33"/>
            <p:cNvSpPr/>
            <p:nvPr/>
          </p:nvSpPr>
          <p:spPr>
            <a:xfrm>
              <a:off x="-365126" y="-2058988"/>
              <a:ext cx="3937000" cy="3898902"/>
            </a:xfrm>
            <a:custGeom>
              <a:rect b="b" l="l" r="r" t="t"/>
              <a:pathLst>
                <a:path extrusionOk="0" h="1037" w="1047">
                  <a:moveTo>
                    <a:pt x="744" y="26"/>
                  </a:moveTo>
                  <a:cubicBezTo>
                    <a:pt x="727" y="10"/>
                    <a:pt x="705" y="0"/>
                    <a:pt x="681" y="0"/>
                  </a:cubicBezTo>
                  <a:cubicBezTo>
                    <a:pt x="657" y="0"/>
                    <a:pt x="635" y="10"/>
                    <a:pt x="618" y="26"/>
                  </a:cubicBezTo>
                  <a:cubicBezTo>
                    <a:pt x="568" y="77"/>
                    <a:pt x="568" y="77"/>
                    <a:pt x="568" y="77"/>
                  </a:cubicBezTo>
                  <a:cubicBezTo>
                    <a:pt x="551" y="94"/>
                    <a:pt x="541" y="116"/>
                    <a:pt x="541" y="140"/>
                  </a:cubicBezTo>
                  <a:cubicBezTo>
                    <a:pt x="541" y="157"/>
                    <a:pt x="546" y="173"/>
                    <a:pt x="555" y="187"/>
                  </a:cubicBezTo>
                  <a:cubicBezTo>
                    <a:pt x="69" y="382"/>
                    <a:pt x="69" y="382"/>
                    <a:pt x="69" y="382"/>
                  </a:cubicBezTo>
                  <a:cubicBezTo>
                    <a:pt x="37" y="396"/>
                    <a:pt x="13" y="425"/>
                    <a:pt x="7" y="460"/>
                  </a:cubicBezTo>
                  <a:cubicBezTo>
                    <a:pt x="0" y="495"/>
                    <a:pt x="11" y="531"/>
                    <a:pt x="37" y="556"/>
                  </a:cubicBezTo>
                  <a:cubicBezTo>
                    <a:pt x="491" y="1006"/>
                    <a:pt x="491" y="1006"/>
                    <a:pt x="491" y="1006"/>
                  </a:cubicBezTo>
                  <a:cubicBezTo>
                    <a:pt x="511" y="1025"/>
                    <a:pt x="537" y="1036"/>
                    <a:pt x="565" y="1037"/>
                  </a:cubicBezTo>
                  <a:cubicBezTo>
                    <a:pt x="565" y="1037"/>
                    <a:pt x="567" y="1037"/>
                    <a:pt x="567" y="1037"/>
                  </a:cubicBezTo>
                  <a:cubicBezTo>
                    <a:pt x="575" y="1037"/>
                    <a:pt x="582" y="1036"/>
                    <a:pt x="589" y="1035"/>
                  </a:cubicBezTo>
                  <a:cubicBezTo>
                    <a:pt x="625" y="1027"/>
                    <a:pt x="654" y="1003"/>
                    <a:pt x="667" y="969"/>
                  </a:cubicBezTo>
                  <a:cubicBezTo>
                    <a:pt x="858" y="491"/>
                    <a:pt x="858" y="491"/>
                    <a:pt x="858" y="491"/>
                  </a:cubicBezTo>
                  <a:cubicBezTo>
                    <a:pt x="872" y="501"/>
                    <a:pt x="889" y="506"/>
                    <a:pt x="907" y="506"/>
                  </a:cubicBezTo>
                  <a:cubicBezTo>
                    <a:pt x="931" y="506"/>
                    <a:pt x="953" y="496"/>
                    <a:pt x="970" y="480"/>
                  </a:cubicBezTo>
                  <a:cubicBezTo>
                    <a:pt x="1020" y="429"/>
                    <a:pt x="1020" y="429"/>
                    <a:pt x="1020" y="429"/>
                  </a:cubicBezTo>
                  <a:cubicBezTo>
                    <a:pt x="1037" y="412"/>
                    <a:pt x="1047" y="390"/>
                    <a:pt x="1047" y="366"/>
                  </a:cubicBezTo>
                  <a:cubicBezTo>
                    <a:pt x="1047" y="342"/>
                    <a:pt x="1037" y="319"/>
                    <a:pt x="1021" y="303"/>
                  </a:cubicBezTo>
                  <a:lnTo>
                    <a:pt x="744" y="26"/>
                  </a:lnTo>
                  <a:close/>
                  <a:moveTo>
                    <a:pt x="601" y="943"/>
                  </a:moveTo>
                  <a:cubicBezTo>
                    <a:pt x="596" y="954"/>
                    <a:pt x="586" y="962"/>
                    <a:pt x="575" y="965"/>
                  </a:cubicBezTo>
                  <a:cubicBezTo>
                    <a:pt x="572" y="965"/>
                    <a:pt x="569" y="966"/>
                    <a:pt x="566" y="966"/>
                  </a:cubicBezTo>
                  <a:cubicBezTo>
                    <a:pt x="557" y="965"/>
                    <a:pt x="549" y="962"/>
                    <a:pt x="542" y="955"/>
                  </a:cubicBezTo>
                  <a:cubicBezTo>
                    <a:pt x="87" y="505"/>
                    <a:pt x="87" y="505"/>
                    <a:pt x="87" y="505"/>
                  </a:cubicBezTo>
                  <a:cubicBezTo>
                    <a:pt x="79" y="497"/>
                    <a:pt x="75" y="485"/>
                    <a:pt x="77" y="473"/>
                  </a:cubicBezTo>
                  <a:cubicBezTo>
                    <a:pt x="79" y="462"/>
                    <a:pt x="87" y="452"/>
                    <a:pt x="98" y="447"/>
                  </a:cubicBezTo>
                  <a:cubicBezTo>
                    <a:pt x="320" y="358"/>
                    <a:pt x="320" y="358"/>
                    <a:pt x="320" y="358"/>
                  </a:cubicBezTo>
                  <a:cubicBezTo>
                    <a:pt x="470" y="408"/>
                    <a:pt x="620" y="360"/>
                    <a:pt x="770" y="520"/>
                  </a:cubicBezTo>
                  <a:lnTo>
                    <a:pt x="601" y="943"/>
                  </a:lnTo>
                  <a:close/>
                  <a:moveTo>
                    <a:pt x="970" y="378"/>
                  </a:moveTo>
                  <a:cubicBezTo>
                    <a:pt x="919" y="429"/>
                    <a:pt x="919" y="429"/>
                    <a:pt x="919" y="429"/>
                  </a:cubicBezTo>
                  <a:cubicBezTo>
                    <a:pt x="912" y="436"/>
                    <a:pt x="901" y="436"/>
                    <a:pt x="894" y="429"/>
                  </a:cubicBezTo>
                  <a:cubicBezTo>
                    <a:pt x="831" y="366"/>
                    <a:pt x="831" y="366"/>
                    <a:pt x="831" y="366"/>
                  </a:cubicBezTo>
                  <a:cubicBezTo>
                    <a:pt x="780" y="494"/>
                    <a:pt x="780" y="494"/>
                    <a:pt x="780" y="494"/>
                  </a:cubicBezTo>
                  <a:cubicBezTo>
                    <a:pt x="784" y="483"/>
                    <a:pt x="784" y="483"/>
                    <a:pt x="784" y="483"/>
                  </a:cubicBezTo>
                  <a:cubicBezTo>
                    <a:pt x="676" y="376"/>
                    <a:pt x="567" y="362"/>
                    <a:pt x="468" y="350"/>
                  </a:cubicBezTo>
                  <a:cubicBezTo>
                    <a:pt x="437" y="346"/>
                    <a:pt x="406" y="342"/>
                    <a:pt x="376" y="336"/>
                  </a:cubicBezTo>
                  <a:cubicBezTo>
                    <a:pt x="679" y="214"/>
                    <a:pt x="679" y="214"/>
                    <a:pt x="679" y="214"/>
                  </a:cubicBezTo>
                  <a:cubicBezTo>
                    <a:pt x="618" y="153"/>
                    <a:pt x="618" y="153"/>
                    <a:pt x="618" y="153"/>
                  </a:cubicBezTo>
                  <a:cubicBezTo>
                    <a:pt x="611" y="146"/>
                    <a:pt x="611" y="135"/>
                    <a:pt x="618" y="128"/>
                  </a:cubicBezTo>
                  <a:cubicBezTo>
                    <a:pt x="669" y="77"/>
                    <a:pt x="669" y="77"/>
                    <a:pt x="669" y="77"/>
                  </a:cubicBezTo>
                  <a:cubicBezTo>
                    <a:pt x="676" y="70"/>
                    <a:pt x="687" y="70"/>
                    <a:pt x="694" y="77"/>
                  </a:cubicBezTo>
                  <a:cubicBezTo>
                    <a:pt x="970" y="353"/>
                    <a:pt x="970" y="353"/>
                    <a:pt x="970" y="353"/>
                  </a:cubicBezTo>
                  <a:cubicBezTo>
                    <a:pt x="977" y="360"/>
                    <a:pt x="977" y="372"/>
                    <a:pt x="970" y="3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0" name="Google Shape;370;p33"/>
            <p:cNvSpPr/>
            <p:nvPr/>
          </p:nvSpPr>
          <p:spPr>
            <a:xfrm>
              <a:off x="1536700" y="-311150"/>
              <a:ext cx="669925" cy="673100"/>
            </a:xfrm>
            <a:custGeom>
              <a:rect b="b" l="l" r="r" t="t"/>
              <a:pathLst>
                <a:path extrusionOk="0" h="179" w="178">
                  <a:moveTo>
                    <a:pt x="89" y="179"/>
                  </a:moveTo>
                  <a:cubicBezTo>
                    <a:pt x="138" y="179"/>
                    <a:pt x="178" y="139"/>
                    <a:pt x="178" y="89"/>
                  </a:cubicBezTo>
                  <a:cubicBezTo>
                    <a:pt x="178" y="40"/>
                    <a:pt x="138" y="0"/>
                    <a:pt x="89" y="0"/>
                  </a:cubicBezTo>
                  <a:cubicBezTo>
                    <a:pt x="40" y="0"/>
                    <a:pt x="0" y="40"/>
                    <a:pt x="0" y="89"/>
                  </a:cubicBezTo>
                  <a:cubicBezTo>
                    <a:pt x="0" y="139"/>
                    <a:pt x="40" y="179"/>
                    <a:pt x="89" y="179"/>
                  </a:cubicBezTo>
                  <a:close/>
                  <a:moveTo>
                    <a:pt x="89" y="36"/>
                  </a:moveTo>
                  <a:cubicBezTo>
                    <a:pt x="119" y="36"/>
                    <a:pt x="143" y="60"/>
                    <a:pt x="143" y="89"/>
                  </a:cubicBezTo>
                  <a:cubicBezTo>
                    <a:pt x="143" y="119"/>
                    <a:pt x="119" y="143"/>
                    <a:pt x="89" y="143"/>
                  </a:cubicBezTo>
                  <a:cubicBezTo>
                    <a:pt x="59" y="143"/>
                    <a:pt x="35" y="119"/>
                    <a:pt x="35" y="89"/>
                  </a:cubicBezTo>
                  <a:cubicBezTo>
                    <a:pt x="35" y="60"/>
                    <a:pt x="59" y="36"/>
                    <a:pt x="89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1" name="Google Shape;371;p33"/>
            <p:cNvSpPr/>
            <p:nvPr/>
          </p:nvSpPr>
          <p:spPr>
            <a:xfrm>
              <a:off x="3282950" y="-2462213"/>
              <a:ext cx="673100" cy="673100"/>
            </a:xfrm>
            <a:custGeom>
              <a:rect b="b" l="l" r="r" t="t"/>
              <a:pathLst>
                <a:path extrusionOk="0" h="179" w="179">
                  <a:moveTo>
                    <a:pt x="90" y="0"/>
                  </a:moveTo>
                  <a:cubicBezTo>
                    <a:pt x="40" y="0"/>
                    <a:pt x="0" y="40"/>
                    <a:pt x="0" y="89"/>
                  </a:cubicBezTo>
                  <a:cubicBezTo>
                    <a:pt x="0" y="139"/>
                    <a:pt x="40" y="179"/>
                    <a:pt x="90" y="179"/>
                  </a:cubicBezTo>
                  <a:cubicBezTo>
                    <a:pt x="139" y="179"/>
                    <a:pt x="179" y="139"/>
                    <a:pt x="179" y="89"/>
                  </a:cubicBezTo>
                  <a:cubicBezTo>
                    <a:pt x="179" y="40"/>
                    <a:pt x="139" y="0"/>
                    <a:pt x="90" y="0"/>
                  </a:cubicBezTo>
                  <a:close/>
                  <a:moveTo>
                    <a:pt x="90" y="143"/>
                  </a:moveTo>
                  <a:cubicBezTo>
                    <a:pt x="60" y="143"/>
                    <a:pt x="36" y="119"/>
                    <a:pt x="36" y="89"/>
                  </a:cubicBezTo>
                  <a:cubicBezTo>
                    <a:pt x="36" y="60"/>
                    <a:pt x="60" y="36"/>
                    <a:pt x="90" y="36"/>
                  </a:cubicBezTo>
                  <a:cubicBezTo>
                    <a:pt x="119" y="36"/>
                    <a:pt x="143" y="60"/>
                    <a:pt x="143" y="89"/>
                  </a:cubicBezTo>
                  <a:cubicBezTo>
                    <a:pt x="143" y="119"/>
                    <a:pt x="119" y="143"/>
                    <a:pt x="90" y="1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2" name="Google Shape;372;p33"/>
            <p:cNvSpPr/>
            <p:nvPr/>
          </p:nvSpPr>
          <p:spPr>
            <a:xfrm>
              <a:off x="728662" y="-446088"/>
              <a:ext cx="538163" cy="536575"/>
            </a:xfrm>
            <a:custGeom>
              <a:rect b="b" l="l" r="r" t="t"/>
              <a:pathLst>
                <a:path extrusionOk="0" h="143" w="143">
                  <a:moveTo>
                    <a:pt x="0" y="72"/>
                  </a:moveTo>
                  <a:cubicBezTo>
                    <a:pt x="0" y="111"/>
                    <a:pt x="32" y="143"/>
                    <a:pt x="72" y="143"/>
                  </a:cubicBezTo>
                  <a:cubicBezTo>
                    <a:pt x="111" y="143"/>
                    <a:pt x="143" y="111"/>
                    <a:pt x="143" y="72"/>
                  </a:cubicBezTo>
                  <a:cubicBezTo>
                    <a:pt x="143" y="32"/>
                    <a:pt x="111" y="0"/>
                    <a:pt x="72" y="0"/>
                  </a:cubicBezTo>
                  <a:cubicBezTo>
                    <a:pt x="32" y="0"/>
                    <a:pt x="0" y="32"/>
                    <a:pt x="0" y="72"/>
                  </a:cubicBezTo>
                  <a:close/>
                  <a:moveTo>
                    <a:pt x="72" y="36"/>
                  </a:moveTo>
                  <a:cubicBezTo>
                    <a:pt x="91" y="36"/>
                    <a:pt x="107" y="52"/>
                    <a:pt x="107" y="72"/>
                  </a:cubicBezTo>
                  <a:cubicBezTo>
                    <a:pt x="107" y="92"/>
                    <a:pt x="91" y="108"/>
                    <a:pt x="72" y="108"/>
                  </a:cubicBezTo>
                  <a:cubicBezTo>
                    <a:pt x="52" y="108"/>
                    <a:pt x="36" y="92"/>
                    <a:pt x="36" y="72"/>
                  </a:cubicBezTo>
                  <a:cubicBezTo>
                    <a:pt x="36" y="52"/>
                    <a:pt x="52" y="36"/>
                    <a:pt x="72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3" name="Google Shape;373;p33"/>
            <p:cNvSpPr/>
            <p:nvPr/>
          </p:nvSpPr>
          <p:spPr>
            <a:xfrm>
              <a:off x="1266825" y="496888"/>
              <a:ext cx="270000" cy="266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4" name="Google Shape;374;p33"/>
            <p:cNvSpPr/>
            <p:nvPr/>
          </p:nvSpPr>
          <p:spPr>
            <a:xfrm>
              <a:off x="3417887" y="-1522413"/>
              <a:ext cx="270000" cy="271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5" name="Google Shape;375;p33"/>
          <p:cNvGrpSpPr/>
          <p:nvPr/>
        </p:nvGrpSpPr>
        <p:grpSpPr>
          <a:xfrm>
            <a:off x="5934384" y="1223681"/>
            <a:ext cx="202580" cy="294363"/>
            <a:chOff x="-1587" y="-1587"/>
            <a:chExt cx="4211637" cy="6119811"/>
          </a:xfrm>
        </p:grpSpPr>
        <p:sp>
          <p:nvSpPr>
            <p:cNvPr id="376" name="Google Shape;376;p33"/>
            <p:cNvSpPr/>
            <p:nvPr/>
          </p:nvSpPr>
          <p:spPr>
            <a:xfrm>
              <a:off x="-1587" y="-1587"/>
              <a:ext cx="4211637" cy="6119811"/>
            </a:xfrm>
            <a:custGeom>
              <a:rect b="b" l="l" r="r" t="t"/>
              <a:pathLst>
                <a:path extrusionOk="0" h="1629" w="1120">
                  <a:moveTo>
                    <a:pt x="560" y="0"/>
                  </a:moveTo>
                  <a:cubicBezTo>
                    <a:pt x="251" y="0"/>
                    <a:pt x="0" y="251"/>
                    <a:pt x="0" y="560"/>
                  </a:cubicBezTo>
                  <a:cubicBezTo>
                    <a:pt x="0" y="765"/>
                    <a:pt x="188" y="983"/>
                    <a:pt x="256" y="1174"/>
                  </a:cubicBezTo>
                  <a:cubicBezTo>
                    <a:pt x="358" y="1459"/>
                    <a:pt x="347" y="1629"/>
                    <a:pt x="560" y="1629"/>
                  </a:cubicBezTo>
                  <a:cubicBezTo>
                    <a:pt x="776" y="1629"/>
                    <a:pt x="762" y="1459"/>
                    <a:pt x="864" y="1175"/>
                  </a:cubicBezTo>
                  <a:cubicBezTo>
                    <a:pt x="932" y="983"/>
                    <a:pt x="1120" y="764"/>
                    <a:pt x="1120" y="560"/>
                  </a:cubicBezTo>
                  <a:cubicBezTo>
                    <a:pt x="1120" y="251"/>
                    <a:pt x="869" y="0"/>
                    <a:pt x="560" y="0"/>
                  </a:cubicBezTo>
                  <a:close/>
                  <a:moveTo>
                    <a:pt x="692" y="1383"/>
                  </a:moveTo>
                  <a:cubicBezTo>
                    <a:pt x="440" y="1415"/>
                    <a:pt x="440" y="1415"/>
                    <a:pt x="440" y="1415"/>
                  </a:cubicBezTo>
                  <a:cubicBezTo>
                    <a:pt x="431" y="1389"/>
                    <a:pt x="421" y="1358"/>
                    <a:pt x="409" y="1319"/>
                  </a:cubicBezTo>
                  <a:cubicBezTo>
                    <a:pt x="409" y="1318"/>
                    <a:pt x="409" y="1318"/>
                    <a:pt x="409" y="1317"/>
                  </a:cubicBezTo>
                  <a:cubicBezTo>
                    <a:pt x="724" y="1278"/>
                    <a:pt x="724" y="1278"/>
                    <a:pt x="724" y="1278"/>
                  </a:cubicBezTo>
                  <a:cubicBezTo>
                    <a:pt x="719" y="1293"/>
                    <a:pt x="714" y="1309"/>
                    <a:pt x="710" y="1323"/>
                  </a:cubicBezTo>
                  <a:cubicBezTo>
                    <a:pt x="704" y="1346"/>
                    <a:pt x="698" y="1365"/>
                    <a:pt x="692" y="1383"/>
                  </a:cubicBezTo>
                  <a:close/>
                  <a:moveTo>
                    <a:pt x="394" y="1268"/>
                  </a:moveTo>
                  <a:cubicBezTo>
                    <a:pt x="385" y="1237"/>
                    <a:pt x="374" y="1205"/>
                    <a:pt x="363" y="1171"/>
                  </a:cubicBezTo>
                  <a:cubicBezTo>
                    <a:pt x="758" y="1171"/>
                    <a:pt x="758" y="1171"/>
                    <a:pt x="758" y="1171"/>
                  </a:cubicBezTo>
                  <a:cubicBezTo>
                    <a:pt x="752" y="1189"/>
                    <a:pt x="745" y="1208"/>
                    <a:pt x="740" y="1225"/>
                  </a:cubicBezTo>
                  <a:lnTo>
                    <a:pt x="394" y="1268"/>
                  </a:lnTo>
                  <a:close/>
                  <a:moveTo>
                    <a:pt x="560" y="1527"/>
                  </a:moveTo>
                  <a:cubicBezTo>
                    <a:pt x="508" y="1527"/>
                    <a:pt x="485" y="1521"/>
                    <a:pt x="458" y="1464"/>
                  </a:cubicBezTo>
                  <a:cubicBezTo>
                    <a:pt x="674" y="1437"/>
                    <a:pt x="674" y="1437"/>
                    <a:pt x="674" y="1437"/>
                  </a:cubicBezTo>
                  <a:cubicBezTo>
                    <a:pt x="643" y="1521"/>
                    <a:pt x="620" y="1527"/>
                    <a:pt x="560" y="1527"/>
                  </a:cubicBezTo>
                  <a:close/>
                  <a:moveTo>
                    <a:pt x="798" y="1069"/>
                  </a:moveTo>
                  <a:cubicBezTo>
                    <a:pt x="323" y="1069"/>
                    <a:pt x="323" y="1069"/>
                    <a:pt x="323" y="1069"/>
                  </a:cubicBezTo>
                  <a:cubicBezTo>
                    <a:pt x="297" y="1014"/>
                    <a:pt x="267" y="959"/>
                    <a:pt x="237" y="905"/>
                  </a:cubicBezTo>
                  <a:cubicBezTo>
                    <a:pt x="170" y="786"/>
                    <a:pt x="102" y="664"/>
                    <a:pt x="102" y="560"/>
                  </a:cubicBezTo>
                  <a:cubicBezTo>
                    <a:pt x="102" y="307"/>
                    <a:pt x="307" y="102"/>
                    <a:pt x="560" y="102"/>
                  </a:cubicBezTo>
                  <a:cubicBezTo>
                    <a:pt x="813" y="102"/>
                    <a:pt x="1018" y="307"/>
                    <a:pt x="1018" y="560"/>
                  </a:cubicBezTo>
                  <a:cubicBezTo>
                    <a:pt x="1018" y="663"/>
                    <a:pt x="949" y="786"/>
                    <a:pt x="883" y="906"/>
                  </a:cubicBezTo>
                  <a:cubicBezTo>
                    <a:pt x="853" y="960"/>
                    <a:pt x="823" y="1014"/>
                    <a:pt x="798" y="10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7" name="Google Shape;377;p33"/>
            <p:cNvSpPr/>
            <p:nvPr/>
          </p:nvSpPr>
          <p:spPr>
            <a:xfrm>
              <a:off x="957263" y="955675"/>
              <a:ext cx="1239837" cy="1239837"/>
            </a:xfrm>
            <a:custGeom>
              <a:rect b="b" l="l" r="r" t="t"/>
              <a:pathLst>
                <a:path extrusionOk="0" h="330" w="330">
                  <a:moveTo>
                    <a:pt x="305" y="0"/>
                  </a:moveTo>
                  <a:cubicBezTo>
                    <a:pt x="137" y="0"/>
                    <a:pt x="0" y="137"/>
                    <a:pt x="0" y="305"/>
                  </a:cubicBezTo>
                  <a:cubicBezTo>
                    <a:pt x="0" y="319"/>
                    <a:pt x="11" y="330"/>
                    <a:pt x="25" y="330"/>
                  </a:cubicBezTo>
                  <a:cubicBezTo>
                    <a:pt x="39" y="330"/>
                    <a:pt x="50" y="319"/>
                    <a:pt x="50" y="305"/>
                  </a:cubicBezTo>
                  <a:cubicBezTo>
                    <a:pt x="50" y="165"/>
                    <a:pt x="165" y="50"/>
                    <a:pt x="305" y="50"/>
                  </a:cubicBezTo>
                  <a:cubicBezTo>
                    <a:pt x="319" y="50"/>
                    <a:pt x="330" y="39"/>
                    <a:pt x="330" y="25"/>
                  </a:cubicBezTo>
                  <a:cubicBezTo>
                    <a:pt x="330" y="11"/>
                    <a:pt x="319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8" name="Google Shape;378;p33"/>
          <p:cNvGrpSpPr/>
          <p:nvPr/>
        </p:nvGrpSpPr>
        <p:grpSpPr>
          <a:xfrm>
            <a:off x="5933653" y="1985557"/>
            <a:ext cx="220499" cy="220412"/>
            <a:chOff x="0" y="1588"/>
            <a:chExt cx="4016374" cy="4014788"/>
          </a:xfrm>
        </p:grpSpPr>
        <p:sp>
          <p:nvSpPr>
            <p:cNvPr id="379" name="Google Shape;379;p33"/>
            <p:cNvSpPr/>
            <p:nvPr/>
          </p:nvSpPr>
          <p:spPr>
            <a:xfrm>
              <a:off x="0" y="1588"/>
              <a:ext cx="4016374" cy="4014788"/>
            </a:xfrm>
            <a:custGeom>
              <a:rect b="b" l="l" r="r" t="t"/>
              <a:pathLst>
                <a:path extrusionOk="0" h="1068" w="1068">
                  <a:moveTo>
                    <a:pt x="974" y="349"/>
                  </a:moveTo>
                  <a:cubicBezTo>
                    <a:pt x="932" y="339"/>
                    <a:pt x="834" y="339"/>
                    <a:pt x="690" y="335"/>
                  </a:cubicBezTo>
                  <a:cubicBezTo>
                    <a:pt x="697" y="304"/>
                    <a:pt x="699" y="275"/>
                    <a:pt x="699" y="225"/>
                  </a:cubicBezTo>
                  <a:cubicBezTo>
                    <a:pt x="699" y="105"/>
                    <a:pt x="611" y="0"/>
                    <a:pt x="534" y="0"/>
                  </a:cubicBezTo>
                  <a:cubicBezTo>
                    <a:pt x="480" y="0"/>
                    <a:pt x="435" y="45"/>
                    <a:pt x="434" y="99"/>
                  </a:cubicBezTo>
                  <a:cubicBezTo>
                    <a:pt x="433" y="167"/>
                    <a:pt x="413" y="283"/>
                    <a:pt x="301" y="342"/>
                  </a:cubicBezTo>
                  <a:cubicBezTo>
                    <a:pt x="292" y="346"/>
                    <a:pt x="269" y="357"/>
                    <a:pt x="265" y="359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50" y="345"/>
                    <a:pt x="225" y="334"/>
                    <a:pt x="201" y="334"/>
                  </a:cubicBezTo>
                  <a:cubicBezTo>
                    <a:pt x="100" y="334"/>
                    <a:pt x="100" y="334"/>
                    <a:pt x="100" y="334"/>
                  </a:cubicBezTo>
                  <a:cubicBezTo>
                    <a:pt x="45" y="334"/>
                    <a:pt x="0" y="379"/>
                    <a:pt x="0" y="434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0" y="1023"/>
                    <a:pt x="45" y="1068"/>
                    <a:pt x="100" y="1068"/>
                  </a:cubicBezTo>
                  <a:cubicBezTo>
                    <a:pt x="201" y="1068"/>
                    <a:pt x="201" y="1068"/>
                    <a:pt x="201" y="1068"/>
                  </a:cubicBezTo>
                  <a:cubicBezTo>
                    <a:pt x="240" y="1068"/>
                    <a:pt x="273" y="1044"/>
                    <a:pt x="290" y="1010"/>
                  </a:cubicBezTo>
                  <a:cubicBezTo>
                    <a:pt x="290" y="1011"/>
                    <a:pt x="291" y="1011"/>
                    <a:pt x="291" y="1011"/>
                  </a:cubicBezTo>
                  <a:cubicBezTo>
                    <a:pt x="293" y="1011"/>
                    <a:pt x="296" y="1012"/>
                    <a:pt x="299" y="1013"/>
                  </a:cubicBezTo>
                  <a:cubicBezTo>
                    <a:pt x="300" y="1013"/>
                    <a:pt x="300" y="1013"/>
                    <a:pt x="301" y="1013"/>
                  </a:cubicBezTo>
                  <a:cubicBezTo>
                    <a:pt x="320" y="1018"/>
                    <a:pt x="357" y="1027"/>
                    <a:pt x="436" y="1045"/>
                  </a:cubicBezTo>
                  <a:cubicBezTo>
                    <a:pt x="453" y="1049"/>
                    <a:pt x="542" y="1068"/>
                    <a:pt x="635" y="1068"/>
                  </a:cubicBezTo>
                  <a:cubicBezTo>
                    <a:pt x="818" y="1068"/>
                    <a:pt x="818" y="1068"/>
                    <a:pt x="818" y="1068"/>
                  </a:cubicBezTo>
                  <a:cubicBezTo>
                    <a:pt x="873" y="1068"/>
                    <a:pt x="913" y="1047"/>
                    <a:pt x="937" y="1004"/>
                  </a:cubicBezTo>
                  <a:cubicBezTo>
                    <a:pt x="938" y="1003"/>
                    <a:pt x="945" y="988"/>
                    <a:pt x="952" y="968"/>
                  </a:cubicBezTo>
                  <a:cubicBezTo>
                    <a:pt x="956" y="952"/>
                    <a:pt x="958" y="931"/>
                    <a:pt x="952" y="909"/>
                  </a:cubicBezTo>
                  <a:cubicBezTo>
                    <a:pt x="988" y="884"/>
                    <a:pt x="1000" y="847"/>
                    <a:pt x="1007" y="823"/>
                  </a:cubicBezTo>
                  <a:cubicBezTo>
                    <a:pt x="1020" y="783"/>
                    <a:pt x="1016" y="753"/>
                    <a:pt x="1007" y="732"/>
                  </a:cubicBezTo>
                  <a:cubicBezTo>
                    <a:pt x="1027" y="713"/>
                    <a:pt x="1045" y="684"/>
                    <a:pt x="1052" y="640"/>
                  </a:cubicBezTo>
                  <a:cubicBezTo>
                    <a:pt x="1056" y="612"/>
                    <a:pt x="1052" y="584"/>
                    <a:pt x="1039" y="560"/>
                  </a:cubicBezTo>
                  <a:cubicBezTo>
                    <a:pt x="1058" y="539"/>
                    <a:pt x="1066" y="513"/>
                    <a:pt x="1067" y="488"/>
                  </a:cubicBezTo>
                  <a:cubicBezTo>
                    <a:pt x="1068" y="481"/>
                    <a:pt x="1068" y="481"/>
                    <a:pt x="1068" y="481"/>
                  </a:cubicBezTo>
                  <a:cubicBezTo>
                    <a:pt x="1068" y="476"/>
                    <a:pt x="1068" y="474"/>
                    <a:pt x="1068" y="464"/>
                  </a:cubicBezTo>
                  <a:cubicBezTo>
                    <a:pt x="1068" y="422"/>
                    <a:pt x="1039" y="368"/>
                    <a:pt x="974" y="349"/>
                  </a:cubicBezTo>
                  <a:close/>
                  <a:moveTo>
                    <a:pt x="234" y="968"/>
                  </a:moveTo>
                  <a:cubicBezTo>
                    <a:pt x="234" y="986"/>
                    <a:pt x="219" y="1001"/>
                    <a:pt x="201" y="1001"/>
                  </a:cubicBezTo>
                  <a:cubicBezTo>
                    <a:pt x="100" y="1001"/>
                    <a:pt x="100" y="1001"/>
                    <a:pt x="100" y="1001"/>
                  </a:cubicBezTo>
                  <a:cubicBezTo>
                    <a:pt x="82" y="1001"/>
                    <a:pt x="67" y="986"/>
                    <a:pt x="67" y="968"/>
                  </a:cubicBezTo>
                  <a:cubicBezTo>
                    <a:pt x="67" y="434"/>
                    <a:pt x="67" y="434"/>
                    <a:pt x="67" y="434"/>
                  </a:cubicBezTo>
                  <a:cubicBezTo>
                    <a:pt x="67" y="415"/>
                    <a:pt x="82" y="401"/>
                    <a:pt x="100" y="401"/>
                  </a:cubicBezTo>
                  <a:cubicBezTo>
                    <a:pt x="201" y="401"/>
                    <a:pt x="201" y="401"/>
                    <a:pt x="201" y="401"/>
                  </a:cubicBezTo>
                  <a:cubicBezTo>
                    <a:pt x="219" y="401"/>
                    <a:pt x="234" y="415"/>
                    <a:pt x="234" y="434"/>
                  </a:cubicBezTo>
                  <a:lnTo>
                    <a:pt x="234" y="968"/>
                  </a:lnTo>
                  <a:close/>
                  <a:moveTo>
                    <a:pt x="1001" y="485"/>
                  </a:moveTo>
                  <a:cubicBezTo>
                    <a:pt x="1000" y="502"/>
                    <a:pt x="993" y="534"/>
                    <a:pt x="935" y="534"/>
                  </a:cubicBezTo>
                  <a:cubicBezTo>
                    <a:pt x="885" y="534"/>
                    <a:pt x="868" y="534"/>
                    <a:pt x="868" y="534"/>
                  </a:cubicBezTo>
                  <a:cubicBezTo>
                    <a:pt x="859" y="534"/>
                    <a:pt x="851" y="541"/>
                    <a:pt x="851" y="551"/>
                  </a:cubicBezTo>
                  <a:cubicBezTo>
                    <a:pt x="851" y="560"/>
                    <a:pt x="859" y="567"/>
                    <a:pt x="868" y="567"/>
                  </a:cubicBezTo>
                  <a:cubicBezTo>
                    <a:pt x="868" y="567"/>
                    <a:pt x="883" y="567"/>
                    <a:pt x="933" y="567"/>
                  </a:cubicBezTo>
                  <a:cubicBezTo>
                    <a:pt x="983" y="567"/>
                    <a:pt x="989" y="609"/>
                    <a:pt x="986" y="629"/>
                  </a:cubicBezTo>
                  <a:cubicBezTo>
                    <a:pt x="982" y="654"/>
                    <a:pt x="970" y="701"/>
                    <a:pt x="914" y="701"/>
                  </a:cubicBezTo>
                  <a:cubicBezTo>
                    <a:pt x="858" y="701"/>
                    <a:pt x="835" y="701"/>
                    <a:pt x="835" y="701"/>
                  </a:cubicBezTo>
                  <a:cubicBezTo>
                    <a:pt x="825" y="701"/>
                    <a:pt x="818" y="708"/>
                    <a:pt x="818" y="718"/>
                  </a:cubicBezTo>
                  <a:cubicBezTo>
                    <a:pt x="818" y="727"/>
                    <a:pt x="825" y="734"/>
                    <a:pt x="835" y="734"/>
                  </a:cubicBezTo>
                  <a:cubicBezTo>
                    <a:pt x="835" y="734"/>
                    <a:pt x="874" y="734"/>
                    <a:pt x="900" y="734"/>
                  </a:cubicBezTo>
                  <a:cubicBezTo>
                    <a:pt x="957" y="734"/>
                    <a:pt x="952" y="777"/>
                    <a:pt x="944" y="803"/>
                  </a:cubicBezTo>
                  <a:cubicBezTo>
                    <a:pt x="933" y="837"/>
                    <a:pt x="926" y="868"/>
                    <a:pt x="856" y="868"/>
                  </a:cubicBezTo>
                  <a:cubicBezTo>
                    <a:pt x="831" y="868"/>
                    <a:pt x="801" y="868"/>
                    <a:pt x="801" y="868"/>
                  </a:cubicBezTo>
                  <a:cubicBezTo>
                    <a:pt x="792" y="868"/>
                    <a:pt x="784" y="875"/>
                    <a:pt x="784" y="884"/>
                  </a:cubicBezTo>
                  <a:cubicBezTo>
                    <a:pt x="784" y="894"/>
                    <a:pt x="792" y="901"/>
                    <a:pt x="801" y="901"/>
                  </a:cubicBezTo>
                  <a:cubicBezTo>
                    <a:pt x="801" y="901"/>
                    <a:pt x="824" y="901"/>
                    <a:pt x="853" y="901"/>
                  </a:cubicBezTo>
                  <a:cubicBezTo>
                    <a:pt x="890" y="901"/>
                    <a:pt x="892" y="936"/>
                    <a:pt x="888" y="948"/>
                  </a:cubicBezTo>
                  <a:cubicBezTo>
                    <a:pt x="884" y="962"/>
                    <a:pt x="879" y="972"/>
                    <a:pt x="878" y="972"/>
                  </a:cubicBezTo>
                  <a:cubicBezTo>
                    <a:pt x="868" y="990"/>
                    <a:pt x="852" y="1001"/>
                    <a:pt x="818" y="1001"/>
                  </a:cubicBezTo>
                  <a:cubicBezTo>
                    <a:pt x="635" y="1001"/>
                    <a:pt x="635" y="1001"/>
                    <a:pt x="635" y="1001"/>
                  </a:cubicBezTo>
                  <a:cubicBezTo>
                    <a:pt x="544" y="1001"/>
                    <a:pt x="453" y="980"/>
                    <a:pt x="450" y="980"/>
                  </a:cubicBezTo>
                  <a:cubicBezTo>
                    <a:pt x="312" y="948"/>
                    <a:pt x="304" y="946"/>
                    <a:pt x="296" y="943"/>
                  </a:cubicBezTo>
                  <a:cubicBezTo>
                    <a:pt x="296" y="943"/>
                    <a:pt x="268" y="938"/>
                    <a:pt x="268" y="914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7" y="437"/>
                    <a:pt x="277" y="423"/>
                    <a:pt x="294" y="418"/>
                  </a:cubicBezTo>
                  <a:cubicBezTo>
                    <a:pt x="296" y="417"/>
                    <a:pt x="299" y="416"/>
                    <a:pt x="301" y="415"/>
                  </a:cubicBezTo>
                  <a:cubicBezTo>
                    <a:pt x="453" y="352"/>
                    <a:pt x="500" y="214"/>
                    <a:pt x="501" y="100"/>
                  </a:cubicBezTo>
                  <a:cubicBezTo>
                    <a:pt x="501" y="84"/>
                    <a:pt x="513" y="67"/>
                    <a:pt x="534" y="67"/>
                  </a:cubicBezTo>
                  <a:cubicBezTo>
                    <a:pt x="570" y="67"/>
                    <a:pt x="632" y="138"/>
                    <a:pt x="632" y="225"/>
                  </a:cubicBezTo>
                  <a:cubicBezTo>
                    <a:pt x="632" y="304"/>
                    <a:pt x="629" y="318"/>
                    <a:pt x="601" y="401"/>
                  </a:cubicBezTo>
                  <a:cubicBezTo>
                    <a:pt x="935" y="401"/>
                    <a:pt x="932" y="405"/>
                    <a:pt x="962" y="413"/>
                  </a:cubicBezTo>
                  <a:cubicBezTo>
                    <a:pt x="998" y="423"/>
                    <a:pt x="1002" y="454"/>
                    <a:pt x="1002" y="464"/>
                  </a:cubicBezTo>
                  <a:cubicBezTo>
                    <a:pt x="1002" y="476"/>
                    <a:pt x="1001" y="474"/>
                    <a:pt x="1001" y="4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376238" y="3263900"/>
              <a:ext cx="379413" cy="376237"/>
            </a:xfrm>
            <a:custGeom>
              <a:rect b="b" l="l" r="r" t="t"/>
              <a:pathLst>
                <a:path extrusionOk="0" h="100" w="101">
                  <a:moveTo>
                    <a:pt x="50" y="0"/>
                  </a:moveTo>
                  <a:cubicBezTo>
                    <a:pt x="23" y="0"/>
                    <a:pt x="0" y="22"/>
                    <a:pt x="0" y="50"/>
                  </a:cubicBezTo>
                  <a:cubicBezTo>
                    <a:pt x="0" y="77"/>
                    <a:pt x="23" y="100"/>
                    <a:pt x="50" y="100"/>
                  </a:cubicBezTo>
                  <a:cubicBezTo>
                    <a:pt x="78" y="100"/>
                    <a:pt x="101" y="77"/>
                    <a:pt x="101" y="50"/>
                  </a:cubicBezTo>
                  <a:cubicBezTo>
                    <a:pt x="101" y="22"/>
                    <a:pt x="78" y="0"/>
                    <a:pt x="50" y="0"/>
                  </a:cubicBezTo>
                  <a:close/>
                  <a:moveTo>
                    <a:pt x="50" y="67"/>
                  </a:moveTo>
                  <a:cubicBezTo>
                    <a:pt x="41" y="67"/>
                    <a:pt x="34" y="59"/>
                    <a:pt x="34" y="50"/>
                  </a:cubicBezTo>
                  <a:cubicBezTo>
                    <a:pt x="34" y="41"/>
                    <a:pt x="41" y="33"/>
                    <a:pt x="50" y="33"/>
                  </a:cubicBezTo>
                  <a:cubicBezTo>
                    <a:pt x="60" y="33"/>
                    <a:pt x="67" y="41"/>
                    <a:pt x="67" y="50"/>
                  </a:cubicBezTo>
                  <a:cubicBezTo>
                    <a:pt x="67" y="59"/>
                    <a:pt x="60" y="67"/>
                    <a:pt x="50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9175" lIns="78375" spcFirstLastPara="1" rIns="78375" wrap="square" tIns="39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1" name="Google Shape;381;p33"/>
          <p:cNvGrpSpPr/>
          <p:nvPr/>
        </p:nvGrpSpPr>
        <p:grpSpPr>
          <a:xfrm>
            <a:off x="6346258" y="1113308"/>
            <a:ext cx="1437256" cy="645190"/>
            <a:chOff x="8624112" y="2386161"/>
            <a:chExt cx="1847610" cy="1096330"/>
          </a:xfrm>
        </p:grpSpPr>
        <p:sp>
          <p:nvSpPr>
            <p:cNvPr id="382" name="Google Shape;382;p33"/>
            <p:cNvSpPr txBox="1"/>
            <p:nvPr/>
          </p:nvSpPr>
          <p:spPr>
            <a:xfrm>
              <a:off x="8624112" y="2386161"/>
              <a:ext cx="1783500" cy="4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1"/>
                <a:buFont typeface="Arial"/>
                <a:buNone/>
              </a:pPr>
              <a:r>
                <a:rPr b="1" lang="zh-CN" sz="1371">
                  <a:solidFill>
                    <a:srgbClr val="113366"/>
                  </a:solidFill>
                </a:rPr>
                <a:t>可维护性问题</a:t>
              </a:r>
              <a:endParaRPr i="0" sz="1200" u="none" cap="none" strike="noStrike">
                <a:solidFill>
                  <a:srgbClr val="113366"/>
                </a:solidFill>
              </a:endParaRPr>
            </a:p>
          </p:txBody>
        </p:sp>
        <p:sp>
          <p:nvSpPr>
            <p:cNvPr id="383" name="Google Shape;383;p33"/>
            <p:cNvSpPr txBox="1"/>
            <p:nvPr/>
          </p:nvSpPr>
          <p:spPr>
            <a:xfrm>
              <a:off x="8624623" y="2675491"/>
              <a:ext cx="1847100" cy="8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组件职责不单一 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CSS 滥用 !important 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选择器嵌套过深</a:t>
              </a:r>
              <a:endParaRPr b="1" i="0" sz="857" u="none" cap="none" strike="noStrike">
                <a:solidFill>
                  <a:schemeClr val="dk2"/>
                </a:solidFill>
              </a:endParaRPr>
            </a:p>
          </p:txBody>
        </p:sp>
      </p:grpSp>
      <p:grpSp>
        <p:nvGrpSpPr>
          <p:cNvPr id="384" name="Google Shape;384;p33"/>
          <p:cNvGrpSpPr/>
          <p:nvPr/>
        </p:nvGrpSpPr>
        <p:grpSpPr>
          <a:xfrm>
            <a:off x="6354923" y="1869349"/>
            <a:ext cx="1436864" cy="647602"/>
            <a:chOff x="8624609" y="3853720"/>
            <a:chExt cx="1847107" cy="1100428"/>
          </a:xfrm>
        </p:grpSpPr>
        <p:sp>
          <p:nvSpPr>
            <p:cNvPr id="385" name="Google Shape;385;p33"/>
            <p:cNvSpPr txBox="1"/>
            <p:nvPr/>
          </p:nvSpPr>
          <p:spPr>
            <a:xfrm>
              <a:off x="8624609" y="3853720"/>
              <a:ext cx="1847100" cy="4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1"/>
                <a:buFont typeface="Arial"/>
                <a:buNone/>
              </a:pPr>
              <a:r>
                <a:rPr b="1" lang="zh-CN" sz="1371">
                  <a:solidFill>
                    <a:srgbClr val="113366"/>
                  </a:solidFill>
                </a:rPr>
                <a:t>可扩展性问题</a:t>
              </a:r>
              <a:endParaRPr i="0" sz="1200" u="none" cap="none" strike="noStrike">
                <a:solidFill>
                  <a:srgbClr val="113366"/>
                </a:solidFill>
              </a:endParaRPr>
            </a:p>
          </p:txBody>
        </p:sp>
        <p:sp>
          <p:nvSpPr>
            <p:cNvPr id="386" name="Google Shape;386;p33"/>
            <p:cNvSpPr txBox="1"/>
            <p:nvPr/>
          </p:nvSpPr>
          <p:spPr>
            <a:xfrm>
              <a:off x="8624616" y="4147148"/>
              <a:ext cx="1847100" cy="8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缺少接口抽象 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配置未外部化 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if 条件地狱</a:t>
              </a:r>
              <a:endParaRPr i="0" sz="857" u="none" cap="none" strike="noStrike">
                <a:solidFill>
                  <a:schemeClr val="dk2"/>
                </a:solidFill>
              </a:endParaRPr>
            </a:p>
          </p:txBody>
        </p:sp>
      </p:grpSp>
      <p:grpSp>
        <p:nvGrpSpPr>
          <p:cNvPr id="387" name="Google Shape;387;p33"/>
          <p:cNvGrpSpPr/>
          <p:nvPr/>
        </p:nvGrpSpPr>
        <p:grpSpPr>
          <a:xfrm>
            <a:off x="6346650" y="2613235"/>
            <a:ext cx="1436871" cy="647602"/>
            <a:chOff x="8624616" y="5270798"/>
            <a:chExt cx="1847115" cy="1100429"/>
          </a:xfrm>
        </p:grpSpPr>
        <p:sp>
          <p:nvSpPr>
            <p:cNvPr id="388" name="Google Shape;388;p33"/>
            <p:cNvSpPr txBox="1"/>
            <p:nvPr/>
          </p:nvSpPr>
          <p:spPr>
            <a:xfrm>
              <a:off x="8624631" y="5270798"/>
              <a:ext cx="1847100" cy="4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1"/>
                <a:buFont typeface="Arial"/>
                <a:buNone/>
              </a:pPr>
              <a:r>
                <a:rPr b="1" lang="zh-CN" sz="1371">
                  <a:solidFill>
                    <a:srgbClr val="113366"/>
                  </a:solidFill>
                </a:rPr>
                <a:t>健壮性问题</a:t>
              </a:r>
              <a:endParaRPr i="0" sz="1200" u="none" cap="none" strike="noStrike">
                <a:solidFill>
                  <a:srgbClr val="113366"/>
                </a:solidFill>
              </a:endParaRPr>
            </a:p>
          </p:txBody>
        </p:sp>
        <p:sp>
          <p:nvSpPr>
            <p:cNvPr id="389" name="Google Shape;389;p33"/>
            <p:cNvSpPr txBox="1"/>
            <p:nvPr/>
          </p:nvSpPr>
          <p:spPr>
            <a:xfrm>
              <a:off x="8624616" y="5564227"/>
              <a:ext cx="1847100" cy="8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175" lIns="78375" spcFirstLastPara="1" rIns="78375" wrap="square" tIns="3917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空值/undefined 未处理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定时器/事件未清理</a:t>
              </a:r>
              <a:endParaRPr sz="857">
                <a:solidFill>
                  <a:schemeClr val="dk2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7"/>
                <a:buFont typeface="Arial"/>
                <a:buNone/>
              </a:pPr>
              <a:r>
                <a:rPr lang="zh-CN" sz="857">
                  <a:solidFill>
                    <a:schemeClr val="dk2"/>
                  </a:solidFill>
                </a:rPr>
                <a:t>异步状态竞态问题</a:t>
              </a:r>
              <a:endParaRPr sz="857">
                <a:solidFill>
                  <a:schemeClr val="dk2"/>
                </a:solidFill>
              </a:endParaRPr>
            </a:p>
          </p:txBody>
        </p:sp>
      </p:grpSp>
      <p:sp>
        <p:nvSpPr>
          <p:cNvPr id="390" name="Google Shape;390;p33"/>
          <p:cNvSpPr/>
          <p:nvPr/>
        </p:nvSpPr>
        <p:spPr>
          <a:xfrm>
            <a:off x="5907520" y="2716595"/>
            <a:ext cx="250955" cy="250798"/>
          </a:xfrm>
          <a:custGeom>
            <a:rect b="b" l="l" r="r" t="t"/>
            <a:pathLst>
              <a:path extrusionOk="0" h="688" w="688">
                <a:moveTo>
                  <a:pt x="538" y="0"/>
                </a:moveTo>
                <a:cubicBezTo>
                  <a:pt x="493" y="0"/>
                  <a:pt x="459" y="30"/>
                  <a:pt x="434" y="77"/>
                </a:cubicBezTo>
                <a:cubicBezTo>
                  <a:pt x="433" y="77"/>
                  <a:pt x="433" y="77"/>
                  <a:pt x="433" y="77"/>
                </a:cubicBezTo>
                <a:cubicBezTo>
                  <a:pt x="397" y="148"/>
                  <a:pt x="343" y="194"/>
                  <a:pt x="284" y="194"/>
                </a:cubicBezTo>
                <a:cubicBezTo>
                  <a:pt x="270" y="194"/>
                  <a:pt x="270" y="194"/>
                  <a:pt x="270" y="194"/>
                </a:cubicBezTo>
                <a:cubicBezTo>
                  <a:pt x="175" y="194"/>
                  <a:pt x="175" y="194"/>
                  <a:pt x="175" y="194"/>
                </a:cubicBezTo>
                <a:cubicBezTo>
                  <a:pt x="86" y="194"/>
                  <a:pt x="86" y="194"/>
                  <a:pt x="86" y="194"/>
                </a:cubicBezTo>
                <a:cubicBezTo>
                  <a:pt x="38" y="194"/>
                  <a:pt x="0" y="241"/>
                  <a:pt x="0" y="301"/>
                </a:cubicBezTo>
                <a:cubicBezTo>
                  <a:pt x="0" y="361"/>
                  <a:pt x="38" y="409"/>
                  <a:pt x="86" y="409"/>
                </a:cubicBezTo>
                <a:cubicBezTo>
                  <a:pt x="110" y="409"/>
                  <a:pt x="129" y="428"/>
                  <a:pt x="129" y="452"/>
                </a:cubicBezTo>
                <a:cubicBezTo>
                  <a:pt x="129" y="645"/>
                  <a:pt x="129" y="645"/>
                  <a:pt x="129" y="645"/>
                </a:cubicBezTo>
                <a:cubicBezTo>
                  <a:pt x="129" y="669"/>
                  <a:pt x="148" y="688"/>
                  <a:pt x="172" y="688"/>
                </a:cubicBezTo>
                <a:cubicBezTo>
                  <a:pt x="258" y="688"/>
                  <a:pt x="258" y="688"/>
                  <a:pt x="258" y="688"/>
                </a:cubicBezTo>
                <a:cubicBezTo>
                  <a:pt x="282" y="688"/>
                  <a:pt x="301" y="669"/>
                  <a:pt x="301" y="645"/>
                </a:cubicBezTo>
                <a:cubicBezTo>
                  <a:pt x="301" y="624"/>
                  <a:pt x="301" y="624"/>
                  <a:pt x="301" y="624"/>
                </a:cubicBezTo>
                <a:cubicBezTo>
                  <a:pt x="301" y="602"/>
                  <a:pt x="279" y="592"/>
                  <a:pt x="279" y="581"/>
                </a:cubicBezTo>
                <a:cubicBezTo>
                  <a:pt x="279" y="430"/>
                  <a:pt x="279" y="430"/>
                  <a:pt x="279" y="430"/>
                </a:cubicBezTo>
                <a:cubicBezTo>
                  <a:pt x="279" y="429"/>
                  <a:pt x="280" y="429"/>
                  <a:pt x="280" y="429"/>
                </a:cubicBezTo>
                <a:cubicBezTo>
                  <a:pt x="280" y="426"/>
                  <a:pt x="281" y="423"/>
                  <a:pt x="282" y="420"/>
                </a:cubicBezTo>
                <a:cubicBezTo>
                  <a:pt x="283" y="419"/>
                  <a:pt x="283" y="419"/>
                  <a:pt x="283" y="418"/>
                </a:cubicBezTo>
                <a:cubicBezTo>
                  <a:pt x="285" y="416"/>
                  <a:pt x="287" y="414"/>
                  <a:pt x="290" y="412"/>
                </a:cubicBezTo>
                <a:cubicBezTo>
                  <a:pt x="290" y="412"/>
                  <a:pt x="290" y="412"/>
                  <a:pt x="290" y="412"/>
                </a:cubicBezTo>
                <a:cubicBezTo>
                  <a:pt x="290" y="412"/>
                  <a:pt x="290" y="412"/>
                  <a:pt x="291" y="412"/>
                </a:cubicBezTo>
                <a:cubicBezTo>
                  <a:pt x="292" y="411"/>
                  <a:pt x="294" y="410"/>
                  <a:pt x="296" y="410"/>
                </a:cubicBezTo>
                <a:cubicBezTo>
                  <a:pt x="350" y="416"/>
                  <a:pt x="400" y="459"/>
                  <a:pt x="433" y="525"/>
                </a:cubicBezTo>
                <a:cubicBezTo>
                  <a:pt x="434" y="525"/>
                  <a:pt x="434" y="525"/>
                  <a:pt x="434" y="525"/>
                </a:cubicBezTo>
                <a:cubicBezTo>
                  <a:pt x="459" y="572"/>
                  <a:pt x="493" y="602"/>
                  <a:pt x="538" y="602"/>
                </a:cubicBezTo>
                <a:cubicBezTo>
                  <a:pt x="636" y="602"/>
                  <a:pt x="688" y="451"/>
                  <a:pt x="688" y="301"/>
                </a:cubicBezTo>
                <a:cubicBezTo>
                  <a:pt x="688" y="151"/>
                  <a:pt x="636" y="0"/>
                  <a:pt x="538" y="0"/>
                </a:cubicBezTo>
                <a:close/>
                <a:moveTo>
                  <a:pt x="430" y="301"/>
                </a:moveTo>
                <a:cubicBezTo>
                  <a:pt x="430" y="279"/>
                  <a:pt x="431" y="257"/>
                  <a:pt x="434" y="237"/>
                </a:cubicBezTo>
                <a:cubicBezTo>
                  <a:pt x="495" y="237"/>
                  <a:pt x="495" y="237"/>
                  <a:pt x="495" y="237"/>
                </a:cubicBezTo>
                <a:cubicBezTo>
                  <a:pt x="518" y="237"/>
                  <a:pt x="538" y="265"/>
                  <a:pt x="538" y="301"/>
                </a:cubicBezTo>
                <a:cubicBezTo>
                  <a:pt x="538" y="337"/>
                  <a:pt x="518" y="366"/>
                  <a:pt x="495" y="366"/>
                </a:cubicBezTo>
                <a:cubicBezTo>
                  <a:pt x="434" y="366"/>
                  <a:pt x="434" y="366"/>
                  <a:pt x="434" y="366"/>
                </a:cubicBezTo>
                <a:cubicBezTo>
                  <a:pt x="431" y="345"/>
                  <a:pt x="430" y="323"/>
                  <a:pt x="430" y="301"/>
                </a:cubicBezTo>
                <a:close/>
                <a:moveTo>
                  <a:pt x="43" y="301"/>
                </a:moveTo>
                <a:cubicBezTo>
                  <a:pt x="43" y="265"/>
                  <a:pt x="62" y="237"/>
                  <a:pt x="86" y="237"/>
                </a:cubicBezTo>
                <a:cubicBezTo>
                  <a:pt x="237" y="237"/>
                  <a:pt x="237" y="237"/>
                  <a:pt x="237" y="237"/>
                </a:cubicBezTo>
                <a:cubicBezTo>
                  <a:pt x="223" y="252"/>
                  <a:pt x="215" y="275"/>
                  <a:pt x="215" y="301"/>
                </a:cubicBezTo>
                <a:cubicBezTo>
                  <a:pt x="215" y="327"/>
                  <a:pt x="223" y="350"/>
                  <a:pt x="237" y="366"/>
                </a:cubicBezTo>
                <a:cubicBezTo>
                  <a:pt x="86" y="366"/>
                  <a:pt x="86" y="366"/>
                  <a:pt x="86" y="366"/>
                </a:cubicBezTo>
                <a:cubicBezTo>
                  <a:pt x="62" y="366"/>
                  <a:pt x="43" y="337"/>
                  <a:pt x="43" y="301"/>
                </a:cubicBezTo>
                <a:close/>
                <a:moveTo>
                  <a:pt x="258" y="645"/>
                </a:moveTo>
                <a:cubicBezTo>
                  <a:pt x="172" y="645"/>
                  <a:pt x="172" y="645"/>
                  <a:pt x="172" y="645"/>
                </a:cubicBezTo>
                <a:cubicBezTo>
                  <a:pt x="172" y="452"/>
                  <a:pt x="172" y="452"/>
                  <a:pt x="172" y="452"/>
                </a:cubicBezTo>
                <a:cubicBezTo>
                  <a:pt x="172" y="436"/>
                  <a:pt x="168" y="421"/>
                  <a:pt x="160" y="409"/>
                </a:cubicBezTo>
                <a:cubicBezTo>
                  <a:pt x="175" y="409"/>
                  <a:pt x="175" y="409"/>
                  <a:pt x="175" y="409"/>
                </a:cubicBezTo>
                <a:cubicBezTo>
                  <a:pt x="175" y="409"/>
                  <a:pt x="175" y="409"/>
                  <a:pt x="175" y="409"/>
                </a:cubicBezTo>
                <a:cubicBezTo>
                  <a:pt x="240" y="409"/>
                  <a:pt x="240" y="409"/>
                  <a:pt x="240" y="409"/>
                </a:cubicBezTo>
                <a:cubicBezTo>
                  <a:pt x="238" y="415"/>
                  <a:pt x="236" y="423"/>
                  <a:pt x="236" y="430"/>
                </a:cubicBezTo>
                <a:cubicBezTo>
                  <a:pt x="236" y="581"/>
                  <a:pt x="236" y="581"/>
                  <a:pt x="236" y="581"/>
                </a:cubicBezTo>
                <a:cubicBezTo>
                  <a:pt x="236" y="601"/>
                  <a:pt x="248" y="615"/>
                  <a:pt x="255" y="623"/>
                </a:cubicBezTo>
                <a:cubicBezTo>
                  <a:pt x="256" y="624"/>
                  <a:pt x="257" y="626"/>
                  <a:pt x="258" y="627"/>
                </a:cubicBezTo>
                <a:lnTo>
                  <a:pt x="258" y="645"/>
                </a:lnTo>
                <a:close/>
                <a:moveTo>
                  <a:pt x="284" y="366"/>
                </a:moveTo>
                <a:cubicBezTo>
                  <a:pt x="280" y="366"/>
                  <a:pt x="280" y="366"/>
                  <a:pt x="280" y="366"/>
                </a:cubicBezTo>
                <a:cubicBezTo>
                  <a:pt x="280" y="366"/>
                  <a:pt x="280" y="366"/>
                  <a:pt x="280" y="366"/>
                </a:cubicBezTo>
                <a:cubicBezTo>
                  <a:pt x="256" y="366"/>
                  <a:pt x="237" y="337"/>
                  <a:pt x="237" y="301"/>
                </a:cubicBezTo>
                <a:cubicBezTo>
                  <a:pt x="237" y="265"/>
                  <a:pt x="256" y="237"/>
                  <a:pt x="280" y="237"/>
                </a:cubicBezTo>
                <a:cubicBezTo>
                  <a:pt x="284" y="237"/>
                  <a:pt x="284" y="237"/>
                  <a:pt x="284" y="237"/>
                </a:cubicBezTo>
                <a:cubicBezTo>
                  <a:pt x="325" y="237"/>
                  <a:pt x="363" y="221"/>
                  <a:pt x="396" y="193"/>
                </a:cubicBezTo>
                <a:cubicBezTo>
                  <a:pt x="390" y="228"/>
                  <a:pt x="387" y="264"/>
                  <a:pt x="387" y="301"/>
                </a:cubicBezTo>
                <a:cubicBezTo>
                  <a:pt x="387" y="338"/>
                  <a:pt x="390" y="375"/>
                  <a:pt x="396" y="409"/>
                </a:cubicBezTo>
                <a:cubicBezTo>
                  <a:pt x="363" y="382"/>
                  <a:pt x="325" y="366"/>
                  <a:pt x="284" y="366"/>
                </a:cubicBezTo>
                <a:close/>
                <a:moveTo>
                  <a:pt x="538" y="559"/>
                </a:moveTo>
                <a:cubicBezTo>
                  <a:pt x="494" y="559"/>
                  <a:pt x="457" y="497"/>
                  <a:pt x="440" y="409"/>
                </a:cubicBezTo>
                <a:cubicBezTo>
                  <a:pt x="495" y="409"/>
                  <a:pt x="495" y="409"/>
                  <a:pt x="495" y="409"/>
                </a:cubicBezTo>
                <a:cubicBezTo>
                  <a:pt x="543" y="409"/>
                  <a:pt x="581" y="361"/>
                  <a:pt x="581" y="301"/>
                </a:cubicBezTo>
                <a:cubicBezTo>
                  <a:pt x="581" y="241"/>
                  <a:pt x="543" y="194"/>
                  <a:pt x="495" y="194"/>
                </a:cubicBezTo>
                <a:cubicBezTo>
                  <a:pt x="440" y="194"/>
                  <a:pt x="440" y="194"/>
                  <a:pt x="440" y="194"/>
                </a:cubicBezTo>
                <a:cubicBezTo>
                  <a:pt x="457" y="105"/>
                  <a:pt x="494" y="43"/>
                  <a:pt x="538" y="43"/>
                </a:cubicBezTo>
                <a:cubicBezTo>
                  <a:pt x="597" y="43"/>
                  <a:pt x="645" y="159"/>
                  <a:pt x="645" y="301"/>
                </a:cubicBezTo>
                <a:cubicBezTo>
                  <a:pt x="645" y="443"/>
                  <a:pt x="597" y="559"/>
                  <a:pt x="538" y="5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9175" lIns="78375" spcFirstLastPara="1" rIns="78375" wrap="square" tIns="39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91" name="Google Shape;391;p33"/>
          <p:cNvGrpSpPr/>
          <p:nvPr/>
        </p:nvGrpSpPr>
        <p:grpSpPr>
          <a:xfrm>
            <a:off x="3393183" y="1346935"/>
            <a:ext cx="383467" cy="1491567"/>
            <a:chOff x="4073344" y="2409504"/>
            <a:chExt cx="651600" cy="2534524"/>
          </a:xfrm>
        </p:grpSpPr>
        <p:cxnSp>
          <p:nvCxnSpPr>
            <p:cNvPr id="392" name="Google Shape;392;p33"/>
            <p:cNvCxnSpPr/>
            <p:nvPr/>
          </p:nvCxnSpPr>
          <p:spPr>
            <a:xfrm>
              <a:off x="4082869" y="2414050"/>
              <a:ext cx="153000" cy="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33"/>
            <p:cNvCxnSpPr/>
            <p:nvPr/>
          </p:nvCxnSpPr>
          <p:spPr>
            <a:xfrm>
              <a:off x="4235835" y="2409504"/>
              <a:ext cx="0" cy="253440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33"/>
            <p:cNvCxnSpPr/>
            <p:nvPr/>
          </p:nvCxnSpPr>
          <p:spPr>
            <a:xfrm>
              <a:off x="4082869" y="4944028"/>
              <a:ext cx="153000" cy="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33"/>
            <p:cNvCxnSpPr/>
            <p:nvPr/>
          </p:nvCxnSpPr>
          <p:spPr>
            <a:xfrm>
              <a:off x="4073344" y="3691994"/>
              <a:ext cx="651600" cy="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none"/>
              <a:tailEnd len="sm" w="sm" type="oval"/>
            </a:ln>
          </p:spPr>
        </p:cxnSp>
      </p:grpSp>
      <p:grpSp>
        <p:nvGrpSpPr>
          <p:cNvPr id="396" name="Google Shape;396;p33"/>
          <p:cNvGrpSpPr/>
          <p:nvPr/>
        </p:nvGrpSpPr>
        <p:grpSpPr>
          <a:xfrm>
            <a:off x="5383123" y="1346935"/>
            <a:ext cx="387130" cy="1491567"/>
            <a:chOff x="7454719" y="2409504"/>
            <a:chExt cx="657825" cy="2534524"/>
          </a:xfrm>
        </p:grpSpPr>
        <p:cxnSp>
          <p:nvCxnSpPr>
            <p:cNvPr id="397" name="Google Shape;397;p33"/>
            <p:cNvCxnSpPr/>
            <p:nvPr/>
          </p:nvCxnSpPr>
          <p:spPr>
            <a:xfrm>
              <a:off x="7959544" y="2414050"/>
              <a:ext cx="153000" cy="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33"/>
            <p:cNvCxnSpPr/>
            <p:nvPr/>
          </p:nvCxnSpPr>
          <p:spPr>
            <a:xfrm>
              <a:off x="7960110" y="2409504"/>
              <a:ext cx="0" cy="253440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99" name="Google Shape;399;p33"/>
            <p:cNvCxnSpPr/>
            <p:nvPr/>
          </p:nvCxnSpPr>
          <p:spPr>
            <a:xfrm>
              <a:off x="7959544" y="4944028"/>
              <a:ext cx="153000" cy="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33"/>
            <p:cNvCxnSpPr/>
            <p:nvPr/>
          </p:nvCxnSpPr>
          <p:spPr>
            <a:xfrm>
              <a:off x="7454719" y="3691994"/>
              <a:ext cx="651600" cy="0"/>
            </a:xfrm>
            <a:prstGeom prst="straightConnector1">
              <a:avLst/>
            </a:prstGeom>
            <a:noFill/>
            <a:ln cap="flat" cmpd="sng" w="10875">
              <a:solidFill>
                <a:srgbClr val="A5A5A5"/>
              </a:solidFill>
              <a:prstDash val="dash"/>
              <a:round/>
              <a:headEnd len="sm" w="sm" type="oval"/>
              <a:tailEnd len="sm" w="sm" type="none"/>
            </a:ln>
          </p:spPr>
        </p:cxnSp>
      </p:grpSp>
      <p:sp>
        <p:nvSpPr>
          <p:cNvPr id="401" name="Google Shape;401;p33"/>
          <p:cNvSpPr/>
          <p:nvPr/>
        </p:nvSpPr>
        <p:spPr>
          <a:xfrm>
            <a:off x="347700" y="3447500"/>
            <a:ext cx="8448600" cy="1647900"/>
          </a:xfrm>
          <a:prstGeom prst="roundRect">
            <a:avLst>
              <a:gd fmla="val 1793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113366"/>
                </a:solidFill>
                <a:highlight>
                  <a:srgbClr val="EEEEEE"/>
                </a:highlight>
              </a:rPr>
              <a:t>规则如何注入 AI 审查上下文？</a:t>
            </a:r>
            <a:endParaRPr b="1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436925" y="3822275"/>
            <a:ext cx="895800" cy="5325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开发者</a:t>
            </a:r>
            <a:r>
              <a:rPr b="1" lang="zh-CN" sz="800">
                <a:solidFill>
                  <a:srgbClr val="113366"/>
                </a:solidFill>
              </a:rPr>
              <a:t>执行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IBS CR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1744263" y="3822275"/>
            <a:ext cx="1265100" cy="5325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CLI 工具自动收集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项目 CR Cursor Rules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3420900" y="3822275"/>
            <a:ext cx="1809900" cy="5325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Server 服务自动组装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规则</a:t>
            </a:r>
            <a:r>
              <a:rPr b="1" lang="zh-CN" sz="800">
                <a:solidFill>
                  <a:srgbClr val="113366"/>
                </a:solidFill>
              </a:rPr>
              <a:t>「</a:t>
            </a:r>
            <a:r>
              <a:rPr b="1" lang="zh-CN" sz="800">
                <a:solidFill>
                  <a:srgbClr val="113366"/>
                </a:solidFill>
              </a:rPr>
              <a:t>通用 + 自定义</a:t>
            </a:r>
            <a:r>
              <a:rPr b="1" lang="zh-CN" sz="800">
                <a:solidFill>
                  <a:srgbClr val="113366"/>
                </a:solidFill>
              </a:rPr>
              <a:t>）</a:t>
            </a:r>
            <a:r>
              <a:rPr b="1" lang="zh-CN" sz="800">
                <a:solidFill>
                  <a:srgbClr val="113366"/>
                </a:solidFill>
              </a:rPr>
              <a:t> + 部分代码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5642338" y="3822275"/>
            <a:ext cx="1210200" cy="5325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Cursor Agent 执行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Code Review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7264075" y="3822275"/>
            <a:ext cx="1470300" cy="5325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Cursor Agent 输出审查建议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分类 + 评分 + 修复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1421488" y="4030775"/>
            <a:ext cx="2340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3098125" y="4030775"/>
            <a:ext cx="2340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3"/>
          <p:cNvSpPr/>
          <p:nvPr/>
        </p:nvSpPr>
        <p:spPr>
          <a:xfrm>
            <a:off x="5319575" y="4030775"/>
            <a:ext cx="2340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>
            <a:off x="6941313" y="4030775"/>
            <a:ext cx="2340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3"/>
          <p:cNvSpPr/>
          <p:nvPr/>
        </p:nvSpPr>
        <p:spPr>
          <a:xfrm>
            <a:off x="436925" y="4485375"/>
            <a:ext cx="3843300" cy="5325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角色通用规则（内置） 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来源：</a:t>
            </a:r>
            <a:r>
              <a:rPr lang="zh-CN" sz="800">
                <a:solidFill>
                  <a:schemeClr val="lt1"/>
                </a:solidFill>
              </a:rPr>
              <a:t>IBS 内置的 FE/BE/Client 通用审查标准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包含：</a:t>
            </a:r>
            <a:r>
              <a:rPr lang="zh-CN" sz="800">
                <a:solidFill>
                  <a:schemeClr val="lt1"/>
                </a:solidFill>
              </a:rPr>
              <a:t>六大分类 × 严重度分级 × Good/Bad Case 示例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4891075" y="4485375"/>
            <a:ext cx="3843300" cy="5325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项目自定义规则（可选） 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来源：</a:t>
            </a:r>
            <a:r>
              <a:rPr lang="zh-CN" sz="800">
                <a:solidFill>
                  <a:schemeClr val="lt1"/>
                </a:solidFill>
              </a:rPr>
              <a:t>项目 .cursor/rules/*.mdc 文件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包含：</a:t>
            </a:r>
            <a:r>
              <a:rPr lang="zh-CN" sz="800">
                <a:solidFill>
                  <a:schemeClr val="lt1"/>
                </a:solidFill>
              </a:rPr>
              <a:t>补充业务特定规则，如 API 规范、组件约定等</a:t>
            </a:r>
            <a:endParaRPr sz="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"/>
          <p:cNvSpPr/>
          <p:nvPr/>
        </p:nvSpPr>
        <p:spPr>
          <a:xfrm>
            <a:off x="5564300" y="1007825"/>
            <a:ext cx="2728500" cy="1335000"/>
          </a:xfrm>
          <a:prstGeom prst="roundRect">
            <a:avLst>
              <a:gd fmla="val 1793" name="adj"/>
            </a:avLst>
          </a:prstGeom>
          <a:solidFill>
            <a:srgbClr val="FFEDEA"/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这会带来什么后果？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18" name="Google Shape;418;p34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AI“偷懒”问题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1136600" y="1007825"/>
            <a:ext cx="2728500" cy="1335000"/>
          </a:xfrm>
          <a:prstGeom prst="roundRect">
            <a:avLst>
              <a:gd fmla="val 1793" name="adj"/>
            </a:avLst>
          </a:prstGeom>
          <a:solidFill>
            <a:srgbClr val="EE4D2D">
              <a:alpha val="10000"/>
            </a:srgbClr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dk1"/>
                </a:solidFill>
              </a:rPr>
              <a:t>当代码量很大的时候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EE4D2D"/>
                </a:solidFill>
              </a:rPr>
              <a:t> AI 会"偷懒" </a:t>
            </a:r>
            <a:endParaRPr b="1" sz="800">
              <a:solidFill>
                <a:schemeClr val="dk2"/>
              </a:solidFill>
            </a:endParaRPr>
          </a:p>
        </p:txBody>
      </p:sp>
      <p:cxnSp>
        <p:nvCxnSpPr>
          <p:cNvPr id="420" name="Google Shape;420;p34"/>
          <p:cNvCxnSpPr/>
          <p:nvPr/>
        </p:nvCxnSpPr>
        <p:spPr>
          <a:xfrm>
            <a:off x="4122100" y="1612350"/>
            <a:ext cx="12039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" name="Google Shape;421;p34"/>
          <p:cNvSpPr txBox="1"/>
          <p:nvPr/>
        </p:nvSpPr>
        <p:spPr>
          <a:xfrm>
            <a:off x="5564300" y="1285650"/>
            <a:ext cx="272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00">
                <a:solidFill>
                  <a:srgbClr val="EE4D2D"/>
                </a:solidFill>
              </a:rPr>
              <a:t>问题漏检</a:t>
            </a:r>
            <a:endParaRPr b="1" sz="800">
              <a:solidFill>
                <a:srgbClr val="EE4D2D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dk2"/>
                </a:solidFill>
              </a:rPr>
              <a:t>后面的代码根本没被认真看</a:t>
            </a:r>
            <a:endParaRPr sz="800">
              <a:solidFill>
                <a:schemeClr val="dk2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800">
                <a:solidFill>
                  <a:srgbClr val="EE4D2D"/>
                </a:solidFill>
              </a:rPr>
              <a:t>虚假安全感</a:t>
            </a:r>
            <a:endParaRPr b="1" sz="800">
              <a:solidFill>
                <a:srgbClr val="EE4D2D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chemeClr val="dk2"/>
                </a:solidFill>
              </a:rPr>
              <a:t>以为审查过了，实际上没有</a:t>
            </a:r>
            <a:endParaRPr sz="800">
              <a:solidFill>
                <a:schemeClr val="dk2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EE4D2D"/>
                </a:solidFill>
              </a:rPr>
              <a:t>用户失去信任</a:t>
            </a:r>
            <a:endParaRPr b="1" sz="800">
              <a:solidFill>
                <a:srgbClr val="EE4D2D"/>
              </a:solidFill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5713725" y="1386242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7C23A"/>
              </a:solidFill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5713725" y="1742359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7C23A"/>
              </a:solidFill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5713725" y="2105759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7C23A"/>
              </a:solidFill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1136600" y="2728800"/>
            <a:ext cx="7156200" cy="7806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如果不解决这个问题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D9D9D9"/>
                </a:solidFill>
              </a:rPr>
              <a:t>AI CR 就只能用于小任务，无法在真实项目中大规模使用</a:t>
            </a:r>
            <a:endParaRPr sz="10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尝试分析和解决 AI 的“偷懒”问题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666666"/>
                </a:solidFill>
              </a:rPr>
              <a:t>AI “偷懒”不是态度不好，而是架构性约束导致的能力边界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431" name="Google Shape;431;p35"/>
          <p:cNvSpPr/>
          <p:nvPr/>
        </p:nvSpPr>
        <p:spPr>
          <a:xfrm>
            <a:off x="761975" y="1153788"/>
            <a:ext cx="3604200" cy="1509300"/>
          </a:xfrm>
          <a:prstGeom prst="roundRect">
            <a:avLst>
              <a:gd fmla="val 1793" name="adj"/>
            </a:avLst>
          </a:prstGeom>
          <a:solidFill>
            <a:srgbClr val="EE4D2D">
              <a:alpha val="10000"/>
            </a:srgbClr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dk1"/>
                </a:solidFill>
              </a:rPr>
              <a:t>问题现象：200个文件的审查任务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前 ⅓ 的文件：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中 ⅓ 的文件：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后 ⅓ 的文件：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当时所有主流大模型（Claude 4.5、GPT-4、Gemini 2.5）都存在此现象</a:t>
            </a:r>
            <a:endParaRPr sz="800">
              <a:solidFill>
                <a:schemeClr val="dk2"/>
              </a:solidFill>
            </a:endParaRPr>
          </a:p>
        </p:txBody>
      </p:sp>
      <p:grpSp>
        <p:nvGrpSpPr>
          <p:cNvPr id="432" name="Google Shape;432;p35"/>
          <p:cNvGrpSpPr/>
          <p:nvPr/>
        </p:nvGrpSpPr>
        <p:grpSpPr>
          <a:xfrm>
            <a:off x="4777925" y="1153788"/>
            <a:ext cx="3604112" cy="1509300"/>
            <a:chOff x="4920761" y="1007825"/>
            <a:chExt cx="3372426" cy="1509300"/>
          </a:xfrm>
        </p:grpSpPr>
        <p:grpSp>
          <p:nvGrpSpPr>
            <p:cNvPr id="433" name="Google Shape;433;p35"/>
            <p:cNvGrpSpPr/>
            <p:nvPr/>
          </p:nvGrpSpPr>
          <p:grpSpPr>
            <a:xfrm>
              <a:off x="4920761" y="1007825"/>
              <a:ext cx="3372426" cy="1509300"/>
              <a:chOff x="4920761" y="1007825"/>
              <a:chExt cx="3372426" cy="1509300"/>
            </a:xfrm>
          </p:grpSpPr>
          <p:grpSp>
            <p:nvGrpSpPr>
              <p:cNvPr id="434" name="Google Shape;434;p35"/>
              <p:cNvGrpSpPr/>
              <p:nvPr/>
            </p:nvGrpSpPr>
            <p:grpSpPr>
              <a:xfrm>
                <a:off x="4920761" y="1007825"/>
                <a:ext cx="3372426" cy="1509300"/>
                <a:chOff x="5564303" y="1007825"/>
                <a:chExt cx="2728500" cy="1509300"/>
              </a:xfrm>
            </p:grpSpPr>
            <p:sp>
              <p:nvSpPr>
                <p:cNvPr id="435" name="Google Shape;435;p35"/>
                <p:cNvSpPr/>
                <p:nvPr/>
              </p:nvSpPr>
              <p:spPr>
                <a:xfrm>
                  <a:off x="5564303" y="1007825"/>
                  <a:ext cx="2728500" cy="1509300"/>
                </a:xfrm>
                <a:prstGeom prst="roundRect">
                  <a:avLst>
                    <a:gd fmla="val 1793" name="adj"/>
                  </a:avLst>
                </a:prstGeom>
                <a:solidFill>
                  <a:srgbClr val="67C23A">
                    <a:alpha val="10000"/>
                  </a:srgbClr>
                </a:solidFill>
                <a:ln cap="flat" cmpd="sng" w="9075">
                  <a:solidFill>
                    <a:srgbClr val="67C23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87000" lIns="87000" spcFirstLastPara="1" rIns="87000" wrap="square" tIns="87000">
                  <a:noAutofit/>
                </a:bodyPr>
                <a:lstStyle/>
                <a:p>
                  <a:pPr indent="0" lvl="0" marL="0" rtl="0" algn="ct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CN" sz="1000">
                      <a:solidFill>
                        <a:srgbClr val="113366"/>
                      </a:solidFill>
                    </a:rPr>
                    <a:t>根本原因：Transformer 架构约束</a:t>
                  </a:r>
                  <a:endParaRPr b="1" sz="1000">
                    <a:solidFill>
                      <a:srgbClr val="113366"/>
                    </a:solidFill>
                  </a:endParaRPr>
                </a:p>
                <a:p>
                  <a:pPr indent="0" lvl="0" marL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000">
                    <a:solidFill>
                      <a:srgbClr val="2A2A2A"/>
                    </a:solidFill>
                  </a:endParaRPr>
                </a:p>
              </p:txBody>
            </p:sp>
            <p:sp>
              <p:nvSpPr>
                <p:cNvPr id="436" name="Google Shape;436;p35"/>
                <p:cNvSpPr txBox="1"/>
                <p:nvPr/>
              </p:nvSpPr>
              <p:spPr>
                <a:xfrm>
                  <a:off x="5579596" y="1278354"/>
                  <a:ext cx="2697900" cy="123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28800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800">
                      <a:solidFill>
                        <a:srgbClr val="113366"/>
                      </a:solidFill>
                    </a:rPr>
                    <a:t>输出长度衰减</a:t>
                  </a:r>
                  <a:endParaRPr sz="800">
                    <a:solidFill>
                      <a:srgbClr val="113366"/>
                    </a:solidFill>
                  </a:endParaRPr>
                </a:p>
                <a:p>
                  <a:pPr indent="0" lvl="0" marL="28800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800">
                      <a:solidFill>
                        <a:schemeClr val="dk2"/>
                      </a:solidFill>
                    </a:rPr>
                    <a:t>达到 context window 的 20%-50% 后能力下降</a:t>
                  </a:r>
                  <a:endParaRPr sz="800">
                    <a:solidFill>
                      <a:schemeClr val="dk2"/>
                    </a:solidFill>
                  </a:endParaRPr>
                </a:p>
                <a:p>
                  <a:pPr indent="0" lvl="0" marL="28800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800">
                      <a:solidFill>
                        <a:srgbClr val="113366"/>
                      </a:solidFill>
                    </a:rPr>
                    <a:t>注意力机制局限</a:t>
                  </a:r>
                  <a:endParaRPr sz="800">
                    <a:solidFill>
                      <a:srgbClr val="113366"/>
                    </a:solidFill>
                  </a:endParaRPr>
                </a:p>
                <a:p>
                  <a:pPr indent="0" lvl="0" marL="28800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800">
                      <a:solidFill>
                        <a:schemeClr val="dk2"/>
                      </a:solidFill>
                    </a:rPr>
                    <a:t>O(n²) 计算复杂度，远距离 token 权重衰减</a:t>
                  </a:r>
                  <a:endParaRPr sz="800">
                    <a:solidFill>
                      <a:schemeClr val="dk2"/>
                    </a:solidFill>
                  </a:endParaRPr>
                </a:p>
                <a:p>
                  <a:pPr indent="0" lvl="0" marL="28800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800">
                      <a:solidFill>
                        <a:srgbClr val="113366"/>
                      </a:solidFill>
                    </a:rPr>
                    <a:t>指令遵循能力衰减</a:t>
                  </a:r>
                  <a:endParaRPr sz="800">
                    <a:solidFill>
                      <a:srgbClr val="113366"/>
                    </a:solidFill>
                  </a:endParaRPr>
                </a:p>
                <a:p>
                  <a:pPr indent="0" lvl="0" marL="28800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800">
                      <a:solidFill>
                        <a:schemeClr val="dk2"/>
                      </a:solidFill>
                    </a:rPr>
                    <a:t>输出越长，后续指令越容易被"忽略”</a:t>
                  </a:r>
                  <a:endParaRPr sz="800">
                    <a:solidFill>
                      <a:schemeClr val="dk2"/>
                    </a:solidFill>
                  </a:endParaRPr>
                </a:p>
              </p:txBody>
            </p:sp>
          </p:grpSp>
          <p:sp>
            <p:nvSpPr>
              <p:cNvPr id="437" name="Google Shape;437;p35"/>
              <p:cNvSpPr/>
              <p:nvPr/>
            </p:nvSpPr>
            <p:spPr>
              <a:xfrm>
                <a:off x="5071675" y="1371642"/>
                <a:ext cx="126000" cy="126000"/>
              </a:xfrm>
              <a:prstGeom prst="ellipse">
                <a:avLst/>
              </a:prstGeom>
              <a:solidFill>
                <a:srgbClr val="113366"/>
              </a:solidFill>
              <a:ln cap="flat" cmpd="sng" w="9525">
                <a:solidFill>
                  <a:srgbClr val="1133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2A2A2A"/>
                  </a:solidFill>
                </a:endParaRPr>
              </a:p>
            </p:txBody>
          </p:sp>
          <p:sp>
            <p:nvSpPr>
              <p:cNvPr id="438" name="Google Shape;438;p35"/>
              <p:cNvSpPr/>
              <p:nvPr/>
            </p:nvSpPr>
            <p:spPr>
              <a:xfrm>
                <a:off x="5071675" y="1746009"/>
                <a:ext cx="126000" cy="126000"/>
              </a:xfrm>
              <a:prstGeom prst="ellipse">
                <a:avLst/>
              </a:prstGeom>
              <a:solidFill>
                <a:srgbClr val="113366"/>
              </a:solidFill>
              <a:ln cap="flat" cmpd="sng" w="9525">
                <a:solidFill>
                  <a:srgbClr val="1133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2A2A2A"/>
                  </a:solidFill>
                </a:endParaRPr>
              </a:p>
            </p:txBody>
          </p:sp>
        </p:grpSp>
        <p:sp>
          <p:nvSpPr>
            <p:cNvPr id="439" name="Google Shape;439;p35"/>
            <p:cNvSpPr/>
            <p:nvPr/>
          </p:nvSpPr>
          <p:spPr>
            <a:xfrm>
              <a:off x="5085450" y="2102684"/>
              <a:ext cx="126000" cy="126000"/>
            </a:xfrm>
            <a:prstGeom prst="ellipse">
              <a:avLst/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2A2A2A"/>
                </a:solidFill>
              </a:endParaRPr>
            </a:p>
          </p:txBody>
        </p:sp>
      </p:grpSp>
      <p:sp>
        <p:nvSpPr>
          <p:cNvPr id="440" name="Google Shape;440;p35"/>
          <p:cNvSpPr/>
          <p:nvPr/>
        </p:nvSpPr>
        <p:spPr>
          <a:xfrm>
            <a:off x="1564413" y="1546850"/>
            <a:ext cx="2626500" cy="167700"/>
          </a:xfrm>
          <a:prstGeom prst="roundRect">
            <a:avLst>
              <a:gd fmla="val 16667" name="adj"/>
            </a:avLst>
          </a:prstGeom>
          <a:solidFill>
            <a:srgbClr val="67C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认真审查 </a:t>
            </a:r>
            <a:r>
              <a:rPr lang="zh-CN" sz="800">
                <a:solidFill>
                  <a:schemeClr val="l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✓</a:t>
            </a:r>
            <a:endParaRPr sz="800">
              <a:solidFill>
                <a:schemeClr val="lt1"/>
              </a:solidFill>
            </a:endParaRPr>
          </a:p>
        </p:txBody>
      </p:sp>
      <p:grpSp>
        <p:nvGrpSpPr>
          <p:cNvPr id="441" name="Google Shape;441;p35"/>
          <p:cNvGrpSpPr/>
          <p:nvPr/>
        </p:nvGrpSpPr>
        <p:grpSpPr>
          <a:xfrm>
            <a:off x="1564446" y="1790641"/>
            <a:ext cx="2626430" cy="167729"/>
            <a:chOff x="1889600" y="1569588"/>
            <a:chExt cx="2444100" cy="167712"/>
          </a:xfrm>
        </p:grpSpPr>
        <p:sp>
          <p:nvSpPr>
            <p:cNvPr id="442" name="Google Shape;442;p35"/>
            <p:cNvSpPr/>
            <p:nvPr/>
          </p:nvSpPr>
          <p:spPr>
            <a:xfrm>
              <a:off x="1889600" y="1569588"/>
              <a:ext cx="2444100" cy="167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5"/>
            <p:cNvSpPr/>
            <p:nvPr/>
          </p:nvSpPr>
          <p:spPr>
            <a:xfrm>
              <a:off x="1889600" y="1569600"/>
              <a:ext cx="1751100" cy="167700"/>
            </a:xfrm>
            <a:prstGeom prst="roundRect">
              <a:avLst>
                <a:gd fmla="val 16667" name="adj"/>
              </a:avLst>
            </a:prstGeom>
            <a:solidFill>
              <a:srgbClr val="E6A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chemeClr val="lt1"/>
                  </a:solidFill>
                </a:rPr>
                <a:t>开始敷衍 ⚠</a:t>
              </a:r>
              <a:endParaRPr sz="800">
                <a:solidFill>
                  <a:schemeClr val="lt1"/>
                </a:solidFill>
              </a:endParaRPr>
            </a:p>
          </p:txBody>
        </p:sp>
      </p:grpSp>
      <p:grpSp>
        <p:nvGrpSpPr>
          <p:cNvPr id="444" name="Google Shape;444;p35"/>
          <p:cNvGrpSpPr/>
          <p:nvPr/>
        </p:nvGrpSpPr>
        <p:grpSpPr>
          <a:xfrm>
            <a:off x="1564500" y="2034475"/>
            <a:ext cx="2626500" cy="167704"/>
            <a:chOff x="1707200" y="1779075"/>
            <a:chExt cx="2626500" cy="167704"/>
          </a:xfrm>
        </p:grpSpPr>
        <p:sp>
          <p:nvSpPr>
            <p:cNvPr id="445" name="Google Shape;445;p35"/>
            <p:cNvSpPr/>
            <p:nvPr/>
          </p:nvSpPr>
          <p:spPr>
            <a:xfrm>
              <a:off x="1889600" y="1779079"/>
              <a:ext cx="2444100" cy="167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5"/>
            <p:cNvSpPr/>
            <p:nvPr/>
          </p:nvSpPr>
          <p:spPr>
            <a:xfrm>
              <a:off x="1707200" y="1779075"/>
              <a:ext cx="1079700" cy="167700"/>
            </a:xfrm>
            <a:prstGeom prst="roundRect">
              <a:avLst>
                <a:gd fmla="val 16667" name="adj"/>
              </a:avLst>
            </a:prstGeom>
            <a:solidFill>
              <a:srgbClr val="EE4D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chemeClr val="lt1"/>
                  </a:solidFill>
                </a:rPr>
                <a:t>概括输出 </a:t>
              </a:r>
              <a:r>
                <a:rPr lang="zh-CN" sz="9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✗</a:t>
              </a:r>
              <a:endParaRPr sz="800">
                <a:solidFill>
                  <a:schemeClr val="lt1"/>
                </a:solidFill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761975" y="3086800"/>
            <a:ext cx="2298300" cy="971100"/>
            <a:chOff x="761975" y="3086800"/>
            <a:chExt cx="2298300" cy="971100"/>
          </a:xfrm>
        </p:grpSpPr>
        <p:sp>
          <p:nvSpPr>
            <p:cNvPr id="448" name="Google Shape;448;p35"/>
            <p:cNvSpPr/>
            <p:nvPr/>
          </p:nvSpPr>
          <p:spPr>
            <a:xfrm>
              <a:off x="761975" y="3086800"/>
              <a:ext cx="2298300" cy="971100"/>
            </a:xfrm>
            <a:prstGeom prst="roundRect">
              <a:avLst>
                <a:gd fmla="val 1793" name="adj"/>
              </a:avLst>
            </a:prstGeom>
            <a:solidFill>
              <a:srgbClr val="67C23A">
                <a:alpha val="10000"/>
              </a:srgbClr>
            </a:solidFill>
            <a:ln cap="flat" cmpd="sng" w="907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7000" lIns="87000" spcFirstLastPara="1" rIns="87000" wrap="square" tIns="8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113366"/>
                  </a:solidFill>
                </a:rPr>
                <a:t>💡 尝试1：直接添加约束提示词</a:t>
              </a:r>
              <a:endParaRPr b="1" sz="1000">
                <a:solidFill>
                  <a:srgbClr val="1133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chemeClr val="dk1"/>
                  </a:solidFill>
                </a:rPr>
                <a:t>• 添加"禁止偷懒"、"假设性奖励"等约束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EE4D2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67C23A"/>
                  </a:solidFill>
                </a:rPr>
                <a:t>效果：小规模任务效果可以，大规模几乎没用</a:t>
              </a:r>
              <a:endParaRPr b="1" sz="800">
                <a:solidFill>
                  <a:srgbClr val="67C23A"/>
                </a:solidFill>
              </a:endParaRPr>
            </a:p>
          </p:txBody>
        </p:sp>
        <p:cxnSp>
          <p:nvCxnSpPr>
            <p:cNvPr id="449" name="Google Shape;449;p35"/>
            <p:cNvCxnSpPr/>
            <p:nvPr/>
          </p:nvCxnSpPr>
          <p:spPr>
            <a:xfrm flipH="1" rot="10800000">
              <a:off x="849319" y="3400413"/>
              <a:ext cx="2126100" cy="72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0" name="Google Shape;450;p35"/>
          <p:cNvSpPr/>
          <p:nvPr/>
        </p:nvSpPr>
        <p:spPr>
          <a:xfrm>
            <a:off x="3422850" y="3086802"/>
            <a:ext cx="2298300" cy="9711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💡 尝试2：</a:t>
            </a:r>
            <a:r>
              <a:rPr b="1" lang="zh-CN" sz="1000">
                <a:solidFill>
                  <a:srgbClr val="113366"/>
                </a:solidFill>
              </a:rPr>
              <a:t>优化 AI 任务流程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• </a:t>
            </a:r>
            <a:r>
              <a:rPr lang="zh-CN" sz="800">
                <a:solidFill>
                  <a:schemeClr val="dk1"/>
                </a:solidFill>
              </a:rPr>
              <a:t>让 AI 按照 5 个标准流程自我执行：获取代码、编排、执行审查、验证、汇总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67C23A"/>
                </a:solidFill>
              </a:rPr>
              <a:t>效果：</a:t>
            </a:r>
            <a:r>
              <a:rPr b="1" lang="zh-CN" sz="800">
                <a:solidFill>
                  <a:srgbClr val="67C23A"/>
                </a:solidFill>
              </a:rPr>
              <a:t>AI 输出代码质量高等虚假结论</a:t>
            </a:r>
            <a:endParaRPr b="1" sz="800">
              <a:solidFill>
                <a:srgbClr val="67C23A"/>
              </a:solidFill>
            </a:endParaRPr>
          </a:p>
        </p:txBody>
      </p:sp>
      <p:cxnSp>
        <p:nvCxnSpPr>
          <p:cNvPr id="451" name="Google Shape;451;p35"/>
          <p:cNvCxnSpPr/>
          <p:nvPr/>
        </p:nvCxnSpPr>
        <p:spPr>
          <a:xfrm flipH="1" rot="10800000">
            <a:off x="3510194" y="3400401"/>
            <a:ext cx="2126100" cy="7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35"/>
          <p:cNvSpPr/>
          <p:nvPr/>
        </p:nvSpPr>
        <p:spPr>
          <a:xfrm>
            <a:off x="6083725" y="3086801"/>
            <a:ext cx="2298300" cy="9711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💡 尝试3：</a:t>
            </a:r>
            <a:r>
              <a:rPr b="1" lang="zh-CN" sz="1000">
                <a:solidFill>
                  <a:srgbClr val="113366"/>
                </a:solidFill>
              </a:rPr>
              <a:t>直接拆分成多次对话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• </a:t>
            </a:r>
            <a:r>
              <a:rPr lang="zh-CN" sz="800">
                <a:solidFill>
                  <a:schemeClr val="dk1"/>
                </a:solidFill>
              </a:rPr>
              <a:t>让用户在 Cursor 中发起多次对话，完成大规模的审查任务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67C23A"/>
                </a:solidFill>
              </a:rPr>
              <a:t>效果：</a:t>
            </a:r>
            <a:r>
              <a:rPr b="1" lang="zh-CN" sz="800">
                <a:solidFill>
                  <a:srgbClr val="67C23A"/>
                </a:solidFill>
              </a:rPr>
              <a:t>成本高，跨对话级别难以建立关联性</a:t>
            </a:r>
            <a:endParaRPr b="1" sz="800">
              <a:solidFill>
                <a:srgbClr val="67C23A"/>
              </a:solidFill>
            </a:endParaRPr>
          </a:p>
        </p:txBody>
      </p:sp>
      <p:cxnSp>
        <p:nvCxnSpPr>
          <p:cNvPr id="453" name="Google Shape;453;p35"/>
          <p:cNvCxnSpPr/>
          <p:nvPr/>
        </p:nvCxnSpPr>
        <p:spPr>
          <a:xfrm flipH="1" rot="10800000">
            <a:off x="6171069" y="3400401"/>
            <a:ext cx="2126100" cy="7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35"/>
          <p:cNvSpPr txBox="1"/>
          <p:nvPr/>
        </p:nvSpPr>
        <p:spPr>
          <a:xfrm>
            <a:off x="751713" y="2674838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三次尝试与经验</a:t>
            </a:r>
            <a:endParaRPr b="1">
              <a:solidFill>
                <a:srgbClr val="113366"/>
              </a:solidFill>
            </a:endParaRPr>
          </a:p>
        </p:txBody>
      </p:sp>
      <p:sp>
        <p:nvSpPr>
          <p:cNvPr id="455" name="Google Shape;455;p35"/>
          <p:cNvSpPr/>
          <p:nvPr/>
        </p:nvSpPr>
        <p:spPr>
          <a:xfrm>
            <a:off x="761975" y="4481600"/>
            <a:ext cx="7620000" cy="5304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lt1"/>
                </a:solidFill>
              </a:rPr>
              <a:t>✗ </a:t>
            </a:r>
            <a:r>
              <a:rPr b="1" lang="zh-CN" sz="1000">
                <a:solidFill>
                  <a:schemeClr val="lt1"/>
                </a:solidFill>
              </a:rPr>
              <a:t>关键流程，不能只依靠 AI 自觉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✗ </a:t>
            </a:r>
            <a:r>
              <a:rPr b="1" lang="zh-CN" sz="1000">
                <a:solidFill>
                  <a:schemeClr val="lt1"/>
                </a:solidFill>
              </a:rPr>
              <a:t>不能让 AI 即当运动员，又当裁判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6" name="Google Shape;456;p35"/>
          <p:cNvSpPr txBox="1"/>
          <p:nvPr/>
        </p:nvSpPr>
        <p:spPr>
          <a:xfrm>
            <a:off x="761963" y="4069638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关键性结论</a:t>
            </a:r>
            <a:endParaRPr b="1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如何让 AI "不偷懒"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“把大象装进冰箱分三步，AI 每次只知道当前一步”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880800" y="1033175"/>
            <a:ext cx="7382400" cy="549900"/>
          </a:xfrm>
          <a:prstGeom prst="roundRect">
            <a:avLst>
              <a:gd fmla="val 1793" name="adj"/>
            </a:avLst>
          </a:prstGeom>
          <a:solidFill>
            <a:srgbClr val="EE4D2D">
              <a:alpha val="10000"/>
            </a:srgbClr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EE4D2D"/>
                </a:solidFill>
              </a:rPr>
              <a:t>？核心问题</a:t>
            </a:r>
            <a:endParaRPr b="1" sz="1000">
              <a:solidFill>
                <a:srgbClr val="EE4D2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大型 MR 任务量大、步骤多，AI 容易"战略性放弃"或遗漏步骤					</a:t>
            </a:r>
            <a:r>
              <a:rPr b="1" lang="zh-CN" sz="1000">
                <a:solidFill>
                  <a:srgbClr val="EE4D2D"/>
                </a:solidFill>
              </a:rPr>
              <a:t>→ 关键流程，不能只依靠 AI 自觉</a:t>
            </a:r>
            <a:endParaRPr sz="1000">
              <a:solidFill>
                <a:srgbClr val="EE4D2D"/>
              </a:solidFill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880800" y="1857575"/>
            <a:ext cx="3534600" cy="12357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58400" lIns="158400" spcFirstLastPara="1" rIns="158400" wrap="square" tIns="1584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E4D2D"/>
              </a:solidFill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880800" y="1857575"/>
            <a:ext cx="3534600" cy="382200"/>
          </a:xfrm>
          <a:prstGeom prst="roundRect">
            <a:avLst>
              <a:gd fmla="val 6963" name="adj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20">
                <a:solidFill>
                  <a:schemeClr val="lt1"/>
                </a:solidFill>
              </a:rPr>
              <a:t>任务拆解：批次分配</a:t>
            </a:r>
            <a:endParaRPr b="1" sz="1220">
              <a:solidFill>
                <a:schemeClr val="lt1"/>
              </a:solidFill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1016525" y="2394875"/>
            <a:ext cx="1300200" cy="514200"/>
          </a:xfrm>
          <a:prstGeom prst="roundRect">
            <a:avLst>
              <a:gd fmla="val 1793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大型 MR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50 文件 / 5000 代码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2901838" y="2394875"/>
            <a:ext cx="1391100" cy="514200"/>
          </a:xfrm>
          <a:prstGeom prst="roundRect">
            <a:avLst>
              <a:gd fmla="val 1793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批次 1 → 批次 2 → 批次 N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每批 800-1500 行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880800" y="3720875"/>
            <a:ext cx="3534600" cy="646500"/>
          </a:xfrm>
          <a:prstGeom prst="roundRect">
            <a:avLst>
              <a:gd fmla="val 4822" name="adj"/>
            </a:avLst>
          </a:prstGeom>
          <a:solidFill>
            <a:srgbClr val="113366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AI 不知道有几头大象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D9D9"/>
                </a:solidFill>
              </a:rPr>
              <a:t>每次只给一头，装完再给下一头</a:t>
            </a:r>
            <a:endParaRPr b="1" sz="800">
              <a:solidFill>
                <a:srgbClr val="D9D9D9"/>
              </a:solidFill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4728575" y="1857575"/>
            <a:ext cx="3534600" cy="12357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58400" lIns="158400" spcFirstLastPara="1" rIns="158400" wrap="square" tIns="1584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E4D2D"/>
              </a:solidFill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4728575" y="1857575"/>
            <a:ext cx="3534600" cy="382200"/>
          </a:xfrm>
          <a:prstGeom prst="roundRect">
            <a:avLst>
              <a:gd fmla="val 6963" name="adj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20">
                <a:solidFill>
                  <a:schemeClr val="lt1"/>
                </a:solidFill>
              </a:rPr>
              <a:t>流程分步</a:t>
            </a:r>
            <a:r>
              <a:rPr b="1" lang="zh-CN" sz="1220">
                <a:solidFill>
                  <a:schemeClr val="lt1"/>
                </a:solidFill>
              </a:rPr>
              <a:t>：</a:t>
            </a:r>
            <a:r>
              <a:rPr b="1" lang="zh-CN" sz="1220">
                <a:solidFill>
                  <a:schemeClr val="lt1"/>
                </a:solidFill>
              </a:rPr>
              <a:t>链式提示词</a:t>
            </a:r>
            <a:endParaRPr b="1" sz="1220">
              <a:solidFill>
                <a:schemeClr val="lt1"/>
              </a:solidFill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4864300" y="2394875"/>
            <a:ext cx="825900" cy="514200"/>
          </a:xfrm>
          <a:prstGeom prst="roundRect">
            <a:avLst>
              <a:gd fmla="val 1793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Step 1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审查任务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5852439" y="2394875"/>
            <a:ext cx="1300200" cy="514200"/>
          </a:xfrm>
          <a:prstGeom prst="roundRect">
            <a:avLst>
              <a:gd fmla="val 1793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Step 2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验证 ok -&gt; next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验证 no-ok -&gt; recheck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4728575" y="3720875"/>
            <a:ext cx="3534600" cy="646500"/>
          </a:xfrm>
          <a:prstGeom prst="roundRect">
            <a:avLst>
              <a:gd fmla="val 6628" name="adj"/>
            </a:avLst>
          </a:prstGeom>
          <a:solidFill>
            <a:srgbClr val="113366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AI 只知道当前一步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D9D9"/>
                </a:solidFill>
              </a:rPr>
              <a:t>开门、放进去、关门，一步一步来</a:t>
            </a:r>
            <a:endParaRPr b="1" sz="800">
              <a:solidFill>
                <a:srgbClr val="D9D9D9"/>
              </a:solidFill>
            </a:endParaRPr>
          </a:p>
        </p:txBody>
      </p:sp>
      <p:sp>
        <p:nvSpPr>
          <p:cNvPr id="473" name="Google Shape;473;p36"/>
          <p:cNvSpPr/>
          <p:nvPr/>
        </p:nvSpPr>
        <p:spPr>
          <a:xfrm>
            <a:off x="7314875" y="2394875"/>
            <a:ext cx="825900" cy="514200"/>
          </a:xfrm>
          <a:prstGeom prst="roundRect">
            <a:avLst>
              <a:gd fmla="val 1793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Step 3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1"/>
                </a:solidFill>
              </a:rPr>
              <a:t>输出结果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474" name="Google Shape;474;p36"/>
          <p:cNvCxnSpPr>
            <a:stCxn id="463" idx="2"/>
            <a:endCxn id="467" idx="0"/>
          </p:cNvCxnSpPr>
          <p:nvPr/>
        </p:nvCxnSpPr>
        <p:spPr>
          <a:xfrm>
            <a:off x="2648100" y="3093275"/>
            <a:ext cx="0" cy="6276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36"/>
          <p:cNvCxnSpPr>
            <a:stCxn id="468" idx="2"/>
            <a:endCxn id="472" idx="0"/>
          </p:cNvCxnSpPr>
          <p:nvPr/>
        </p:nvCxnSpPr>
        <p:spPr>
          <a:xfrm>
            <a:off x="6495875" y="3093275"/>
            <a:ext cx="0" cy="6276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如何验证 AI "没偷懒"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"大象运到了吗？门开了吗？塞进去了吗？门关上了吗？"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880800" y="1857575"/>
            <a:ext cx="3534600" cy="1586100"/>
          </a:xfrm>
          <a:prstGeom prst="roundRect">
            <a:avLst>
              <a:gd fmla="val 179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58400" lIns="158400" spcFirstLastPara="1" rIns="158400" wrap="square" tIns="1584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“工时”的定义：</a:t>
            </a:r>
            <a:r>
              <a:rPr lang="zh-CN" sz="800">
                <a:solidFill>
                  <a:srgbClr val="113366"/>
                </a:solidFill>
              </a:rPr>
              <a:t>1000 行代码，至少需要 X 秒才能看完</a:t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公式：</a:t>
            </a:r>
            <a:r>
              <a:rPr b="1" lang="zh-CN" sz="800">
                <a:solidFill>
                  <a:srgbClr val="67C23A"/>
                </a:solidFill>
              </a:rPr>
              <a:t>实际耗时 ≥ 代码行数 × 单行耗时 × 系数（灵活配置）</a:t>
            </a:r>
            <a:endParaRPr b="1" sz="800">
              <a:solidFill>
                <a:srgbClr val="67C23A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✅ 花够时间 → 可能认真审查了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880800" y="1857575"/>
            <a:ext cx="3534600" cy="382200"/>
          </a:xfrm>
          <a:prstGeom prst="roundRect">
            <a:avLst>
              <a:gd fmla="val 6963" name="adj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20">
                <a:solidFill>
                  <a:schemeClr val="lt1"/>
                </a:solidFill>
              </a:rPr>
              <a:t>“工时”验证</a:t>
            </a:r>
            <a:endParaRPr b="1" sz="1220">
              <a:solidFill>
                <a:schemeClr val="lt1"/>
              </a:solidFill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4728575" y="1857575"/>
            <a:ext cx="3534600" cy="1586100"/>
          </a:xfrm>
          <a:prstGeom prst="roundRect">
            <a:avLst>
              <a:gd fmla="val 179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58400" lIns="158400" spcFirstLastPara="1" rIns="158400" wrap="square" tIns="1584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“质量”的定义：</a:t>
            </a:r>
            <a:r>
              <a:rPr lang="zh-CN" sz="800">
                <a:solidFill>
                  <a:srgbClr val="113366"/>
                </a:solidFill>
              </a:rPr>
              <a:t>1000 行代码，正常应该能发现 N 个问题</a:t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公式： </a:t>
            </a:r>
            <a:r>
              <a:rPr b="1" lang="zh-CN" sz="800">
                <a:solidFill>
                  <a:srgbClr val="67C23A"/>
                </a:solidFill>
              </a:rPr>
              <a:t>问题数量 ≥ 代码行数 ÷ 系数（灵活配置）</a:t>
            </a:r>
            <a:endParaRPr b="1" sz="800">
              <a:solidFill>
                <a:srgbClr val="67C23A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✅ 找够问题 → 可能认真审查了</a:t>
            </a:r>
            <a:endParaRPr sz="800">
              <a:solidFill>
                <a:srgbClr val="113366"/>
              </a:solidFill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4728575" y="1857575"/>
            <a:ext cx="3534600" cy="382200"/>
          </a:xfrm>
          <a:prstGeom prst="roundRect">
            <a:avLst>
              <a:gd fmla="val 6963" name="adj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20">
                <a:solidFill>
                  <a:schemeClr val="lt1"/>
                </a:solidFill>
              </a:rPr>
              <a:t>“质量”验证</a:t>
            </a:r>
            <a:endParaRPr b="1" sz="1220">
              <a:solidFill>
                <a:schemeClr val="lt1"/>
              </a:solidFill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880800" y="1033175"/>
            <a:ext cx="7382400" cy="549900"/>
          </a:xfrm>
          <a:prstGeom prst="roundRect">
            <a:avLst>
              <a:gd fmla="val 1793" name="adj"/>
            </a:avLst>
          </a:prstGeom>
          <a:solidFill>
            <a:srgbClr val="FFEDEA"/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000">
                <a:solidFill>
                  <a:srgbClr val="EE4D2D"/>
                </a:solidFill>
              </a:rPr>
              <a:t>？核心问题</a:t>
            </a:r>
            <a:endParaRPr b="1" sz="1000">
              <a:solidFill>
                <a:srgbClr val="EE4D2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AI 说"审查完了"，怎么判断它是真的认真看了，还是敷衍了事？					</a:t>
            </a:r>
            <a:r>
              <a:rPr b="1" lang="zh-CN" sz="1000">
                <a:solidFill>
                  <a:srgbClr val="EE4D2D"/>
                </a:solidFill>
              </a:rPr>
              <a:t>→ 不能让 AI 既当运动员，又当裁判</a:t>
            </a:r>
            <a:endParaRPr b="1" sz="1200">
              <a:solidFill>
                <a:srgbClr val="EE4D2D"/>
              </a:solidFill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880813" y="3939750"/>
            <a:ext cx="3534600" cy="646500"/>
          </a:xfrm>
          <a:prstGeom prst="roundRect">
            <a:avLst>
              <a:gd fmla="val 4822" name="adj"/>
            </a:avLst>
          </a:prstGeom>
          <a:solidFill>
            <a:srgbClr val="113366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从非洲运大象过来，需要多久？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D9D9"/>
                </a:solidFill>
              </a:rPr>
              <a:t>3 秒说运到了，肯定是骗人的</a:t>
            </a:r>
            <a:endParaRPr b="1" sz="200">
              <a:solidFill>
                <a:srgbClr val="D9D9D9"/>
              </a:solidFill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4728588" y="3939750"/>
            <a:ext cx="3534600" cy="646500"/>
          </a:xfrm>
          <a:prstGeom prst="roundRect">
            <a:avLst>
              <a:gd fmla="val 6628" name="adj"/>
            </a:avLst>
          </a:prstGeom>
          <a:solidFill>
            <a:srgbClr val="113366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运到没？开门没？塞进去没？关门没？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D9D9"/>
                </a:solidFill>
              </a:rPr>
              <a:t>每一步都要有交付物，缺一不可</a:t>
            </a:r>
            <a:endParaRPr b="1" sz="800">
              <a:solidFill>
                <a:srgbClr val="D9D9D9"/>
              </a:solidFill>
            </a:endParaRPr>
          </a:p>
        </p:txBody>
      </p:sp>
      <p:cxnSp>
        <p:nvCxnSpPr>
          <p:cNvPr id="488" name="Google Shape;488;p37"/>
          <p:cNvCxnSpPr>
            <a:stCxn id="481" idx="2"/>
            <a:endCxn id="486" idx="0"/>
          </p:cNvCxnSpPr>
          <p:nvPr/>
        </p:nvCxnSpPr>
        <p:spPr>
          <a:xfrm>
            <a:off x="2648100" y="3443675"/>
            <a:ext cx="0" cy="4962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37"/>
          <p:cNvCxnSpPr>
            <a:stCxn id="483" idx="2"/>
            <a:endCxn id="487" idx="0"/>
          </p:cNvCxnSpPr>
          <p:nvPr/>
        </p:nvCxnSpPr>
        <p:spPr>
          <a:xfrm>
            <a:off x="6495875" y="3443675"/>
            <a:ext cx="0" cy="4962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8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效果</a:t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495" name="Google Shape;495;p38"/>
          <p:cNvGrpSpPr/>
          <p:nvPr/>
        </p:nvGrpSpPr>
        <p:grpSpPr>
          <a:xfrm>
            <a:off x="2093400" y="1209900"/>
            <a:ext cx="4957200" cy="680700"/>
            <a:chOff x="3711100" y="949925"/>
            <a:chExt cx="4957200" cy="680700"/>
          </a:xfrm>
        </p:grpSpPr>
        <p:sp>
          <p:nvSpPr>
            <p:cNvPr id="496" name="Google Shape;496;p38"/>
            <p:cNvSpPr/>
            <p:nvPr/>
          </p:nvSpPr>
          <p:spPr>
            <a:xfrm>
              <a:off x="3711100" y="949925"/>
              <a:ext cx="4957200" cy="680700"/>
            </a:xfrm>
            <a:prstGeom prst="roundRect">
              <a:avLst>
                <a:gd fmla="val 5553" name="adj"/>
              </a:avLst>
            </a:prstGeom>
            <a:solidFill>
              <a:srgbClr val="F0F9ED"/>
            </a:solidFill>
            <a:ln cap="flat" cmpd="sng" w="952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rgbClr val="113366"/>
                  </a:solidFill>
                </a:rPr>
                <a:t>让 AI 感知不到任务全貌</a:t>
              </a:r>
              <a:endParaRPr b="1" sz="122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大型 MR 拆成多个小批次，AI 每次只看到 10 几个文件 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chemeClr val="dk2"/>
                  </a:solidFill>
                </a:rPr>
                <a:t>→ 避免 AI 因任务过大而"战略性放弃"</a:t>
              </a:r>
              <a:endParaRPr b="1" sz="800">
                <a:solidFill>
                  <a:schemeClr val="dk2"/>
                </a:solidFill>
              </a:endParaRPr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3858725" y="1045463"/>
              <a:ext cx="378000" cy="3780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1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498" name="Google Shape;498;p38"/>
          <p:cNvGrpSpPr/>
          <p:nvPr/>
        </p:nvGrpSpPr>
        <p:grpSpPr>
          <a:xfrm>
            <a:off x="2093400" y="1982615"/>
            <a:ext cx="4956300" cy="680700"/>
            <a:chOff x="3711100" y="949936"/>
            <a:chExt cx="4956300" cy="680700"/>
          </a:xfrm>
        </p:grpSpPr>
        <p:sp>
          <p:nvSpPr>
            <p:cNvPr id="499" name="Google Shape;499;p38"/>
            <p:cNvSpPr/>
            <p:nvPr/>
          </p:nvSpPr>
          <p:spPr>
            <a:xfrm>
              <a:off x="3711100" y="949936"/>
              <a:ext cx="4956300" cy="680700"/>
            </a:xfrm>
            <a:prstGeom prst="roundRect">
              <a:avLst>
                <a:gd fmla="val 5553" name="adj"/>
              </a:avLst>
            </a:prstGeom>
            <a:solidFill>
              <a:srgbClr val="F0F9ED"/>
            </a:solidFill>
            <a:ln cap="flat" cmpd="sng" w="952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rgbClr val="113366"/>
                  </a:solidFill>
                </a:rPr>
                <a:t>AI 只执行，流程由后端控制</a:t>
              </a:r>
              <a:endParaRPr b="1" sz="122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链式提示词设计，每一步由后端动态生成 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chemeClr val="dk2"/>
                  </a:solidFill>
                </a:rPr>
                <a:t>→ AI 不知道还有多少批次，只专注当前任务</a:t>
              </a:r>
              <a:endParaRPr b="1" sz="800">
                <a:solidFill>
                  <a:schemeClr val="dk2"/>
                </a:solidFill>
              </a:endParaRPr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3858725" y="1045463"/>
              <a:ext cx="378000" cy="3780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2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501" name="Google Shape;501;p38"/>
          <p:cNvGrpSpPr/>
          <p:nvPr/>
        </p:nvGrpSpPr>
        <p:grpSpPr>
          <a:xfrm>
            <a:off x="2093400" y="2755331"/>
            <a:ext cx="4957200" cy="680414"/>
            <a:chOff x="3711100" y="949925"/>
            <a:chExt cx="4957200" cy="759900"/>
          </a:xfrm>
        </p:grpSpPr>
        <p:sp>
          <p:nvSpPr>
            <p:cNvPr id="502" name="Google Shape;502;p38"/>
            <p:cNvSpPr/>
            <p:nvPr/>
          </p:nvSpPr>
          <p:spPr>
            <a:xfrm>
              <a:off x="3711100" y="949925"/>
              <a:ext cx="4957200" cy="759900"/>
            </a:xfrm>
            <a:prstGeom prst="roundRect">
              <a:avLst>
                <a:gd fmla="val 5553" name="adj"/>
              </a:avLst>
            </a:prstGeom>
            <a:solidFill>
              <a:srgbClr val="F0F9ED"/>
            </a:solidFill>
            <a:ln cap="flat" cmpd="sng" w="952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rgbClr val="113366"/>
                  </a:solidFill>
                </a:rPr>
                <a:t>外部验证，AI 不能自己说了算</a:t>
              </a:r>
              <a:endParaRPr b="1" sz="122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TL 角色验证：时间够 OR 问题够，才算通过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chemeClr val="dk2"/>
                  </a:solidFill>
                </a:rPr>
                <a:t>→ 验证不通过，要求 AI 返工重审</a:t>
              </a:r>
              <a:endParaRPr b="1" sz="800">
                <a:solidFill>
                  <a:schemeClr val="dk2"/>
                </a:solidFill>
              </a:endParaRPr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3858725" y="1045463"/>
              <a:ext cx="378000" cy="4221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3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04" name="Google Shape;504;p38"/>
          <p:cNvSpPr txBox="1"/>
          <p:nvPr/>
        </p:nvSpPr>
        <p:spPr>
          <a:xfrm>
            <a:off x="2093388" y="785113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关键性</a:t>
            </a:r>
            <a:r>
              <a:rPr b="1" lang="zh-CN">
                <a:solidFill>
                  <a:srgbClr val="113366"/>
                </a:solidFill>
              </a:rPr>
              <a:t>策略</a:t>
            </a:r>
            <a:endParaRPr b="1">
              <a:solidFill>
                <a:srgbClr val="113366"/>
              </a:solidFill>
            </a:endParaRPr>
          </a:p>
        </p:txBody>
      </p:sp>
      <p:sp>
        <p:nvSpPr>
          <p:cNvPr id="505" name="Google Shape;505;p38"/>
          <p:cNvSpPr txBox="1"/>
          <p:nvPr/>
        </p:nvSpPr>
        <p:spPr>
          <a:xfrm>
            <a:off x="2093398" y="3435750"/>
            <a:ext cx="37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效果提升</a:t>
            </a:r>
            <a:endParaRPr b="1">
              <a:solidFill>
                <a:srgbClr val="113366"/>
              </a:solidFill>
            </a:endParaRPr>
          </a:p>
        </p:txBody>
      </p:sp>
      <p:sp>
        <p:nvSpPr>
          <p:cNvPr id="506" name="Google Shape;506;p38"/>
          <p:cNvSpPr/>
          <p:nvPr/>
        </p:nvSpPr>
        <p:spPr>
          <a:xfrm>
            <a:off x="2093400" y="3860525"/>
            <a:ext cx="1481100" cy="967800"/>
          </a:xfrm>
          <a:prstGeom prst="roundRect">
            <a:avLst>
              <a:gd fmla="val 555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单次审查平均问题数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67C23A"/>
                </a:solidFill>
              </a:rPr>
              <a:t>↑ 333%</a:t>
            </a:r>
            <a:endParaRPr b="1">
              <a:solidFill>
                <a:srgbClr val="67C23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（8-10月）旧版：187/503 次/问题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（近一周）新版：  37/619 次/问题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07" name="Google Shape;507;p38"/>
          <p:cNvSpPr/>
          <p:nvPr/>
        </p:nvSpPr>
        <p:spPr>
          <a:xfrm>
            <a:off x="3832500" y="3860525"/>
            <a:ext cx="1479600" cy="967800"/>
          </a:xfrm>
          <a:prstGeom prst="roundRect">
            <a:avLst>
              <a:gd fmla="val 555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每百行代码高危问题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67C23A"/>
                </a:solidFill>
              </a:rPr>
              <a:t>↑ 2500% </a:t>
            </a:r>
            <a:endParaRPr b="1">
              <a:solidFill>
                <a:srgbClr val="67C23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旧版：0.01 个/百行代码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新版：0.26 个/百行代码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08" name="Google Shape;508;p38"/>
          <p:cNvSpPr/>
          <p:nvPr/>
        </p:nvSpPr>
        <p:spPr>
          <a:xfrm>
            <a:off x="5570100" y="3860825"/>
            <a:ext cx="1479600" cy="967800"/>
          </a:xfrm>
          <a:prstGeom prst="roundRect">
            <a:avLst>
              <a:gd fmla="val 555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采纳率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67C23A"/>
                </a:solidFill>
              </a:rPr>
              <a:t>～60% </a:t>
            </a:r>
            <a:endParaRPr b="1">
              <a:solidFill>
                <a:srgbClr val="67C23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旧版：～30%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新版：～60%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效果</a:t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514" name="Google Shape;514;p39"/>
          <p:cNvGrpSpPr/>
          <p:nvPr/>
        </p:nvGrpSpPr>
        <p:grpSpPr>
          <a:xfrm>
            <a:off x="2093400" y="1209900"/>
            <a:ext cx="4957200" cy="680700"/>
            <a:chOff x="3711100" y="949925"/>
            <a:chExt cx="4957200" cy="680700"/>
          </a:xfrm>
        </p:grpSpPr>
        <p:sp>
          <p:nvSpPr>
            <p:cNvPr id="515" name="Google Shape;515;p39"/>
            <p:cNvSpPr/>
            <p:nvPr/>
          </p:nvSpPr>
          <p:spPr>
            <a:xfrm>
              <a:off x="3711100" y="949925"/>
              <a:ext cx="4957200" cy="680700"/>
            </a:xfrm>
            <a:prstGeom prst="roundRect">
              <a:avLst>
                <a:gd fmla="val 5553" name="adj"/>
              </a:avLst>
            </a:prstGeom>
            <a:solidFill>
              <a:srgbClr val="F0F9ED"/>
            </a:solidFill>
            <a:ln cap="flat" cmpd="sng" w="952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rgbClr val="113366"/>
                  </a:solidFill>
                </a:rPr>
                <a:t>让 AI 感知不到任务全貌</a:t>
              </a:r>
              <a:endParaRPr b="1" sz="122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大型 MR 拆成多个小批次，AI 每次只看到 10 几个文件 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chemeClr val="dk2"/>
                  </a:solidFill>
                </a:rPr>
                <a:t>→ 避免 AI 因任务过大而"战略性放弃"</a:t>
              </a:r>
              <a:endParaRPr b="1" sz="800">
                <a:solidFill>
                  <a:schemeClr val="dk2"/>
                </a:solidFill>
              </a:endParaRPr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3858725" y="1045463"/>
              <a:ext cx="378000" cy="3780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1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517" name="Google Shape;517;p39"/>
          <p:cNvGrpSpPr/>
          <p:nvPr/>
        </p:nvGrpSpPr>
        <p:grpSpPr>
          <a:xfrm>
            <a:off x="2093400" y="1982615"/>
            <a:ext cx="4956300" cy="680700"/>
            <a:chOff x="3711100" y="949936"/>
            <a:chExt cx="4956300" cy="680700"/>
          </a:xfrm>
        </p:grpSpPr>
        <p:sp>
          <p:nvSpPr>
            <p:cNvPr id="518" name="Google Shape;518;p39"/>
            <p:cNvSpPr/>
            <p:nvPr/>
          </p:nvSpPr>
          <p:spPr>
            <a:xfrm>
              <a:off x="3711100" y="949936"/>
              <a:ext cx="4956300" cy="680700"/>
            </a:xfrm>
            <a:prstGeom prst="roundRect">
              <a:avLst>
                <a:gd fmla="val 5553" name="adj"/>
              </a:avLst>
            </a:prstGeom>
            <a:solidFill>
              <a:srgbClr val="F0F9ED"/>
            </a:solidFill>
            <a:ln cap="flat" cmpd="sng" w="952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rgbClr val="113366"/>
                  </a:solidFill>
                </a:rPr>
                <a:t>AI 只执行，流程由后端控制</a:t>
              </a:r>
              <a:endParaRPr b="1" sz="122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链式提示词设计，每一步由后端动态生成 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chemeClr val="dk2"/>
                  </a:solidFill>
                </a:rPr>
                <a:t>→ AI 不知道还有多少批次，只专注当前任务</a:t>
              </a:r>
              <a:endParaRPr b="1" sz="800">
                <a:solidFill>
                  <a:schemeClr val="dk2"/>
                </a:solidFill>
              </a:endParaRPr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3858725" y="1045463"/>
              <a:ext cx="378000" cy="3780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2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520" name="Google Shape;520;p39"/>
          <p:cNvGrpSpPr/>
          <p:nvPr/>
        </p:nvGrpSpPr>
        <p:grpSpPr>
          <a:xfrm>
            <a:off x="2093400" y="2755331"/>
            <a:ext cx="4957200" cy="680414"/>
            <a:chOff x="3711100" y="949925"/>
            <a:chExt cx="4957200" cy="759900"/>
          </a:xfrm>
        </p:grpSpPr>
        <p:sp>
          <p:nvSpPr>
            <p:cNvPr id="521" name="Google Shape;521;p39"/>
            <p:cNvSpPr/>
            <p:nvPr/>
          </p:nvSpPr>
          <p:spPr>
            <a:xfrm>
              <a:off x="3711100" y="949925"/>
              <a:ext cx="4957200" cy="759900"/>
            </a:xfrm>
            <a:prstGeom prst="roundRect">
              <a:avLst>
                <a:gd fmla="val 5553" name="adj"/>
              </a:avLst>
            </a:prstGeom>
            <a:solidFill>
              <a:srgbClr val="F0F9ED"/>
            </a:solidFill>
            <a:ln cap="flat" cmpd="sng" w="952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rgbClr val="113366"/>
                  </a:solidFill>
                </a:rPr>
                <a:t>外部验证，AI 不能自己说了算</a:t>
              </a:r>
              <a:endParaRPr b="1" sz="122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TL 角色验证：时间够 OR 问题够，才算通过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chemeClr val="dk2"/>
                  </a:solidFill>
                </a:rPr>
                <a:t>→ 验证不通过，要求 AI 返工重审</a:t>
              </a:r>
              <a:endParaRPr b="1" sz="800">
                <a:solidFill>
                  <a:schemeClr val="dk2"/>
                </a:solidFill>
              </a:endParaRPr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3858725" y="1045463"/>
              <a:ext cx="378000" cy="4221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3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23" name="Google Shape;523;p39"/>
          <p:cNvSpPr txBox="1"/>
          <p:nvPr/>
        </p:nvSpPr>
        <p:spPr>
          <a:xfrm>
            <a:off x="2093388" y="785113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关键性策略</a:t>
            </a:r>
            <a:endParaRPr b="1">
              <a:solidFill>
                <a:srgbClr val="113366"/>
              </a:solidFill>
            </a:endParaRPr>
          </a:p>
        </p:txBody>
      </p:sp>
      <p:sp>
        <p:nvSpPr>
          <p:cNvPr id="524" name="Google Shape;524;p39"/>
          <p:cNvSpPr txBox="1"/>
          <p:nvPr/>
        </p:nvSpPr>
        <p:spPr>
          <a:xfrm>
            <a:off x="2093398" y="3435750"/>
            <a:ext cx="37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效果提升</a:t>
            </a:r>
            <a:endParaRPr b="1">
              <a:solidFill>
                <a:srgbClr val="113366"/>
              </a:solidFill>
            </a:endParaRPr>
          </a:p>
        </p:txBody>
      </p:sp>
      <p:sp>
        <p:nvSpPr>
          <p:cNvPr id="525" name="Google Shape;525;p39"/>
          <p:cNvSpPr/>
          <p:nvPr/>
        </p:nvSpPr>
        <p:spPr>
          <a:xfrm>
            <a:off x="2093400" y="3860525"/>
            <a:ext cx="1481100" cy="967800"/>
          </a:xfrm>
          <a:prstGeom prst="roundRect">
            <a:avLst>
              <a:gd fmla="val 555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单次审查平均问题数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67C23A"/>
                </a:solidFill>
              </a:rPr>
              <a:t>↑ 333%</a:t>
            </a:r>
            <a:endParaRPr b="1">
              <a:solidFill>
                <a:srgbClr val="67C23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（8-10月）旧版：187/503 次/问题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（近一周）新版：  37/619 次/问题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26" name="Google Shape;526;p39"/>
          <p:cNvSpPr/>
          <p:nvPr/>
        </p:nvSpPr>
        <p:spPr>
          <a:xfrm>
            <a:off x="3832500" y="3860525"/>
            <a:ext cx="1479600" cy="967800"/>
          </a:xfrm>
          <a:prstGeom prst="roundRect">
            <a:avLst>
              <a:gd fmla="val 555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每百行代码高危问题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67C23A"/>
                </a:solidFill>
              </a:rPr>
              <a:t>↑ 2500% </a:t>
            </a:r>
            <a:endParaRPr b="1">
              <a:solidFill>
                <a:srgbClr val="67C23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旧版：0.01 个/百行代码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新版：0.26 个/百行代码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27" name="Google Shape;527;p39"/>
          <p:cNvSpPr/>
          <p:nvPr/>
        </p:nvSpPr>
        <p:spPr>
          <a:xfrm>
            <a:off x="5570100" y="3860825"/>
            <a:ext cx="1479600" cy="967800"/>
          </a:xfrm>
          <a:prstGeom prst="roundRect">
            <a:avLst>
              <a:gd fmla="val 5553" name="adj"/>
            </a:avLst>
          </a:prstGeom>
          <a:solidFill>
            <a:srgbClr val="F0F9ED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6400" lIns="86400" spcFirstLastPara="1" rIns="86400" wrap="square" tIns="864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采纳率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67C23A"/>
                </a:solidFill>
              </a:rPr>
              <a:t>～60% </a:t>
            </a:r>
            <a:endParaRPr b="1">
              <a:solidFill>
                <a:srgbClr val="67C23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旧版：～30%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solidFill>
                  <a:schemeClr val="dk2"/>
                </a:solidFill>
              </a:rPr>
              <a:t>新版：～60%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528" name="Google Shape;52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4485625"/>
            <a:ext cx="7305674" cy="3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0"/>
          <p:cNvSpPr/>
          <p:nvPr/>
        </p:nvSpPr>
        <p:spPr>
          <a:xfrm>
            <a:off x="2102400" y="3130111"/>
            <a:ext cx="4939200" cy="6198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0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目录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535" name="Google Shape;535;p40"/>
          <p:cNvSpPr txBox="1"/>
          <p:nvPr/>
        </p:nvSpPr>
        <p:spPr>
          <a:xfrm>
            <a:off x="6298700" y="1185638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01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536" name="Google Shape;536;p40"/>
          <p:cNvSpPr txBox="1"/>
          <p:nvPr/>
        </p:nvSpPr>
        <p:spPr>
          <a:xfrm>
            <a:off x="2490075" y="1185638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为什么需要 AI CR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537" name="Google Shape;537;p40"/>
          <p:cNvSpPr txBox="1"/>
          <p:nvPr/>
        </p:nvSpPr>
        <p:spPr>
          <a:xfrm>
            <a:off x="2490075" y="1851447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IBS AI CR 是什么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538" name="Google Shape;538;p40"/>
          <p:cNvSpPr txBox="1"/>
          <p:nvPr/>
        </p:nvSpPr>
        <p:spPr>
          <a:xfrm>
            <a:off x="6298700" y="1851447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02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539" name="Google Shape;539;p40"/>
          <p:cNvSpPr txBox="1"/>
          <p:nvPr/>
        </p:nvSpPr>
        <p:spPr>
          <a:xfrm>
            <a:off x="2490075" y="251725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核心技术实现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540" name="Google Shape;540;p40"/>
          <p:cNvSpPr txBox="1"/>
          <p:nvPr/>
        </p:nvSpPr>
        <p:spPr>
          <a:xfrm>
            <a:off x="6298700" y="251725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03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541" name="Google Shape;541;p40"/>
          <p:cNvSpPr txBox="1"/>
          <p:nvPr/>
        </p:nvSpPr>
        <p:spPr>
          <a:xfrm>
            <a:off x="2490075" y="318306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</a:rPr>
              <a:t>推广运营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D9D9"/>
                </a:solidFill>
              </a:rPr>
              <a:t>流程卡点、管理平台设计、周报邮件设计</a:t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542" name="Google Shape;542;p40"/>
          <p:cNvSpPr txBox="1"/>
          <p:nvPr/>
        </p:nvSpPr>
        <p:spPr>
          <a:xfrm>
            <a:off x="6298700" y="318306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04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543" name="Google Shape;543;p40"/>
          <p:cNvSpPr txBox="1"/>
          <p:nvPr/>
        </p:nvSpPr>
        <p:spPr>
          <a:xfrm>
            <a:off x="2490075" y="3848875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>
                <a:solidFill>
                  <a:srgbClr val="113366"/>
                </a:solidFill>
              </a:rPr>
              <a:t>未来规划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544" name="Google Shape;544;p40"/>
          <p:cNvSpPr txBox="1"/>
          <p:nvPr/>
        </p:nvSpPr>
        <p:spPr>
          <a:xfrm>
            <a:off x="6298700" y="3848875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05</a:t>
            </a:r>
            <a:endParaRPr b="1" sz="2000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1"/>
          <p:cNvSpPr/>
          <p:nvPr/>
        </p:nvSpPr>
        <p:spPr>
          <a:xfrm>
            <a:off x="5564300" y="1007825"/>
            <a:ext cx="2728500" cy="1335000"/>
          </a:xfrm>
          <a:prstGeom prst="roundRect">
            <a:avLst>
              <a:gd fmla="val 1793" name="adj"/>
            </a:avLst>
          </a:prstGeom>
          <a:solidFill>
            <a:srgbClr val="FFEDEA"/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这会带来什么后果？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550" name="Google Shape;550;p41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需求覆盖率问题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551" name="Google Shape;551;p41"/>
          <p:cNvSpPr/>
          <p:nvPr/>
        </p:nvSpPr>
        <p:spPr>
          <a:xfrm>
            <a:off x="1136600" y="1007825"/>
            <a:ext cx="2728500" cy="1335000"/>
          </a:xfrm>
          <a:prstGeom prst="roundRect">
            <a:avLst>
              <a:gd fmla="val 1793" name="adj"/>
            </a:avLst>
          </a:prstGeom>
          <a:solidFill>
            <a:srgbClr val="EE4D2D">
              <a:alpha val="10000"/>
            </a:srgbClr>
          </a:solidFill>
          <a:ln cap="flat" cmpd="sng" w="907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dk1"/>
                </a:solidFill>
              </a:rPr>
              <a:t>AI CR 效果不错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EE4D2D"/>
                </a:solidFill>
              </a:rPr>
              <a:t>需求覆盖率不到 20%</a:t>
            </a:r>
            <a:endParaRPr b="1" sz="1600">
              <a:solidFill>
                <a:srgbClr val="EE4D2D"/>
              </a:solidFill>
            </a:endParaRPr>
          </a:p>
        </p:txBody>
      </p:sp>
      <p:cxnSp>
        <p:nvCxnSpPr>
          <p:cNvPr id="552" name="Google Shape;552;p41"/>
          <p:cNvCxnSpPr/>
          <p:nvPr/>
        </p:nvCxnSpPr>
        <p:spPr>
          <a:xfrm>
            <a:off x="4122100" y="1612350"/>
            <a:ext cx="12039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41"/>
          <p:cNvSpPr txBox="1"/>
          <p:nvPr/>
        </p:nvSpPr>
        <p:spPr>
          <a:xfrm>
            <a:off x="5564300" y="1285650"/>
            <a:ext cx="272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EE4D2D"/>
                </a:solidFill>
              </a:rPr>
              <a:t>低级问题继续漏到线上</a:t>
            </a:r>
            <a:endParaRPr b="1" sz="800">
              <a:solidFill>
                <a:srgbClr val="EE4D2D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本可以提前发现的 Bug，上线后才暴露</a:t>
            </a:r>
            <a:endParaRPr sz="800">
              <a:solidFill>
                <a:schemeClr val="dk2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EE4D2D"/>
                </a:solidFill>
              </a:rPr>
              <a:t>重复出现同样的问题</a:t>
            </a:r>
            <a:endParaRPr b="1" sz="800">
              <a:solidFill>
                <a:srgbClr val="EE4D2D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CR 时间花在低级问题上，更少投入业务逻辑</a:t>
            </a:r>
            <a:endParaRPr sz="800">
              <a:solidFill>
                <a:schemeClr val="dk2"/>
              </a:solidFill>
            </a:endParaRPr>
          </a:p>
          <a:p>
            <a:pPr indent="0" lvl="0" marL="28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EE4D2D"/>
                </a:solidFill>
              </a:rPr>
              <a:t>返工、复盘、加班、成为额外的工作量</a:t>
            </a:r>
            <a:endParaRPr b="1" sz="800">
              <a:solidFill>
                <a:srgbClr val="EE4D2D"/>
              </a:solidFill>
            </a:endParaRPr>
          </a:p>
        </p:txBody>
      </p:sp>
      <p:sp>
        <p:nvSpPr>
          <p:cNvPr id="554" name="Google Shape;554;p41"/>
          <p:cNvSpPr/>
          <p:nvPr/>
        </p:nvSpPr>
        <p:spPr>
          <a:xfrm>
            <a:off x="5713725" y="1386242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5713725" y="1742359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6" name="Google Shape;556;p41"/>
          <p:cNvSpPr/>
          <p:nvPr/>
        </p:nvSpPr>
        <p:spPr>
          <a:xfrm>
            <a:off x="5713725" y="2105759"/>
            <a:ext cx="126000" cy="126000"/>
          </a:xfrm>
          <a:prstGeom prst="ellipse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7" name="Google Shape;557;p41"/>
          <p:cNvSpPr/>
          <p:nvPr/>
        </p:nvSpPr>
        <p:spPr>
          <a:xfrm>
            <a:off x="1136600" y="2728800"/>
            <a:ext cx="7156200" cy="7806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如果不解决这个问题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rgbClr val="D9D9D9"/>
                </a:solidFill>
              </a:rPr>
              <a:t>AI CR </a:t>
            </a:r>
            <a:r>
              <a:rPr lang="zh-CN" sz="1000">
                <a:solidFill>
                  <a:srgbClr val="D9D9D9"/>
                </a:solidFill>
              </a:rPr>
              <a:t>只是“可用工具”，并非研发流程中的“必经流程”</a:t>
            </a:r>
            <a:endParaRPr sz="10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2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流程卡点设计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666666"/>
                </a:solidFill>
              </a:rPr>
              <a:t>让 AI CR 从“可用”到“必经流程”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563" name="Google Shape;563;p42"/>
          <p:cNvPicPr preferRelativeResize="0"/>
          <p:nvPr/>
        </p:nvPicPr>
        <p:blipFill rotWithShape="1">
          <a:blip r:embed="rId3">
            <a:alphaModFix/>
          </a:blip>
          <a:srcRect b="0" l="0" r="0" t="19575"/>
          <a:stretch/>
        </p:blipFill>
        <p:spPr>
          <a:xfrm>
            <a:off x="167025" y="1400725"/>
            <a:ext cx="4459924" cy="1408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2"/>
          <p:cNvSpPr txBox="1"/>
          <p:nvPr/>
        </p:nvSpPr>
        <p:spPr>
          <a:xfrm>
            <a:off x="167023" y="1000525"/>
            <a:ext cx="37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本地卡点：提交代码前，触发 pre-push 钩子</a:t>
            </a:r>
            <a:endParaRPr b="1">
              <a:solidFill>
                <a:srgbClr val="113366"/>
              </a:solidFill>
            </a:endParaRPr>
          </a:p>
        </p:txBody>
      </p:sp>
      <p:pic>
        <p:nvPicPr>
          <p:cNvPr id="565" name="Google Shape;565;p42"/>
          <p:cNvPicPr preferRelativeResize="0"/>
          <p:nvPr/>
        </p:nvPicPr>
        <p:blipFill rotWithShape="1">
          <a:blip r:embed="rId4">
            <a:alphaModFix/>
          </a:blip>
          <a:srcRect b="0" l="0" r="0" t="10466"/>
          <a:stretch/>
        </p:blipFill>
        <p:spPr>
          <a:xfrm>
            <a:off x="167025" y="3421700"/>
            <a:ext cx="5456648" cy="15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2"/>
          <p:cNvSpPr txBox="1"/>
          <p:nvPr/>
        </p:nvSpPr>
        <p:spPr>
          <a:xfrm>
            <a:off x="167025" y="3021500"/>
            <a:ext cx="3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远端</a:t>
            </a:r>
            <a:r>
              <a:rPr b="1" lang="zh-CN">
                <a:solidFill>
                  <a:srgbClr val="113366"/>
                </a:solidFill>
              </a:rPr>
              <a:t>卡点：</a:t>
            </a:r>
            <a:r>
              <a:rPr b="1" lang="zh-CN">
                <a:solidFill>
                  <a:srgbClr val="113366"/>
                </a:solidFill>
              </a:rPr>
              <a:t>创建 MR 时，提供 AI CR 覆盖情况</a:t>
            </a:r>
            <a:endParaRPr b="1">
              <a:solidFill>
                <a:srgbClr val="113366"/>
              </a:solidFill>
            </a:endParaRPr>
          </a:p>
        </p:txBody>
      </p:sp>
      <p:pic>
        <p:nvPicPr>
          <p:cNvPr id="567" name="Google Shape;56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3674" y="2808800"/>
            <a:ext cx="3333547" cy="211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8" name="Google Shape;568;p42"/>
          <p:cNvCxnSpPr>
            <a:stCxn id="566" idx="3"/>
          </p:cNvCxnSpPr>
          <p:nvPr/>
        </p:nvCxnSpPr>
        <p:spPr>
          <a:xfrm flipH="1" rot="10800000">
            <a:off x="4034625" y="3202700"/>
            <a:ext cx="16122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id="569" name="Google Shape;569;p42"/>
          <p:cNvPicPr preferRelativeResize="0"/>
          <p:nvPr/>
        </p:nvPicPr>
        <p:blipFill rotWithShape="1">
          <a:blip r:embed="rId6">
            <a:alphaModFix/>
          </a:blip>
          <a:srcRect b="77163" l="0" r="0" t="0"/>
          <a:stretch/>
        </p:blipFill>
        <p:spPr>
          <a:xfrm>
            <a:off x="5311425" y="1051600"/>
            <a:ext cx="3649551" cy="1174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" name="Google Shape;570;p42"/>
          <p:cNvCxnSpPr>
            <a:stCxn id="564" idx="3"/>
          </p:cNvCxnSpPr>
          <p:nvPr/>
        </p:nvCxnSpPr>
        <p:spPr>
          <a:xfrm>
            <a:off x="3878923" y="1200625"/>
            <a:ext cx="1432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3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管理平台设计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576" name="Google Shape;576;p43"/>
          <p:cNvGrpSpPr/>
          <p:nvPr/>
        </p:nvGrpSpPr>
        <p:grpSpPr>
          <a:xfrm>
            <a:off x="406150" y="1425471"/>
            <a:ext cx="4957200" cy="777019"/>
            <a:chOff x="3711100" y="949925"/>
            <a:chExt cx="4957200" cy="680700"/>
          </a:xfrm>
        </p:grpSpPr>
        <p:sp>
          <p:nvSpPr>
            <p:cNvPr id="577" name="Google Shape;577;p43"/>
            <p:cNvSpPr/>
            <p:nvPr/>
          </p:nvSpPr>
          <p:spPr>
            <a:xfrm>
              <a:off x="3711100" y="949925"/>
              <a:ext cx="4957200" cy="680700"/>
            </a:xfrm>
            <a:prstGeom prst="roundRect">
              <a:avLst>
                <a:gd fmla="val 555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数据大盘</a:t>
              </a:r>
              <a:endParaRPr b="1" sz="122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概览指标：会话数、问题数、采纳率、召回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问题分布：六大类占比 + 严重程度分布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团队统计：Role/Team/Group 多维分析</a:t>
              </a:r>
              <a:endParaRPr b="1" sz="800">
                <a:solidFill>
                  <a:srgbClr val="D9D9D9"/>
                </a:solidFill>
              </a:endParaRPr>
            </a:p>
          </p:txBody>
        </p:sp>
        <p:sp>
          <p:nvSpPr>
            <p:cNvPr id="578" name="Google Shape;578;p43"/>
            <p:cNvSpPr/>
            <p:nvPr/>
          </p:nvSpPr>
          <p:spPr>
            <a:xfrm>
              <a:off x="3858725" y="1045463"/>
              <a:ext cx="378000" cy="3312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1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579" name="Google Shape;579;p43"/>
          <p:cNvGrpSpPr/>
          <p:nvPr/>
        </p:nvGrpSpPr>
        <p:grpSpPr>
          <a:xfrm>
            <a:off x="406150" y="2307377"/>
            <a:ext cx="4956300" cy="777019"/>
            <a:chOff x="3711100" y="949936"/>
            <a:chExt cx="4956300" cy="680700"/>
          </a:xfrm>
        </p:grpSpPr>
        <p:sp>
          <p:nvSpPr>
            <p:cNvPr id="580" name="Google Shape;580;p43"/>
            <p:cNvSpPr/>
            <p:nvPr/>
          </p:nvSpPr>
          <p:spPr>
            <a:xfrm>
              <a:off x="3711100" y="949936"/>
              <a:ext cx="4956300" cy="680700"/>
            </a:xfrm>
            <a:prstGeom prst="roundRect">
              <a:avLst>
                <a:gd fmla="val 555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团队管理</a:t>
              </a:r>
              <a:endParaRPr b="1" sz="8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会话列表：多条件筛选 + 分页查询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活跃用户：研发使用情况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筛选维度：Role/Team/Group/Jira/Email</a:t>
              </a:r>
              <a:endParaRPr b="1" sz="800">
                <a:solidFill>
                  <a:srgbClr val="D9D9D9"/>
                </a:solidFill>
              </a:endParaRPr>
            </a:p>
          </p:txBody>
        </p:sp>
        <p:sp>
          <p:nvSpPr>
            <p:cNvPr id="581" name="Google Shape;581;p43"/>
            <p:cNvSpPr/>
            <p:nvPr/>
          </p:nvSpPr>
          <p:spPr>
            <a:xfrm>
              <a:off x="3858725" y="1045463"/>
              <a:ext cx="378000" cy="3312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2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582" name="Google Shape;582;p43"/>
          <p:cNvGrpSpPr/>
          <p:nvPr/>
        </p:nvGrpSpPr>
        <p:grpSpPr>
          <a:xfrm>
            <a:off x="406150" y="3189075"/>
            <a:ext cx="4957200" cy="776542"/>
            <a:chOff x="3711100" y="949925"/>
            <a:chExt cx="4957200" cy="759900"/>
          </a:xfrm>
        </p:grpSpPr>
        <p:sp>
          <p:nvSpPr>
            <p:cNvPr id="583" name="Google Shape;583;p43"/>
            <p:cNvSpPr/>
            <p:nvPr/>
          </p:nvSpPr>
          <p:spPr>
            <a:xfrm>
              <a:off x="3711100" y="949925"/>
              <a:ext cx="4957200" cy="759900"/>
            </a:xfrm>
            <a:prstGeom prst="roundRect">
              <a:avLst>
                <a:gd fmla="val 555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会话详情</a:t>
              </a:r>
              <a:endParaRPr b="1" sz="122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问题列表：按分数/分类/文件筛选		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代码对比：Git Diff + 修复建议 Dif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批次进度：执行时间 + 验证状态 </a:t>
              </a:r>
              <a:endParaRPr b="1" sz="800">
                <a:solidFill>
                  <a:srgbClr val="D9D9D9"/>
                </a:solidFill>
              </a:endParaRPr>
            </a:p>
          </p:txBody>
        </p:sp>
        <p:sp>
          <p:nvSpPr>
            <p:cNvPr id="584" name="Google Shape;584;p43"/>
            <p:cNvSpPr/>
            <p:nvPr/>
          </p:nvSpPr>
          <p:spPr>
            <a:xfrm>
              <a:off x="3858725" y="1045463"/>
              <a:ext cx="378000" cy="3699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3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85" name="Google Shape;585;p43"/>
          <p:cNvSpPr txBox="1"/>
          <p:nvPr/>
        </p:nvSpPr>
        <p:spPr>
          <a:xfrm>
            <a:off x="406138" y="1000513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核心功能</a:t>
            </a:r>
            <a:endParaRPr b="1">
              <a:solidFill>
                <a:srgbClr val="113366"/>
              </a:solidFill>
            </a:endParaRPr>
          </a:p>
        </p:txBody>
      </p:sp>
      <p:grpSp>
        <p:nvGrpSpPr>
          <p:cNvPr id="586" name="Google Shape;586;p43"/>
          <p:cNvGrpSpPr/>
          <p:nvPr/>
        </p:nvGrpSpPr>
        <p:grpSpPr>
          <a:xfrm>
            <a:off x="405700" y="4137387"/>
            <a:ext cx="4957200" cy="776542"/>
            <a:chOff x="3711100" y="949925"/>
            <a:chExt cx="4957200" cy="759900"/>
          </a:xfrm>
        </p:grpSpPr>
        <p:sp>
          <p:nvSpPr>
            <p:cNvPr id="587" name="Google Shape;587;p43"/>
            <p:cNvSpPr/>
            <p:nvPr/>
          </p:nvSpPr>
          <p:spPr>
            <a:xfrm>
              <a:off x="3711100" y="949925"/>
              <a:ext cx="4957200" cy="759900"/>
            </a:xfrm>
            <a:prstGeom prst="roundRect">
              <a:avLst>
                <a:gd fmla="val 555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配置管理</a:t>
              </a:r>
              <a:endParaRPr b="1" sz="122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审查规则配置：FE/BE 规则 + 示例在线编辑	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文件过滤配置：包含扩展名 + 排除模式		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邮件配置</a:t>
              </a:r>
              <a:r>
                <a:rPr b="1" lang="zh-CN" sz="800">
                  <a:solidFill>
                    <a:srgbClr val="D9D9D9"/>
                  </a:solidFill>
                </a:rPr>
                <a:t>	</a:t>
              </a:r>
              <a:endParaRPr b="1" sz="800">
                <a:solidFill>
                  <a:srgbClr val="D9D9D9"/>
                </a:solidFill>
              </a:endParaRPr>
            </a:p>
          </p:txBody>
        </p:sp>
        <p:sp>
          <p:nvSpPr>
            <p:cNvPr id="588" name="Google Shape;588;p43"/>
            <p:cNvSpPr/>
            <p:nvPr/>
          </p:nvSpPr>
          <p:spPr>
            <a:xfrm>
              <a:off x="3858725" y="1045463"/>
              <a:ext cx="378000" cy="3699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3</a:t>
              </a:r>
              <a:endParaRPr>
                <a:solidFill>
                  <a:schemeClr val="lt1"/>
                </a:solidFill>
              </a:endParaRPr>
            </a:p>
          </p:txBody>
        </p:sp>
      </p:grpSp>
      <p:pic>
        <p:nvPicPr>
          <p:cNvPr id="589" name="Google Shape;589;p43"/>
          <p:cNvPicPr preferRelativeResize="0"/>
          <p:nvPr/>
        </p:nvPicPr>
        <p:blipFill rotWithShape="1">
          <a:blip r:embed="rId3">
            <a:alphaModFix/>
          </a:blip>
          <a:srcRect b="3837" l="2747" r="4772" t="5246"/>
          <a:stretch/>
        </p:blipFill>
        <p:spPr>
          <a:xfrm>
            <a:off x="5530200" y="1400725"/>
            <a:ext cx="3484948" cy="307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周报邮件设计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595" name="Google Shape;595;p44"/>
          <p:cNvGrpSpPr/>
          <p:nvPr/>
        </p:nvGrpSpPr>
        <p:grpSpPr>
          <a:xfrm>
            <a:off x="406150" y="1425471"/>
            <a:ext cx="4957200" cy="777019"/>
            <a:chOff x="3711100" y="949925"/>
            <a:chExt cx="4957200" cy="680700"/>
          </a:xfrm>
        </p:grpSpPr>
        <p:sp>
          <p:nvSpPr>
            <p:cNvPr id="596" name="Google Shape;596;p44"/>
            <p:cNvSpPr/>
            <p:nvPr/>
          </p:nvSpPr>
          <p:spPr>
            <a:xfrm>
              <a:off x="3711100" y="949925"/>
              <a:ext cx="4957200" cy="680700"/>
            </a:xfrm>
            <a:prstGeom prst="roundRect">
              <a:avLst>
                <a:gd fmla="val 555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按 TL 层级聚合</a:t>
              </a:r>
              <a:endParaRPr b="1" sz="122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一级 TL：汇总所有二级团队数据 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二级 TL：展示本团队详细数据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全局数据：可配置邮箱发送所有数据</a:t>
              </a:r>
              <a:endParaRPr b="1" sz="800">
                <a:solidFill>
                  <a:srgbClr val="D9D9D9"/>
                </a:solidFill>
              </a:endParaRPr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3858725" y="1045463"/>
              <a:ext cx="378000" cy="3312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1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598" name="Google Shape;598;p44"/>
          <p:cNvGrpSpPr/>
          <p:nvPr/>
        </p:nvGrpSpPr>
        <p:grpSpPr>
          <a:xfrm>
            <a:off x="406150" y="2307377"/>
            <a:ext cx="4956300" cy="777019"/>
            <a:chOff x="3711100" y="949936"/>
            <a:chExt cx="4956300" cy="680700"/>
          </a:xfrm>
        </p:grpSpPr>
        <p:sp>
          <p:nvSpPr>
            <p:cNvPr id="599" name="Google Shape;599;p44"/>
            <p:cNvSpPr/>
            <p:nvPr/>
          </p:nvSpPr>
          <p:spPr>
            <a:xfrm>
              <a:off x="3711100" y="949936"/>
              <a:ext cx="4956300" cy="680700"/>
            </a:xfrm>
            <a:prstGeom prst="roundRect">
              <a:avLst>
                <a:gd fmla="val 555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需求维度展示</a:t>
              </a:r>
              <a:endParaRPr b="1" sz="8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Jira 需求 → 关联 MR 列表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每个 MR 的 AI CR 覆盖率</a:t>
              </a:r>
              <a:endParaRPr b="1" sz="800">
                <a:solidFill>
                  <a:srgbClr val="D9D9D9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</a:t>
              </a:r>
              <a:r>
                <a:rPr b="1" lang="zh-CN" sz="800">
                  <a:solidFill>
                    <a:srgbClr val="D9D9D9"/>
                  </a:solidFill>
                </a:rPr>
                <a:t>关联开发需求的研发</a:t>
              </a:r>
              <a:endParaRPr b="1" sz="800">
                <a:solidFill>
                  <a:srgbClr val="D9D9D9"/>
                </a:solidFill>
              </a:endParaRPr>
            </a:p>
          </p:txBody>
        </p:sp>
        <p:sp>
          <p:nvSpPr>
            <p:cNvPr id="600" name="Google Shape;600;p44"/>
            <p:cNvSpPr/>
            <p:nvPr/>
          </p:nvSpPr>
          <p:spPr>
            <a:xfrm>
              <a:off x="3858725" y="1045463"/>
              <a:ext cx="378000" cy="3312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2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601" name="Google Shape;601;p44"/>
          <p:cNvSpPr txBox="1"/>
          <p:nvPr/>
        </p:nvSpPr>
        <p:spPr>
          <a:xfrm>
            <a:off x="406138" y="1000513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核心功能</a:t>
            </a:r>
            <a:endParaRPr b="1">
              <a:solidFill>
                <a:srgbClr val="113366"/>
              </a:solidFill>
            </a:endParaRPr>
          </a:p>
        </p:txBody>
      </p:sp>
      <p:pic>
        <p:nvPicPr>
          <p:cNvPr id="602" name="Google Shape;602;p44"/>
          <p:cNvPicPr preferRelativeResize="0"/>
          <p:nvPr/>
        </p:nvPicPr>
        <p:blipFill rotWithShape="1">
          <a:blip r:embed="rId3">
            <a:alphaModFix/>
          </a:blip>
          <a:srcRect b="42463" l="0" r="0" t="0"/>
          <a:stretch/>
        </p:blipFill>
        <p:spPr>
          <a:xfrm>
            <a:off x="5501175" y="1425475"/>
            <a:ext cx="3283875" cy="315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3" name="Google Shape;603;p44"/>
          <p:cNvGrpSpPr/>
          <p:nvPr/>
        </p:nvGrpSpPr>
        <p:grpSpPr>
          <a:xfrm>
            <a:off x="406150" y="3189075"/>
            <a:ext cx="4957200" cy="776542"/>
            <a:chOff x="3711100" y="949925"/>
            <a:chExt cx="4957200" cy="759900"/>
          </a:xfrm>
        </p:grpSpPr>
        <p:sp>
          <p:nvSpPr>
            <p:cNvPr id="604" name="Google Shape;604;p44"/>
            <p:cNvSpPr/>
            <p:nvPr/>
          </p:nvSpPr>
          <p:spPr>
            <a:xfrm>
              <a:off x="3711100" y="949925"/>
              <a:ext cx="4957200" cy="759900"/>
            </a:xfrm>
            <a:prstGeom prst="roundRect">
              <a:avLst>
                <a:gd fmla="val 555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7200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核心指标展示</a:t>
              </a:r>
              <a:endParaRPr b="1" sz="122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采纳率：采纳数 / 反馈总数 → </a:t>
              </a:r>
              <a:r>
                <a:rPr b="1" lang="zh-CN" sz="800">
                  <a:solidFill>
                    <a:srgbClr val="B7B7B7"/>
                  </a:solidFill>
                </a:rPr>
                <a:t>目前依赖人工反馈，未来支持自动收集</a:t>
              </a:r>
              <a:endParaRPr b="1" sz="800">
                <a:solidFill>
                  <a:srgbClr val="B7B7B7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D9D9D9"/>
                  </a:solidFill>
                </a:rPr>
                <a:t>• 召回率：AI 采纳 / (AI + 人工) → </a:t>
              </a:r>
              <a:r>
                <a:rPr b="1" lang="zh-CN" sz="800">
                  <a:solidFill>
                    <a:srgbClr val="B7B7B7"/>
                  </a:solidFill>
                </a:rPr>
                <a:t>目前依赖人工反馈，未来支持自动收集</a:t>
              </a:r>
              <a:r>
                <a:rPr b="1" lang="zh-CN" sz="800">
                  <a:solidFill>
                    <a:srgbClr val="D9D9D9"/>
                  </a:solidFill>
                </a:rPr>
                <a:t> </a:t>
              </a:r>
              <a:endParaRPr b="1" sz="800">
                <a:solidFill>
                  <a:srgbClr val="D9D9D9"/>
                </a:solidFill>
              </a:endParaRPr>
            </a:p>
          </p:txBody>
        </p:sp>
        <p:sp>
          <p:nvSpPr>
            <p:cNvPr id="605" name="Google Shape;605;p44"/>
            <p:cNvSpPr/>
            <p:nvPr/>
          </p:nvSpPr>
          <p:spPr>
            <a:xfrm>
              <a:off x="3858725" y="1045463"/>
              <a:ext cx="378000" cy="369900"/>
            </a:xfrm>
            <a:prstGeom prst="ellipse">
              <a:avLst/>
            </a:prstGeom>
            <a:solidFill>
              <a:srgbClr val="EE4D2D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>
                  <a:solidFill>
                    <a:schemeClr val="lt1"/>
                  </a:solidFill>
                </a:rPr>
                <a:t>3</a:t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5"/>
          <p:cNvSpPr/>
          <p:nvPr/>
        </p:nvSpPr>
        <p:spPr>
          <a:xfrm>
            <a:off x="2102400" y="3795936"/>
            <a:ext cx="4939200" cy="619800"/>
          </a:xfrm>
          <a:prstGeom prst="rect">
            <a:avLst/>
          </a:prstGeom>
          <a:solidFill>
            <a:srgbClr val="113366"/>
          </a:solidFill>
          <a:ln cap="flat" cmpd="sng" w="9525">
            <a:solidFill>
              <a:srgbClr val="11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5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目录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612" name="Google Shape;612;p45"/>
          <p:cNvSpPr txBox="1"/>
          <p:nvPr/>
        </p:nvSpPr>
        <p:spPr>
          <a:xfrm>
            <a:off x="6298700" y="1185638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01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613" name="Google Shape;613;p45"/>
          <p:cNvSpPr txBox="1"/>
          <p:nvPr/>
        </p:nvSpPr>
        <p:spPr>
          <a:xfrm>
            <a:off x="2490075" y="1185638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为什么需要 AI CR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614" name="Google Shape;614;p45"/>
          <p:cNvSpPr txBox="1"/>
          <p:nvPr/>
        </p:nvSpPr>
        <p:spPr>
          <a:xfrm>
            <a:off x="2490075" y="1851447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IBS AI CR 是什么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615" name="Google Shape;615;p45"/>
          <p:cNvSpPr txBox="1"/>
          <p:nvPr/>
        </p:nvSpPr>
        <p:spPr>
          <a:xfrm>
            <a:off x="6298700" y="1851447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02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616" name="Google Shape;616;p45"/>
          <p:cNvSpPr txBox="1"/>
          <p:nvPr/>
        </p:nvSpPr>
        <p:spPr>
          <a:xfrm>
            <a:off x="2490075" y="251725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核心技术实现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617" name="Google Shape;617;p45"/>
          <p:cNvSpPr txBox="1"/>
          <p:nvPr/>
        </p:nvSpPr>
        <p:spPr>
          <a:xfrm>
            <a:off x="6298700" y="251725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03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618" name="Google Shape;618;p45"/>
          <p:cNvSpPr txBox="1"/>
          <p:nvPr/>
        </p:nvSpPr>
        <p:spPr>
          <a:xfrm>
            <a:off x="2490075" y="3183066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推广</a:t>
            </a:r>
            <a:r>
              <a:rPr b="1" lang="zh-CN" sz="2000">
                <a:solidFill>
                  <a:srgbClr val="113366"/>
                </a:solidFill>
              </a:rPr>
              <a:t>运营</a:t>
            </a:r>
            <a:endParaRPr b="1" sz="1000">
              <a:solidFill>
                <a:srgbClr val="113366"/>
              </a:solidFill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6298700" y="3183066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13366"/>
                </a:solidFill>
              </a:rPr>
              <a:t>04</a:t>
            </a:r>
            <a:endParaRPr b="1" sz="2000">
              <a:solidFill>
                <a:srgbClr val="113366"/>
              </a:solidFill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2490075" y="3848875"/>
            <a:ext cx="2988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未来规划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D9D9"/>
                </a:solidFill>
              </a:rPr>
              <a:t>精细化运营、数据驱动自动化</a:t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621" name="Google Shape;621;p45"/>
          <p:cNvSpPr txBox="1"/>
          <p:nvPr/>
        </p:nvSpPr>
        <p:spPr>
          <a:xfrm>
            <a:off x="6298700" y="3848875"/>
            <a:ext cx="7092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chemeClr val="lt1"/>
                </a:solidFill>
              </a:rPr>
              <a:t>05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6"/>
          <p:cNvSpPr txBox="1"/>
          <p:nvPr/>
        </p:nvSpPr>
        <p:spPr>
          <a:xfrm>
            <a:off x="0" y="1386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管理平台/数据精细化运营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627" name="Google Shape;627;p46"/>
          <p:cNvSpPr/>
          <p:nvPr/>
        </p:nvSpPr>
        <p:spPr>
          <a:xfrm>
            <a:off x="411850" y="1007825"/>
            <a:ext cx="3310500" cy="1005900"/>
          </a:xfrm>
          <a:prstGeom prst="roundRect">
            <a:avLst>
              <a:gd fmla="val 1793" name="adj"/>
            </a:avLst>
          </a:prstGeom>
          <a:solidFill>
            <a:srgbClr val="EEEEEE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当前</a:t>
            </a:r>
            <a:endParaRPr b="1" sz="1600">
              <a:solidFill>
                <a:srgbClr val="113366"/>
              </a:solidFill>
            </a:endParaRPr>
          </a:p>
        </p:txBody>
      </p:sp>
      <p:sp>
        <p:nvSpPr>
          <p:cNvPr id="628" name="Google Shape;628;p46"/>
          <p:cNvSpPr/>
          <p:nvPr/>
        </p:nvSpPr>
        <p:spPr>
          <a:xfrm>
            <a:off x="4373450" y="1007825"/>
            <a:ext cx="4358700" cy="1005900"/>
          </a:xfrm>
          <a:prstGeom prst="roundRect">
            <a:avLst>
              <a:gd fmla="val 1793" name="adj"/>
            </a:avLst>
          </a:prstGeom>
          <a:solidFill>
            <a:srgbClr val="1E3663"/>
          </a:solidFill>
          <a:ln cap="flat" cmpd="sng" w="9075">
            <a:solidFill>
              <a:srgbClr val="1E36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未来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</p:txBody>
      </p:sp>
      <p:cxnSp>
        <p:nvCxnSpPr>
          <p:cNvPr id="629" name="Google Shape;629;p46"/>
          <p:cNvCxnSpPr/>
          <p:nvPr/>
        </p:nvCxnSpPr>
        <p:spPr>
          <a:xfrm>
            <a:off x="3803550" y="1617575"/>
            <a:ext cx="4887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46"/>
          <p:cNvSpPr/>
          <p:nvPr/>
        </p:nvSpPr>
        <p:spPr>
          <a:xfrm>
            <a:off x="5730825" y="1409075"/>
            <a:ext cx="554400" cy="4341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Jira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631" name="Google Shape;631;p46"/>
          <p:cNvSpPr/>
          <p:nvPr/>
        </p:nvSpPr>
        <p:spPr>
          <a:xfrm>
            <a:off x="4560700" y="1409075"/>
            <a:ext cx="801900" cy="4341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团队入口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group/team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632" name="Google Shape;632;p46"/>
          <p:cNvSpPr/>
          <p:nvPr/>
        </p:nvSpPr>
        <p:spPr>
          <a:xfrm>
            <a:off x="6653653" y="1409075"/>
            <a:ext cx="761400" cy="4341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MR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633" name="Google Shape;633;p46"/>
          <p:cNvSpPr/>
          <p:nvPr/>
        </p:nvSpPr>
        <p:spPr>
          <a:xfrm>
            <a:off x="5442007" y="1559825"/>
            <a:ext cx="2094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6"/>
          <p:cNvSpPr/>
          <p:nvPr/>
        </p:nvSpPr>
        <p:spPr>
          <a:xfrm>
            <a:off x="6364846" y="1559825"/>
            <a:ext cx="2094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6"/>
          <p:cNvSpPr/>
          <p:nvPr/>
        </p:nvSpPr>
        <p:spPr>
          <a:xfrm>
            <a:off x="7783478" y="1409075"/>
            <a:ext cx="761400" cy="434100"/>
          </a:xfrm>
          <a:prstGeom prst="roundRect">
            <a:avLst>
              <a:gd fmla="val 1793" name="adj"/>
            </a:avLst>
          </a:prstGeom>
          <a:solidFill>
            <a:srgbClr val="FBFBFB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CR 问题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636" name="Google Shape;636;p46"/>
          <p:cNvSpPr/>
          <p:nvPr/>
        </p:nvSpPr>
        <p:spPr>
          <a:xfrm>
            <a:off x="7494557" y="1559825"/>
            <a:ext cx="2094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C23A"/>
          </a:solidFill>
          <a:ln cap="flat" cmpd="sng" w="952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/>
          <p:nvPr/>
        </p:nvSpPr>
        <p:spPr>
          <a:xfrm>
            <a:off x="1666725" y="1450062"/>
            <a:ext cx="836400" cy="434100"/>
          </a:xfrm>
          <a:prstGeom prst="roundRect">
            <a:avLst>
              <a:gd fmla="val 1793" name="adj"/>
            </a:avLst>
          </a:prstGeom>
          <a:solidFill>
            <a:schemeClr val="lt1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指标统计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采纳率/召回率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638" name="Google Shape;638;p46"/>
          <p:cNvSpPr/>
          <p:nvPr/>
        </p:nvSpPr>
        <p:spPr>
          <a:xfrm>
            <a:off x="639925" y="1450062"/>
            <a:ext cx="801900" cy="434100"/>
          </a:xfrm>
          <a:prstGeom prst="roundRect">
            <a:avLst>
              <a:gd fmla="val 1793" name="adj"/>
            </a:avLst>
          </a:prstGeom>
          <a:solidFill>
            <a:schemeClr val="lt1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整体统计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会话/问题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639" name="Google Shape;639;p46"/>
          <p:cNvSpPr/>
          <p:nvPr/>
        </p:nvSpPr>
        <p:spPr>
          <a:xfrm>
            <a:off x="2657875" y="1450062"/>
            <a:ext cx="836400" cy="434100"/>
          </a:xfrm>
          <a:prstGeom prst="roundRect">
            <a:avLst>
              <a:gd fmla="val 1793" name="adj"/>
            </a:avLst>
          </a:prstGeom>
          <a:solidFill>
            <a:schemeClr val="lt1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问题统计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分类评分分布</a:t>
            </a:r>
            <a:endParaRPr b="1" sz="800">
              <a:solidFill>
                <a:srgbClr val="113366"/>
              </a:solidFill>
            </a:endParaRPr>
          </a:p>
        </p:txBody>
      </p:sp>
      <p:sp>
        <p:nvSpPr>
          <p:cNvPr id="640" name="Google Shape;640;p46"/>
          <p:cNvSpPr/>
          <p:nvPr/>
        </p:nvSpPr>
        <p:spPr>
          <a:xfrm>
            <a:off x="411850" y="2236425"/>
            <a:ext cx="8320200" cy="2754000"/>
          </a:xfrm>
          <a:prstGeom prst="roundRect">
            <a:avLst>
              <a:gd fmla="val 1793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EE4D2D"/>
                </a:solidFill>
              </a:rPr>
              <a:t>CR 链路回溯：团队 → 需求 → MR → CR 问题</a:t>
            </a:r>
            <a:endParaRPr b="1" sz="1000">
              <a:solidFill>
                <a:srgbClr val="EE4D2D"/>
              </a:solidFill>
            </a:endParaRPr>
          </a:p>
        </p:txBody>
      </p:sp>
      <p:sp>
        <p:nvSpPr>
          <p:cNvPr id="641" name="Google Shape;641;p46"/>
          <p:cNvSpPr/>
          <p:nvPr/>
        </p:nvSpPr>
        <p:spPr>
          <a:xfrm>
            <a:off x="708150" y="2746450"/>
            <a:ext cx="1488900" cy="5949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SBS FE Team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指标情况 - 采纳率/召回率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使用情况 - 需求列表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2657875" y="2746450"/>
            <a:ext cx="1982100" cy="5949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SPPMS-12345 库存优化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MR 情况：3 个 MR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CR 情况：15 个 CR 问题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3" name="Google Shape;643;p46"/>
          <p:cNvSpPr/>
          <p:nvPr/>
        </p:nvSpPr>
        <p:spPr>
          <a:xfrm>
            <a:off x="2657875" y="3570050"/>
            <a:ext cx="989100" cy="4644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MR !9527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feat: 库存计算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644" name="Google Shape;644;p46"/>
          <p:cNvSpPr/>
          <p:nvPr/>
        </p:nvSpPr>
        <p:spPr>
          <a:xfrm>
            <a:off x="4373450" y="3570050"/>
            <a:ext cx="989100" cy="4644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MR !9528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feat: </a:t>
            </a:r>
            <a:r>
              <a:rPr b="1" lang="zh-CN" sz="800">
                <a:solidFill>
                  <a:schemeClr val="lt1"/>
                </a:solidFill>
              </a:rPr>
              <a:t>发起订单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645" name="Google Shape;645;p46"/>
          <p:cNvSpPr/>
          <p:nvPr/>
        </p:nvSpPr>
        <p:spPr>
          <a:xfrm>
            <a:off x="6089025" y="3570050"/>
            <a:ext cx="989100" cy="4644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MR !9529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feat: </a:t>
            </a:r>
            <a:r>
              <a:rPr b="1" lang="zh-CN" sz="800">
                <a:solidFill>
                  <a:schemeClr val="lt1"/>
                </a:solidFill>
              </a:rPr>
              <a:t>供应商入驻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646" name="Google Shape;646;p46"/>
          <p:cNvSpPr/>
          <p:nvPr/>
        </p:nvSpPr>
        <p:spPr>
          <a:xfrm>
            <a:off x="2197050" y="4263150"/>
            <a:ext cx="989100" cy="4644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安全问题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硬编码 Token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647" name="Google Shape;647;p46"/>
          <p:cNvSpPr/>
          <p:nvPr/>
        </p:nvSpPr>
        <p:spPr>
          <a:xfrm>
            <a:off x="3763650" y="4263150"/>
            <a:ext cx="989100" cy="4644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健壮性问题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空值未处理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648" name="Google Shape;648;p46"/>
          <p:cNvSpPr/>
          <p:nvPr/>
        </p:nvSpPr>
        <p:spPr>
          <a:xfrm>
            <a:off x="5330250" y="4263150"/>
            <a:ext cx="989100" cy="4644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规范问题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滥用魔法数字</a:t>
            </a:r>
            <a:endParaRPr b="1" sz="800">
              <a:solidFill>
                <a:schemeClr val="lt1"/>
              </a:solidFill>
            </a:endParaRPr>
          </a:p>
        </p:txBody>
      </p:sp>
      <p:cxnSp>
        <p:nvCxnSpPr>
          <p:cNvPr id="649" name="Google Shape;649;p46"/>
          <p:cNvCxnSpPr>
            <a:endCxn id="642" idx="1"/>
          </p:cNvCxnSpPr>
          <p:nvPr/>
        </p:nvCxnSpPr>
        <p:spPr>
          <a:xfrm>
            <a:off x="2197075" y="3043300"/>
            <a:ext cx="4608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50" name="Google Shape;650;p46"/>
          <p:cNvCxnSpPr>
            <a:stCxn id="642" idx="2"/>
            <a:endCxn id="643" idx="0"/>
          </p:cNvCxnSpPr>
          <p:nvPr/>
        </p:nvCxnSpPr>
        <p:spPr>
          <a:xfrm rot="5400000">
            <a:off x="3286375" y="3207400"/>
            <a:ext cx="228600" cy="4965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51" name="Google Shape;651;p46"/>
          <p:cNvCxnSpPr>
            <a:stCxn id="642" idx="2"/>
            <a:endCxn id="644" idx="0"/>
          </p:cNvCxnSpPr>
          <p:nvPr/>
        </p:nvCxnSpPr>
        <p:spPr>
          <a:xfrm flipH="1" rot="-5400000">
            <a:off x="4144225" y="2846050"/>
            <a:ext cx="228600" cy="12192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52" name="Google Shape;652;p46"/>
          <p:cNvCxnSpPr>
            <a:stCxn id="642" idx="2"/>
            <a:endCxn id="645" idx="0"/>
          </p:cNvCxnSpPr>
          <p:nvPr/>
        </p:nvCxnSpPr>
        <p:spPr>
          <a:xfrm flipH="1" rot="-5400000">
            <a:off x="5001925" y="1988350"/>
            <a:ext cx="228600" cy="29346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53" name="Google Shape;653;p46"/>
          <p:cNvCxnSpPr>
            <a:stCxn id="643" idx="2"/>
            <a:endCxn id="646" idx="0"/>
          </p:cNvCxnSpPr>
          <p:nvPr/>
        </p:nvCxnSpPr>
        <p:spPr>
          <a:xfrm rot="5400000">
            <a:off x="2807725" y="3918350"/>
            <a:ext cx="228600" cy="4608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54" name="Google Shape;654;p46"/>
          <p:cNvCxnSpPr>
            <a:stCxn id="643" idx="2"/>
            <a:endCxn id="647" idx="0"/>
          </p:cNvCxnSpPr>
          <p:nvPr/>
        </p:nvCxnSpPr>
        <p:spPr>
          <a:xfrm flipH="1" rot="-5400000">
            <a:off x="3591025" y="3595850"/>
            <a:ext cx="228600" cy="11058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46"/>
          <p:cNvCxnSpPr>
            <a:stCxn id="643" idx="2"/>
            <a:endCxn id="648" idx="0"/>
          </p:cNvCxnSpPr>
          <p:nvPr/>
        </p:nvCxnSpPr>
        <p:spPr>
          <a:xfrm flipH="1" rot="-5400000">
            <a:off x="4374325" y="2812550"/>
            <a:ext cx="228600" cy="26724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656" name="Google Shape;656;p46"/>
          <p:cNvSpPr/>
          <p:nvPr/>
        </p:nvSpPr>
        <p:spPr>
          <a:xfrm>
            <a:off x="6896850" y="4263150"/>
            <a:ext cx="989100" cy="464400"/>
          </a:xfrm>
          <a:prstGeom prst="roundRect">
            <a:avLst>
              <a:gd fmla="val 1793" name="adj"/>
            </a:avLst>
          </a:prstGeom>
          <a:solidFill>
            <a:srgbClr val="EE4D2D"/>
          </a:solidFill>
          <a:ln>
            <a:noFill/>
          </a:ln>
        </p:spPr>
        <p:txBody>
          <a:bodyPr anchorCtr="0" anchor="t" bIns="86400" lIns="87000" spcFirstLastPara="1" rIns="87000" wrap="square" tIns="8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性能问题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lt1"/>
                </a:solidFill>
              </a:rPr>
              <a:t>重复渲染</a:t>
            </a:r>
            <a:endParaRPr b="1" sz="800">
              <a:solidFill>
                <a:schemeClr val="lt1"/>
              </a:solidFill>
            </a:endParaRPr>
          </a:p>
        </p:txBody>
      </p:sp>
      <p:cxnSp>
        <p:nvCxnSpPr>
          <p:cNvPr id="657" name="Google Shape;657;p46"/>
          <p:cNvCxnSpPr>
            <a:stCxn id="643" idx="2"/>
            <a:endCxn id="656" idx="0"/>
          </p:cNvCxnSpPr>
          <p:nvPr/>
        </p:nvCxnSpPr>
        <p:spPr>
          <a:xfrm flipH="1" rot="-5400000">
            <a:off x="5157625" y="2029250"/>
            <a:ext cx="228600" cy="42390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658" name="Google Shape;658;p46"/>
          <p:cNvSpPr txBox="1"/>
          <p:nvPr/>
        </p:nvSpPr>
        <p:spPr>
          <a:xfrm>
            <a:off x="8105525" y="4264500"/>
            <a:ext cx="58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7"/>
          <p:cNvSpPr txBox="1"/>
          <p:nvPr/>
        </p:nvSpPr>
        <p:spPr>
          <a:xfrm>
            <a:off x="0" y="1386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数据回流/评估与优化工程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dk2"/>
                </a:solidFill>
              </a:rPr>
              <a:t>Phase 1: 构建基准测试集；Phase 2: 沉淀动态测试集；Phase 3: 规则自迭代闭环</a:t>
            </a:r>
            <a:endParaRPr b="1" sz="3000">
              <a:solidFill>
                <a:srgbClr val="113366"/>
              </a:solidFill>
            </a:endParaRPr>
          </a:p>
        </p:txBody>
      </p:sp>
      <p:grpSp>
        <p:nvGrpSpPr>
          <p:cNvPr id="664" name="Google Shape;664;p47"/>
          <p:cNvGrpSpPr/>
          <p:nvPr/>
        </p:nvGrpSpPr>
        <p:grpSpPr>
          <a:xfrm>
            <a:off x="372551" y="1000628"/>
            <a:ext cx="4099430" cy="2386532"/>
            <a:chOff x="880799" y="1857575"/>
            <a:chExt cx="3534601" cy="1958100"/>
          </a:xfrm>
        </p:grpSpPr>
        <p:sp>
          <p:nvSpPr>
            <p:cNvPr id="665" name="Google Shape;665;p47"/>
            <p:cNvSpPr/>
            <p:nvPr/>
          </p:nvSpPr>
          <p:spPr>
            <a:xfrm>
              <a:off x="880800" y="1857575"/>
              <a:ext cx="3534600" cy="1958100"/>
            </a:xfrm>
            <a:prstGeom prst="roundRect">
              <a:avLst>
                <a:gd fmla="val 1793" name="adj"/>
              </a:avLst>
            </a:prstGeom>
            <a:solidFill>
              <a:srgbClr val="113366">
                <a:alpha val="10000"/>
              </a:srgbClr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158400" lIns="158400" spcFirstLastPara="1" rIns="158400" wrap="square" tIns="15840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113366"/>
                </a:solidFill>
              </a:endParaRPr>
            </a:p>
          </p:txBody>
        </p:sp>
        <p:sp>
          <p:nvSpPr>
            <p:cNvPr id="666" name="Google Shape;666;p47"/>
            <p:cNvSpPr/>
            <p:nvPr/>
          </p:nvSpPr>
          <p:spPr>
            <a:xfrm>
              <a:off x="880799" y="1857580"/>
              <a:ext cx="3534600" cy="303600"/>
            </a:xfrm>
            <a:prstGeom prst="roundRect">
              <a:avLst>
                <a:gd fmla="val 696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864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能力建设 - 指标体系</a:t>
              </a:r>
              <a:endParaRPr b="1" sz="1220">
                <a:solidFill>
                  <a:schemeClr val="lt1"/>
                </a:solidFill>
              </a:endParaRPr>
            </a:p>
          </p:txBody>
        </p:sp>
      </p:grpSp>
      <p:grpSp>
        <p:nvGrpSpPr>
          <p:cNvPr id="667" name="Google Shape;667;p47"/>
          <p:cNvGrpSpPr/>
          <p:nvPr/>
        </p:nvGrpSpPr>
        <p:grpSpPr>
          <a:xfrm>
            <a:off x="540100" y="1471525"/>
            <a:ext cx="1449900" cy="803100"/>
            <a:chOff x="586875" y="1468275"/>
            <a:chExt cx="1449900" cy="803100"/>
          </a:xfrm>
        </p:grpSpPr>
        <p:sp>
          <p:nvSpPr>
            <p:cNvPr id="668" name="Google Shape;668;p47"/>
            <p:cNvSpPr/>
            <p:nvPr/>
          </p:nvSpPr>
          <p:spPr>
            <a:xfrm>
              <a:off x="586875" y="1468275"/>
              <a:ext cx="1449900" cy="803100"/>
            </a:xfrm>
            <a:prstGeom prst="roundRect">
              <a:avLst>
                <a:gd fmla="val 1793" name="adj"/>
              </a:avLst>
            </a:prstGeom>
            <a:solidFill>
              <a:srgbClr val="67C23A">
                <a:alpha val="10000"/>
              </a:srgbClr>
            </a:solidFill>
            <a:ln cap="flat" cmpd="sng" w="907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7000" lIns="87000" spcFirstLastPara="1" rIns="87000" wrap="square" tIns="8700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113366"/>
                  </a:solidFill>
                </a:rPr>
                <a:t>采纳率计算公式</a:t>
              </a:r>
              <a:endParaRPr sz="800">
                <a:solidFill>
                  <a:srgbClr val="113366"/>
                </a:solidFill>
              </a:endParaRPr>
            </a:p>
            <a:p>
              <a:pPr indent="0" lvl="0" marL="0" marR="139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ai_cr_appplied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marR="139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───────────────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marR="139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ai_cr_comments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rgbClr val="113366"/>
                </a:solidFill>
              </a:endParaRPr>
            </a:p>
          </p:txBody>
        </p:sp>
        <p:cxnSp>
          <p:nvCxnSpPr>
            <p:cNvPr id="669" name="Google Shape;669;p47"/>
            <p:cNvCxnSpPr/>
            <p:nvPr/>
          </p:nvCxnSpPr>
          <p:spPr>
            <a:xfrm>
              <a:off x="656472" y="1745313"/>
              <a:ext cx="1310700" cy="57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70" name="Google Shape;670;p47"/>
          <p:cNvGrpSpPr/>
          <p:nvPr/>
        </p:nvGrpSpPr>
        <p:grpSpPr>
          <a:xfrm>
            <a:off x="2070700" y="1478575"/>
            <a:ext cx="2271300" cy="803100"/>
            <a:chOff x="2117475" y="1475325"/>
            <a:chExt cx="2271300" cy="803100"/>
          </a:xfrm>
        </p:grpSpPr>
        <p:sp>
          <p:nvSpPr>
            <p:cNvPr id="671" name="Google Shape;671;p47"/>
            <p:cNvSpPr/>
            <p:nvPr/>
          </p:nvSpPr>
          <p:spPr>
            <a:xfrm>
              <a:off x="2117475" y="1475325"/>
              <a:ext cx="2271300" cy="803100"/>
            </a:xfrm>
            <a:prstGeom prst="roundRect">
              <a:avLst>
                <a:gd fmla="val 1793" name="adj"/>
              </a:avLst>
            </a:prstGeom>
            <a:solidFill>
              <a:srgbClr val="67C23A">
                <a:alpha val="10000"/>
              </a:srgbClr>
            </a:solidFill>
            <a:ln cap="flat" cmpd="sng" w="907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7000" lIns="87000" spcFirstLastPara="1" rIns="87000" wrap="square" tIns="8700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113366"/>
                  </a:solidFill>
                </a:rPr>
                <a:t>召回率</a:t>
              </a:r>
              <a:r>
                <a:rPr b="1" lang="zh-CN" sz="1000">
                  <a:solidFill>
                    <a:srgbClr val="113366"/>
                  </a:solidFill>
                </a:rPr>
                <a:t>计算公式</a:t>
              </a:r>
              <a:endParaRPr sz="800">
                <a:solidFill>
                  <a:srgbClr val="113366"/>
                </a:solidFill>
              </a:endParaRPr>
            </a:p>
            <a:p>
              <a:pPr indent="0" lvl="0" marL="0" marR="13970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ai_cr_appplied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marR="139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───────────────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marR="13970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zh-CN" sz="800">
                  <a:solidFill>
                    <a:srgbClr val="113366"/>
                  </a:solidFill>
                </a:rPr>
                <a:t>(</a:t>
              </a:r>
              <a:r>
                <a:rPr b="1" lang="zh-CN" sz="800">
                  <a:solidFill>
                    <a:srgbClr val="113366"/>
                  </a:solidFill>
                </a:rPr>
                <a:t>ai_cr + human_cr)_applied + test_bugs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113366"/>
                </a:solidFill>
              </a:endParaRPr>
            </a:p>
          </p:txBody>
        </p:sp>
        <p:cxnSp>
          <p:nvCxnSpPr>
            <p:cNvPr id="672" name="Google Shape;672;p47"/>
            <p:cNvCxnSpPr/>
            <p:nvPr/>
          </p:nvCxnSpPr>
          <p:spPr>
            <a:xfrm>
              <a:off x="2206125" y="1740973"/>
              <a:ext cx="2094000" cy="144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3" name="Google Shape;673;p47"/>
          <p:cNvSpPr/>
          <p:nvPr/>
        </p:nvSpPr>
        <p:spPr>
          <a:xfrm>
            <a:off x="540100" y="2417288"/>
            <a:ext cx="3801900" cy="8337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数据定义</a:t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• ai_cr_applied：</a:t>
            </a:r>
            <a:r>
              <a:rPr lang="zh-CN" sz="800">
                <a:solidFill>
                  <a:srgbClr val="113366"/>
                </a:solidFill>
              </a:rPr>
              <a:t>AI 提出的评论 + 用户确认修复			</a:t>
            </a:r>
            <a:r>
              <a:rPr b="1" lang="zh-CN" sz="800">
                <a:solidFill>
                  <a:srgbClr val="113366"/>
                </a:solidFill>
              </a:rPr>
              <a:t>Doing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• human_cr_applied：</a:t>
            </a:r>
            <a:r>
              <a:rPr lang="zh-CN" sz="800">
                <a:solidFill>
                  <a:srgbClr val="113366"/>
                </a:solidFill>
              </a:rPr>
              <a:t>人类提出的评论 + 用户确认修复		</a:t>
            </a:r>
            <a:r>
              <a:rPr b="1" lang="zh-CN" sz="800">
                <a:solidFill>
                  <a:srgbClr val="67C23A"/>
                </a:solidFill>
              </a:rPr>
              <a:t>Done</a:t>
            </a:r>
            <a:endParaRPr b="1" sz="800">
              <a:solidFill>
                <a:srgbClr val="67C2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13366"/>
                </a:solidFill>
              </a:rPr>
              <a:t>• test_bugs：</a:t>
            </a:r>
            <a:r>
              <a:rPr lang="zh-CN" sz="800">
                <a:solidFill>
                  <a:srgbClr val="113366"/>
                </a:solidFill>
              </a:rPr>
              <a:t>测试阶段 bug + 应被 cr 召回部分			</a:t>
            </a:r>
            <a:r>
              <a:rPr b="1" lang="zh-CN" sz="800">
                <a:solidFill>
                  <a:srgbClr val="113366"/>
                </a:solidFill>
              </a:rPr>
              <a:t>Doing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13366"/>
              </a:solidFill>
            </a:endParaRPr>
          </a:p>
        </p:txBody>
      </p:sp>
      <p:cxnSp>
        <p:nvCxnSpPr>
          <p:cNvPr id="674" name="Google Shape;674;p47"/>
          <p:cNvCxnSpPr/>
          <p:nvPr/>
        </p:nvCxnSpPr>
        <p:spPr>
          <a:xfrm flipH="1" rot="10800000">
            <a:off x="622450" y="2686986"/>
            <a:ext cx="3637200" cy="3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5" name="Google Shape;675;p47"/>
          <p:cNvGrpSpPr/>
          <p:nvPr/>
        </p:nvGrpSpPr>
        <p:grpSpPr>
          <a:xfrm>
            <a:off x="4672001" y="1000607"/>
            <a:ext cx="4099430" cy="2386532"/>
            <a:chOff x="880799" y="1857575"/>
            <a:chExt cx="3534601" cy="1958100"/>
          </a:xfrm>
        </p:grpSpPr>
        <p:sp>
          <p:nvSpPr>
            <p:cNvPr id="676" name="Google Shape;676;p47"/>
            <p:cNvSpPr/>
            <p:nvPr/>
          </p:nvSpPr>
          <p:spPr>
            <a:xfrm>
              <a:off x="880800" y="1857575"/>
              <a:ext cx="3534600" cy="1958100"/>
            </a:xfrm>
            <a:prstGeom prst="roundRect">
              <a:avLst>
                <a:gd fmla="val 1793" name="adj"/>
              </a:avLst>
            </a:prstGeom>
            <a:solidFill>
              <a:srgbClr val="113366">
                <a:alpha val="10000"/>
              </a:srgbClr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158400" lIns="158400" spcFirstLastPara="1" rIns="158400" wrap="square" tIns="15840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113366"/>
                </a:solidFill>
              </a:endParaRPr>
            </a:p>
          </p:txBody>
        </p:sp>
        <p:sp>
          <p:nvSpPr>
            <p:cNvPr id="677" name="Google Shape;677;p47"/>
            <p:cNvSpPr/>
            <p:nvPr/>
          </p:nvSpPr>
          <p:spPr>
            <a:xfrm>
              <a:off x="880799" y="1857582"/>
              <a:ext cx="3534600" cy="302100"/>
            </a:xfrm>
            <a:prstGeom prst="roundRect">
              <a:avLst>
                <a:gd fmla="val 6963" name="adj"/>
              </a:avLst>
            </a:prstGeom>
            <a:solidFill>
              <a:srgbClr val="113366"/>
            </a:solidFill>
            <a:ln cap="flat" cmpd="sng" w="9525">
              <a:solidFill>
                <a:srgbClr val="11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400" lIns="86400" spcFirstLastPara="1" rIns="86400" wrap="square" tIns="8640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20">
                  <a:solidFill>
                    <a:schemeClr val="lt1"/>
                  </a:solidFill>
                </a:rPr>
                <a:t>能力建设 - </a:t>
              </a:r>
              <a:r>
                <a:rPr b="1" lang="zh-CN" sz="1220">
                  <a:solidFill>
                    <a:schemeClr val="lt1"/>
                  </a:solidFill>
                </a:rPr>
                <a:t>测试集</a:t>
              </a:r>
              <a:endParaRPr b="1" sz="1220">
                <a:solidFill>
                  <a:schemeClr val="lt1"/>
                </a:solidFill>
              </a:endParaRPr>
            </a:p>
          </p:txBody>
        </p:sp>
      </p:grpSp>
      <p:grpSp>
        <p:nvGrpSpPr>
          <p:cNvPr id="678" name="Google Shape;678;p47"/>
          <p:cNvGrpSpPr/>
          <p:nvPr/>
        </p:nvGrpSpPr>
        <p:grpSpPr>
          <a:xfrm>
            <a:off x="4859625" y="1475050"/>
            <a:ext cx="1689600" cy="803100"/>
            <a:chOff x="586875" y="1468275"/>
            <a:chExt cx="1689600" cy="803100"/>
          </a:xfrm>
        </p:grpSpPr>
        <p:sp>
          <p:nvSpPr>
            <p:cNvPr id="679" name="Google Shape;679;p47"/>
            <p:cNvSpPr/>
            <p:nvPr/>
          </p:nvSpPr>
          <p:spPr>
            <a:xfrm>
              <a:off x="586875" y="1468275"/>
              <a:ext cx="1689600" cy="803100"/>
            </a:xfrm>
            <a:prstGeom prst="roundRect">
              <a:avLst>
                <a:gd fmla="val 1793" name="adj"/>
              </a:avLst>
            </a:prstGeom>
            <a:solidFill>
              <a:srgbClr val="67C23A">
                <a:alpha val="10000"/>
              </a:srgbClr>
            </a:solidFill>
            <a:ln cap="flat" cmpd="sng" w="9075">
              <a:solidFill>
                <a:srgbClr val="67C2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7000" lIns="87000" spcFirstLastPara="1" rIns="87000" wrap="square" tIns="8700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113366"/>
                  </a:solidFill>
                </a:rPr>
                <a:t>基准测试集</a:t>
              </a:r>
              <a:endParaRPr b="1" sz="10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rgbClr val="113366"/>
                  </a:solidFill>
                </a:rPr>
                <a:t>• Benchmark-FE	      </a:t>
              </a:r>
              <a:r>
                <a:rPr b="1" lang="zh-CN" sz="800">
                  <a:solidFill>
                    <a:srgbClr val="113366"/>
                  </a:solidFill>
                </a:rPr>
                <a:t>Todo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800">
                  <a:solidFill>
                    <a:srgbClr val="113366"/>
                  </a:solidFill>
                </a:rPr>
                <a:t>• Benchmark-BE	      </a:t>
              </a:r>
              <a:r>
                <a:rPr b="1" lang="zh-CN" sz="800">
                  <a:solidFill>
                    <a:srgbClr val="113366"/>
                  </a:solidFill>
                </a:rPr>
                <a:t>Todo</a:t>
              </a:r>
              <a:endParaRPr b="1" sz="800">
                <a:solidFill>
                  <a:srgbClr val="113366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800">
                  <a:solidFill>
                    <a:srgbClr val="113366"/>
                  </a:solidFill>
                </a:rPr>
                <a:t>• Benchmark-Client	      </a:t>
              </a:r>
              <a:r>
                <a:rPr b="1" lang="zh-CN" sz="800">
                  <a:solidFill>
                    <a:srgbClr val="113366"/>
                  </a:solidFill>
                </a:rPr>
                <a:t>Todo</a:t>
              </a:r>
              <a:endParaRPr b="1" sz="800">
                <a:solidFill>
                  <a:srgbClr val="113366"/>
                </a:solidFill>
              </a:endParaRPr>
            </a:p>
          </p:txBody>
        </p:sp>
        <p:cxnSp>
          <p:nvCxnSpPr>
            <p:cNvPr id="680" name="Google Shape;680;p47"/>
            <p:cNvCxnSpPr/>
            <p:nvPr/>
          </p:nvCxnSpPr>
          <p:spPr>
            <a:xfrm>
              <a:off x="656472" y="1745313"/>
              <a:ext cx="1310700" cy="57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1" name="Google Shape;681;p47"/>
          <p:cNvSpPr/>
          <p:nvPr/>
        </p:nvSpPr>
        <p:spPr>
          <a:xfrm>
            <a:off x="6779625" y="1442400"/>
            <a:ext cx="1881900" cy="8031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动态测试集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• </a:t>
            </a:r>
            <a:r>
              <a:rPr lang="zh-CN" sz="800">
                <a:solidFill>
                  <a:srgbClr val="113366"/>
                </a:solidFill>
              </a:rPr>
              <a:t>未召回问题集		</a:t>
            </a:r>
            <a:r>
              <a:rPr b="1" lang="zh-CN" sz="800">
                <a:solidFill>
                  <a:srgbClr val="113366"/>
                </a:solidFill>
              </a:rPr>
              <a:t>Doing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• Good/Bad Case 沉淀	</a:t>
            </a:r>
            <a:r>
              <a:rPr b="1" lang="zh-CN" sz="800">
                <a:solidFill>
                  <a:srgbClr val="113366"/>
                </a:solidFill>
              </a:rPr>
              <a:t>Doing</a:t>
            </a:r>
            <a:endParaRPr b="1"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>
                <a:solidFill>
                  <a:srgbClr val="113366"/>
                </a:solidFill>
              </a:rPr>
              <a:t>• 数据召回 + 回归测试	</a:t>
            </a:r>
            <a:r>
              <a:rPr b="1" lang="zh-CN" sz="800">
                <a:solidFill>
                  <a:srgbClr val="113366"/>
                </a:solidFill>
              </a:rPr>
              <a:t>Todo</a:t>
            </a:r>
            <a:endParaRPr b="1" sz="800">
              <a:solidFill>
                <a:srgbClr val="113366"/>
              </a:solidFill>
            </a:endParaRPr>
          </a:p>
        </p:txBody>
      </p:sp>
      <p:cxnSp>
        <p:nvCxnSpPr>
          <p:cNvPr id="682" name="Google Shape;682;p47"/>
          <p:cNvCxnSpPr/>
          <p:nvPr/>
        </p:nvCxnSpPr>
        <p:spPr>
          <a:xfrm flipH="1" rot="10800000">
            <a:off x="6847424" y="1707148"/>
            <a:ext cx="1689600" cy="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47"/>
          <p:cNvSpPr/>
          <p:nvPr/>
        </p:nvSpPr>
        <p:spPr>
          <a:xfrm>
            <a:off x="4859625" y="2417288"/>
            <a:ext cx="3801900" cy="912300"/>
          </a:xfrm>
          <a:prstGeom prst="roundRect">
            <a:avLst>
              <a:gd fmla="val 1793" name="adj"/>
            </a:avLst>
          </a:prstGeom>
          <a:solidFill>
            <a:srgbClr val="67C23A">
              <a:alpha val="10000"/>
            </a:srgbClr>
          </a:solidFill>
          <a:ln cap="flat" cmpd="sng" w="9075">
            <a:solidFill>
              <a:srgbClr val="67C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数据定义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• Benchmark：固定标准测试集，用于规则变更后回归验证</a:t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• 未召回问题：AI 未发现，但人工 CR / 测试发现的问题</a:t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• Good Case：AI 建议被采纳，确实有效的案例</a:t>
            </a:r>
            <a:endParaRPr sz="8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• Bad Case：AI 建议被拒绝，属于误报的案例（噪音部分）</a:t>
            </a:r>
            <a:endParaRPr sz="800">
              <a:solidFill>
                <a:srgbClr val="113366"/>
              </a:solidFill>
            </a:endParaRPr>
          </a:p>
        </p:txBody>
      </p:sp>
      <p:cxnSp>
        <p:nvCxnSpPr>
          <p:cNvPr id="684" name="Google Shape;684;p47"/>
          <p:cNvCxnSpPr/>
          <p:nvPr/>
        </p:nvCxnSpPr>
        <p:spPr>
          <a:xfrm flipH="1" rot="10800000">
            <a:off x="4941975" y="2687386"/>
            <a:ext cx="3637200" cy="3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47"/>
          <p:cNvSpPr/>
          <p:nvPr/>
        </p:nvSpPr>
        <p:spPr>
          <a:xfrm>
            <a:off x="372600" y="3468750"/>
            <a:ext cx="8398800" cy="1429500"/>
          </a:xfrm>
          <a:prstGeom prst="roundRect">
            <a:avLst>
              <a:gd fmla="val 1793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50">
                <a:solidFill>
                  <a:schemeClr val="dk1"/>
                </a:solidFill>
                <a:highlight>
                  <a:srgbClr val="EEEEEE"/>
                </a:highlight>
              </a:rPr>
              <a:t>数据驱动的正向循环</a:t>
            </a:r>
            <a:endParaRPr b="1" sz="1000">
              <a:solidFill>
                <a:srgbClr val="EE4D2D"/>
              </a:solidFill>
            </a:endParaRPr>
          </a:p>
        </p:txBody>
      </p:sp>
      <p:sp>
        <p:nvSpPr>
          <p:cNvPr id="686" name="Google Shape;686;p47"/>
          <p:cNvSpPr/>
          <p:nvPr/>
        </p:nvSpPr>
        <p:spPr>
          <a:xfrm>
            <a:off x="602400" y="3769975"/>
            <a:ext cx="1654500" cy="10059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数据收集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687" name="Google Shape;687;p47"/>
          <p:cNvSpPr/>
          <p:nvPr/>
        </p:nvSpPr>
        <p:spPr>
          <a:xfrm>
            <a:off x="830475" y="4078396"/>
            <a:ext cx="1221000" cy="567900"/>
          </a:xfrm>
          <a:prstGeom prst="roundRect">
            <a:avLst>
              <a:gd fmla="val 17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AI CR 采纳/拒绝反馈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人工 CR 评论 + 采纳状态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Jira Bug 关联 MR</a:t>
            </a:r>
            <a:endParaRPr b="1" sz="600">
              <a:solidFill>
                <a:srgbClr val="113366"/>
              </a:solidFill>
            </a:endParaRPr>
          </a:p>
        </p:txBody>
      </p:sp>
      <p:sp>
        <p:nvSpPr>
          <p:cNvPr id="688" name="Google Shape;688;p47"/>
          <p:cNvSpPr/>
          <p:nvPr/>
        </p:nvSpPr>
        <p:spPr>
          <a:xfrm>
            <a:off x="2625275" y="3769975"/>
            <a:ext cx="1654500" cy="10059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LLM-as-a-Judge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689" name="Google Shape;689;p47"/>
          <p:cNvSpPr/>
          <p:nvPr/>
        </p:nvSpPr>
        <p:spPr>
          <a:xfrm>
            <a:off x="2853350" y="4078396"/>
            <a:ext cx="1221000" cy="567900"/>
          </a:xfrm>
          <a:prstGeom prst="roundRect">
            <a:avLst>
              <a:gd fmla="val 17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评估人工 CR 是否应被召回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评估 Bug 是否 CR 可发现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自动标注 Good/Bad Case</a:t>
            </a:r>
            <a:endParaRPr b="1" sz="600">
              <a:solidFill>
                <a:srgbClr val="113366"/>
              </a:solidFill>
            </a:endParaRPr>
          </a:p>
        </p:txBody>
      </p:sp>
      <p:sp>
        <p:nvSpPr>
          <p:cNvPr id="690" name="Google Shape;690;p47"/>
          <p:cNvSpPr/>
          <p:nvPr/>
        </p:nvSpPr>
        <p:spPr>
          <a:xfrm>
            <a:off x="4648150" y="3769975"/>
            <a:ext cx="1654500" cy="10059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测试集沉淀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691" name="Google Shape;691;p47"/>
          <p:cNvSpPr/>
          <p:nvPr/>
        </p:nvSpPr>
        <p:spPr>
          <a:xfrm>
            <a:off x="4876225" y="4078396"/>
            <a:ext cx="1221000" cy="567900"/>
          </a:xfrm>
          <a:prstGeom prst="roundRect">
            <a:avLst>
              <a:gd fmla="val 17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未召回问题 → 补充规则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Good Case → 正向示例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Bad Case → 负向示例</a:t>
            </a:r>
            <a:endParaRPr b="1" sz="600">
              <a:solidFill>
                <a:srgbClr val="113366"/>
              </a:solidFill>
            </a:endParaRPr>
          </a:p>
        </p:txBody>
      </p:sp>
      <p:sp>
        <p:nvSpPr>
          <p:cNvPr id="692" name="Google Shape;692;p47"/>
          <p:cNvSpPr/>
          <p:nvPr/>
        </p:nvSpPr>
        <p:spPr>
          <a:xfrm>
            <a:off x="6671025" y="3769975"/>
            <a:ext cx="1654500" cy="10059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 cap="flat" cmpd="sng" w="907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规则自迭代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693" name="Google Shape;693;p47"/>
          <p:cNvSpPr/>
          <p:nvPr/>
        </p:nvSpPr>
        <p:spPr>
          <a:xfrm>
            <a:off x="6899100" y="4078396"/>
            <a:ext cx="1221000" cy="567900"/>
          </a:xfrm>
          <a:prstGeom prst="roundRect">
            <a:avLst>
              <a:gd fmla="val 17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调整规则权重/阈值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补充审查规则覆盖</a:t>
            </a:r>
            <a:endParaRPr b="1" sz="600">
              <a:solidFill>
                <a:srgbClr val="1133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13366"/>
                </a:solidFill>
              </a:rPr>
              <a:t>Benchmark 回归验证</a:t>
            </a:r>
            <a:endParaRPr b="1" sz="600">
              <a:solidFill>
                <a:srgbClr val="113366"/>
              </a:solidFill>
            </a:endParaRPr>
          </a:p>
        </p:txBody>
      </p:sp>
      <p:cxnSp>
        <p:nvCxnSpPr>
          <p:cNvPr id="694" name="Google Shape;694;p47"/>
          <p:cNvCxnSpPr>
            <a:stCxn id="686" idx="3"/>
            <a:endCxn id="688" idx="1"/>
          </p:cNvCxnSpPr>
          <p:nvPr/>
        </p:nvCxnSpPr>
        <p:spPr>
          <a:xfrm>
            <a:off x="2256900" y="4272925"/>
            <a:ext cx="368400" cy="6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47"/>
          <p:cNvCxnSpPr>
            <a:stCxn id="688" idx="3"/>
            <a:endCxn id="690" idx="1"/>
          </p:cNvCxnSpPr>
          <p:nvPr/>
        </p:nvCxnSpPr>
        <p:spPr>
          <a:xfrm>
            <a:off x="4279775" y="4272925"/>
            <a:ext cx="368400" cy="6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47"/>
          <p:cNvCxnSpPr>
            <a:stCxn id="690" idx="3"/>
            <a:endCxn id="692" idx="1"/>
          </p:cNvCxnSpPr>
          <p:nvPr/>
        </p:nvCxnSpPr>
        <p:spPr>
          <a:xfrm>
            <a:off x="6302650" y="4272925"/>
            <a:ext cx="368400" cy="6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47"/>
          <p:cNvCxnSpPr>
            <a:stCxn id="692" idx="2"/>
            <a:endCxn id="686" idx="2"/>
          </p:cNvCxnSpPr>
          <p:nvPr/>
        </p:nvCxnSpPr>
        <p:spPr>
          <a:xfrm rot="5400000">
            <a:off x="4463625" y="1741825"/>
            <a:ext cx="600" cy="6068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98" name="Google Shape;698;p47"/>
          <p:cNvSpPr txBox="1"/>
          <p:nvPr/>
        </p:nvSpPr>
        <p:spPr>
          <a:xfrm>
            <a:off x="3254250" y="4769200"/>
            <a:ext cx="26355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113366"/>
                </a:solidFill>
              </a:rPr>
              <a:t>指标提升闭环：采纳率 ↑ + 召回率 ↑，审查越来越准</a:t>
            </a:r>
            <a:endParaRPr sz="800">
              <a:solidFill>
                <a:srgbClr val="113366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8"/>
          <p:cNvSpPr txBox="1"/>
          <p:nvPr/>
        </p:nvSpPr>
        <p:spPr>
          <a:xfrm>
            <a:off x="0" y="145925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113366"/>
                </a:solidFill>
              </a:rPr>
              <a:t>最后</a:t>
            </a:r>
            <a:endParaRPr b="1" sz="3000">
              <a:solidFill>
                <a:srgbClr val="11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704" name="Google Shape;704;p48"/>
          <p:cNvSpPr/>
          <p:nvPr/>
        </p:nvSpPr>
        <p:spPr>
          <a:xfrm>
            <a:off x="993900" y="1007825"/>
            <a:ext cx="7156200" cy="1647900"/>
          </a:xfrm>
          <a:prstGeom prst="roundRect">
            <a:avLst>
              <a:gd fmla="val 1793" name="adj"/>
            </a:avLst>
          </a:prstGeom>
          <a:solidFill>
            <a:srgbClr val="113366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lt1"/>
                </a:solidFill>
              </a:rPr>
              <a:t>使用 IBS AI CR，你可以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705" name="Google Shape;705;p48"/>
          <p:cNvGrpSpPr/>
          <p:nvPr/>
        </p:nvGrpSpPr>
        <p:grpSpPr>
          <a:xfrm>
            <a:off x="1336975" y="1540775"/>
            <a:ext cx="3050950" cy="335700"/>
            <a:chOff x="1479675" y="3334725"/>
            <a:chExt cx="3050950" cy="335700"/>
          </a:xfrm>
        </p:grpSpPr>
        <p:sp>
          <p:nvSpPr>
            <p:cNvPr id="706" name="Google Shape;706;p48"/>
            <p:cNvSpPr/>
            <p:nvPr/>
          </p:nvSpPr>
          <p:spPr>
            <a:xfrm>
              <a:off x="1479675" y="3334725"/>
              <a:ext cx="234000" cy="234000"/>
            </a:xfrm>
            <a:prstGeom prst="ellipse">
              <a:avLst/>
            </a:prstGeom>
            <a:solidFill>
              <a:srgbClr val="67C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lt1"/>
                  </a:solidFill>
                  <a:uFill>
                    <a:noFill/>
                  </a:uFill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✓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707" name="Google Shape;707;p48"/>
            <p:cNvSpPr txBox="1"/>
            <p:nvPr/>
          </p:nvSpPr>
          <p:spPr>
            <a:xfrm>
              <a:off x="1797925" y="3334725"/>
              <a:ext cx="27327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chemeClr val="lt1"/>
                  </a:solidFill>
                </a:rPr>
                <a:t>少写 Bug</a:t>
              </a:r>
              <a:endParaRPr b="1" sz="12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rgbClr val="CCCCCC"/>
                  </a:solidFill>
                </a:rPr>
                <a:t>在代码提交前发现问题，减少低级 Bug 漏到测试和线上</a:t>
              </a:r>
              <a:endParaRPr sz="800">
                <a:solidFill>
                  <a:srgbClr val="CCCCCC"/>
                </a:solidFill>
              </a:endParaRPr>
            </a:p>
          </p:txBody>
        </p:sp>
      </p:grpSp>
      <p:grpSp>
        <p:nvGrpSpPr>
          <p:cNvPr id="708" name="Google Shape;708;p48"/>
          <p:cNvGrpSpPr/>
          <p:nvPr/>
        </p:nvGrpSpPr>
        <p:grpSpPr>
          <a:xfrm>
            <a:off x="4728675" y="1540775"/>
            <a:ext cx="3050950" cy="335700"/>
            <a:chOff x="1479675" y="3334725"/>
            <a:chExt cx="3050950" cy="335700"/>
          </a:xfrm>
        </p:grpSpPr>
        <p:sp>
          <p:nvSpPr>
            <p:cNvPr id="709" name="Google Shape;709;p48"/>
            <p:cNvSpPr/>
            <p:nvPr/>
          </p:nvSpPr>
          <p:spPr>
            <a:xfrm>
              <a:off x="1479675" y="3334725"/>
              <a:ext cx="234000" cy="234000"/>
            </a:xfrm>
            <a:prstGeom prst="ellipse">
              <a:avLst/>
            </a:prstGeom>
            <a:solidFill>
              <a:srgbClr val="67C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lt1"/>
                  </a:solidFill>
                  <a:uFill>
                    <a:noFill/>
                  </a:uFill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✓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710" name="Google Shape;710;p48"/>
            <p:cNvSpPr txBox="1"/>
            <p:nvPr/>
          </p:nvSpPr>
          <p:spPr>
            <a:xfrm>
              <a:off x="1797925" y="3334725"/>
              <a:ext cx="27327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chemeClr val="lt1"/>
                  </a:solidFill>
                </a:rPr>
                <a:t>少挨骂</a:t>
              </a:r>
              <a:endParaRPr b="1" sz="12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rgbClr val="CCCCCC"/>
                  </a:solidFill>
                </a:rPr>
                <a:t>不用再因为"这问题你自己没测过吗"而尴尬</a:t>
              </a:r>
              <a:endParaRPr sz="800">
                <a:solidFill>
                  <a:srgbClr val="CCCCCC"/>
                </a:solidFill>
              </a:endParaRPr>
            </a:p>
          </p:txBody>
        </p:sp>
      </p:grpSp>
      <p:grpSp>
        <p:nvGrpSpPr>
          <p:cNvPr id="711" name="Google Shape;711;p48"/>
          <p:cNvGrpSpPr/>
          <p:nvPr/>
        </p:nvGrpSpPr>
        <p:grpSpPr>
          <a:xfrm>
            <a:off x="1336975" y="2138225"/>
            <a:ext cx="3050950" cy="335700"/>
            <a:chOff x="1479675" y="3414975"/>
            <a:chExt cx="3050950" cy="335700"/>
          </a:xfrm>
        </p:grpSpPr>
        <p:sp>
          <p:nvSpPr>
            <p:cNvPr id="712" name="Google Shape;712;p48"/>
            <p:cNvSpPr/>
            <p:nvPr/>
          </p:nvSpPr>
          <p:spPr>
            <a:xfrm>
              <a:off x="1479675" y="3414975"/>
              <a:ext cx="234000" cy="234000"/>
            </a:xfrm>
            <a:prstGeom prst="ellipse">
              <a:avLst/>
            </a:prstGeom>
            <a:solidFill>
              <a:srgbClr val="67C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lt1"/>
                  </a:solidFill>
                  <a:uFill>
                    <a:noFill/>
                  </a:uFill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✓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713" name="Google Shape;713;p48"/>
            <p:cNvSpPr txBox="1"/>
            <p:nvPr/>
          </p:nvSpPr>
          <p:spPr>
            <a:xfrm>
              <a:off x="1797925" y="3414975"/>
              <a:ext cx="27327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chemeClr val="lt1"/>
                  </a:solidFill>
                </a:rPr>
                <a:t>少操心</a:t>
              </a:r>
              <a:endParaRPr b="1" sz="12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rgbClr val="CCCCCC"/>
                  </a:solidFill>
                </a:rPr>
                <a:t>给新人 CR 时先让 AI 过一遍，减少重复劳动</a:t>
              </a:r>
              <a:endParaRPr sz="800">
                <a:solidFill>
                  <a:srgbClr val="CCCCCC"/>
                </a:solidFill>
              </a:endParaRPr>
            </a:p>
          </p:txBody>
        </p:sp>
      </p:grpSp>
      <p:grpSp>
        <p:nvGrpSpPr>
          <p:cNvPr id="714" name="Google Shape;714;p48"/>
          <p:cNvGrpSpPr/>
          <p:nvPr/>
        </p:nvGrpSpPr>
        <p:grpSpPr>
          <a:xfrm>
            <a:off x="4728675" y="2138225"/>
            <a:ext cx="3050950" cy="335700"/>
            <a:chOff x="1479675" y="3414975"/>
            <a:chExt cx="3050950" cy="335700"/>
          </a:xfrm>
        </p:grpSpPr>
        <p:sp>
          <p:nvSpPr>
            <p:cNvPr id="715" name="Google Shape;715;p48"/>
            <p:cNvSpPr/>
            <p:nvPr/>
          </p:nvSpPr>
          <p:spPr>
            <a:xfrm>
              <a:off x="1479675" y="3414975"/>
              <a:ext cx="234000" cy="234000"/>
            </a:xfrm>
            <a:prstGeom prst="ellipse">
              <a:avLst/>
            </a:prstGeom>
            <a:solidFill>
              <a:srgbClr val="67C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lt1"/>
                  </a:solidFill>
                  <a:uFill>
                    <a:noFill/>
                  </a:uFill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✓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716" name="Google Shape;716;p48"/>
            <p:cNvSpPr txBox="1"/>
            <p:nvPr/>
          </p:nvSpPr>
          <p:spPr>
            <a:xfrm>
              <a:off x="1797925" y="3414975"/>
              <a:ext cx="27327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chemeClr val="lt1"/>
                  </a:solidFill>
                </a:rPr>
                <a:t>少加班</a:t>
              </a:r>
              <a:endParaRPr b="1" sz="12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800">
                  <a:solidFill>
                    <a:srgbClr val="CCCCCC"/>
                  </a:solidFill>
                </a:rPr>
                <a:t>问题发现得早，指挥 AI 来改又快又准，不用加班返工</a:t>
              </a:r>
              <a:endParaRPr sz="800">
                <a:solidFill>
                  <a:srgbClr val="CCCCCC"/>
                </a:solidFill>
              </a:endParaRPr>
            </a:p>
          </p:txBody>
        </p:sp>
      </p:grpSp>
      <p:sp>
        <p:nvSpPr>
          <p:cNvPr id="717" name="Google Shape;717;p48"/>
          <p:cNvSpPr txBox="1"/>
          <p:nvPr/>
        </p:nvSpPr>
        <p:spPr>
          <a:xfrm>
            <a:off x="993900" y="2859925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13366"/>
                </a:solidFill>
              </a:rPr>
              <a:t>「项目团队」</a:t>
            </a:r>
            <a:endParaRPr b="1">
              <a:solidFill>
                <a:srgbClr val="113366"/>
              </a:solidFill>
            </a:endParaRPr>
          </a:p>
        </p:txBody>
      </p:sp>
      <p:sp>
        <p:nvSpPr>
          <p:cNvPr id="718" name="Google Shape;718;p48"/>
          <p:cNvSpPr/>
          <p:nvPr/>
        </p:nvSpPr>
        <p:spPr>
          <a:xfrm>
            <a:off x="993900" y="3290575"/>
            <a:ext cx="7156200" cy="532500"/>
          </a:xfrm>
          <a:prstGeom prst="roundRect">
            <a:avLst>
              <a:gd fmla="val 1793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核心研发       guohua.liang、zhen.wang、boyu.zhan、ning.liln、jianxia.ma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2"/>
                </a:solidFill>
              </a:rPr>
              <a:t>架构设计、核心功能开发、MCP 工具、外化平台、数据运营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719" name="Google Shape;719;p48"/>
          <p:cNvSpPr/>
          <p:nvPr/>
        </p:nvSpPr>
        <p:spPr>
          <a:xfrm>
            <a:off x="993900" y="4114200"/>
            <a:ext cx="7156200" cy="532500"/>
          </a:xfrm>
          <a:prstGeom prst="roundRect">
            <a:avLst>
              <a:gd fmla="val 1793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t" bIns="87000" lIns="87000" spcFirstLastPara="1" rIns="87000" wrap="square" tIns="87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13366"/>
                </a:solidFill>
              </a:rPr>
              <a:t>Cursor Rules 贡献者	ke.cao、liwei.he、keyao、shipei、guofeng、honggang、zib</a:t>
            </a:r>
            <a:r>
              <a:rPr b="1" lang="zh-CN" sz="1000">
                <a:solidFill>
                  <a:srgbClr val="113366"/>
                </a:solidFill>
              </a:rPr>
              <a:t>o、</a:t>
            </a:r>
            <a:r>
              <a:rPr b="1" lang="zh-CN" sz="1000">
                <a:solidFill>
                  <a:srgbClr val="113366"/>
                </a:solidFill>
              </a:rPr>
              <a:t>hanjian、chenxudong       </a:t>
            </a:r>
            <a:endParaRPr b="1" sz="1000">
              <a:solidFill>
                <a:srgbClr val="1133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chemeClr val="dk2"/>
                </a:solidFill>
              </a:rPr>
              <a:t>贡献业务规则、最佳实践、提升 AI 审查准确率</a:t>
            </a:r>
            <a:endParaRPr b="1"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9"/>
          <p:cNvSpPr txBox="1"/>
          <p:nvPr/>
        </p:nvSpPr>
        <p:spPr>
          <a:xfrm>
            <a:off x="532573" y="1967344"/>
            <a:ext cx="50061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3663"/>
              </a:buClr>
              <a:buSzPts val="4500"/>
              <a:buFont typeface="Play"/>
              <a:buNone/>
            </a:pPr>
            <a:r>
              <a:rPr b="1" lang="zh-CN" sz="4400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rPr>
              <a:t>Q&amp;A</a:t>
            </a:r>
            <a:endParaRPr b="0" i="0" sz="400" u="none" cap="none" strike="noStrike">
              <a:solidFill>
                <a:srgbClr val="1133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25" name="Google Shape;725;p49"/>
          <p:cNvCxnSpPr/>
          <p:nvPr/>
        </p:nvCxnSpPr>
        <p:spPr>
          <a:xfrm flipH="1" rot="10800000">
            <a:off x="633624" y="3407486"/>
            <a:ext cx="734700" cy="600"/>
          </a:xfrm>
          <a:prstGeom prst="straightConnector1">
            <a:avLst/>
          </a:prstGeom>
          <a:noFill/>
          <a:ln cap="flat" cmpd="sng" w="171450">
            <a:solidFill>
              <a:srgbClr val="113366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